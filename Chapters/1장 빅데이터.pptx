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49"/>
  </p:notesMasterIdLst>
  <p:handoutMasterIdLst>
    <p:handoutMasterId r:id="rId50"/>
  </p:handoutMasterIdLst>
  <p:sldIdLst>
    <p:sldId id="410" r:id="rId5"/>
    <p:sldId id="413" r:id="rId6"/>
    <p:sldId id="416" r:id="rId7"/>
    <p:sldId id="425" r:id="rId8"/>
    <p:sldId id="427" r:id="rId9"/>
    <p:sldId id="428" r:id="rId10"/>
    <p:sldId id="429" r:id="rId11"/>
    <p:sldId id="430" r:id="rId12"/>
    <p:sldId id="431" r:id="rId13"/>
    <p:sldId id="432" r:id="rId14"/>
    <p:sldId id="433" r:id="rId15"/>
    <p:sldId id="434" r:id="rId16"/>
    <p:sldId id="435" r:id="rId17"/>
    <p:sldId id="436" r:id="rId18"/>
    <p:sldId id="437" r:id="rId19"/>
    <p:sldId id="438" r:id="rId20"/>
    <p:sldId id="439" r:id="rId21"/>
    <p:sldId id="440" r:id="rId22"/>
    <p:sldId id="441" r:id="rId23"/>
    <p:sldId id="443" r:id="rId24"/>
    <p:sldId id="442" r:id="rId25"/>
    <p:sldId id="444" r:id="rId26"/>
    <p:sldId id="445" r:id="rId27"/>
    <p:sldId id="446" r:id="rId28"/>
    <p:sldId id="447" r:id="rId29"/>
    <p:sldId id="448" r:id="rId30"/>
    <p:sldId id="449" r:id="rId31"/>
    <p:sldId id="450" r:id="rId32"/>
    <p:sldId id="451" r:id="rId33"/>
    <p:sldId id="452" r:id="rId34"/>
    <p:sldId id="453" r:id="rId35"/>
    <p:sldId id="454" r:id="rId36"/>
    <p:sldId id="455" r:id="rId37"/>
    <p:sldId id="456" r:id="rId38"/>
    <p:sldId id="457" r:id="rId39"/>
    <p:sldId id="458" r:id="rId40"/>
    <p:sldId id="459" r:id="rId41"/>
    <p:sldId id="466" r:id="rId42"/>
    <p:sldId id="460" r:id="rId43"/>
    <p:sldId id="461" r:id="rId44"/>
    <p:sldId id="462" r:id="rId45"/>
    <p:sldId id="463" r:id="rId46"/>
    <p:sldId id="464" r:id="rId47"/>
    <p:sldId id="465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98" autoAdjust="0"/>
    <p:restoredTop sz="96327" autoAdjust="0"/>
  </p:normalViewPr>
  <p:slideViewPr>
    <p:cSldViewPr snapToGrid="0">
      <p:cViewPr>
        <p:scale>
          <a:sx n="70" d="100"/>
          <a:sy n="70" d="100"/>
        </p:scale>
        <p:origin x="432" y="1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microsoft.com/office/2018/10/relationships/authors" Target="authors.xml"/><Relationship Id="rId8" Type="http://schemas.openxmlformats.org/officeDocument/2006/relationships/slide" Target="slides/slide4.xml"/><Relationship Id="rId51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UNIVERSITY    DEPARTMENT</a:t>
            </a:r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UNIVERSITY    DEPARTMENT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BCA7E5-BC47-4B82-81BC-931F6059DA3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A1A51F-8993-4C5E-A46B-A38B68D203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1552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998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615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236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3845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315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9919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4187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5988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201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8920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0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7950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0984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6567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668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080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46687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51774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3311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1253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9536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2112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43326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3251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6625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28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5061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29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7473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30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1365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7409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98738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5175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19523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35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72822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36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28332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37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7165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38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71749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39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83031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40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94563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41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62628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42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62346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43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12448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44</a:t>
            </a:fld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6F85D0-8A1C-43AA-BABE-0852BDD5A7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UNIVERSITY    DEPARTMENT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597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83200" y="411479"/>
            <a:ext cx="6513104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283200" y="4005626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58" y="910627"/>
            <a:ext cx="6787747" cy="75854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BFD97A6B-37B9-4B45-8753-2537594BD9E7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59" y="2065713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1049714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77378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baseline="0">
                <a:latin typeface="(한글 글꼴 사용)"/>
                <a:ea typeface="한컴 고딕" panose="02000500000000000000" pitchFamily="2" charset="-127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 baseline="0">
                <a:latin typeface="(한글 글꼴 사용)"/>
                <a:ea typeface="한컴 고딕" panose="02000500000000000000" pitchFamily="2" charset="-127"/>
              </a:defRPr>
            </a:lvl1pPr>
            <a:lvl2pPr indent="-283464">
              <a:spcBef>
                <a:spcPts val="1800"/>
              </a:spcBef>
              <a:defRPr sz="2000" baseline="0">
                <a:latin typeface="(한글 글꼴 사용)"/>
                <a:ea typeface="한컴 고딕" panose="02000500000000000000" pitchFamily="2" charset="-127"/>
              </a:defRPr>
            </a:lvl2pPr>
            <a:lvl3pPr indent="-283464">
              <a:spcBef>
                <a:spcPts val="1800"/>
              </a:spcBef>
              <a:defRPr sz="2000" baseline="0">
                <a:latin typeface="(한글 글꼴 사용)"/>
                <a:ea typeface="한컴 고딕" panose="02000500000000000000" pitchFamily="2" charset="-127"/>
              </a:defRPr>
            </a:lvl3pPr>
            <a:lvl4pPr indent="-283464">
              <a:spcBef>
                <a:spcPts val="1800"/>
              </a:spcBef>
              <a:defRPr sz="2000" baseline="0">
                <a:latin typeface="(한글 글꼴 사용)"/>
                <a:ea typeface="한컴 고딕" panose="02000500000000000000" pitchFamily="2" charset="-127"/>
              </a:defRPr>
            </a:lvl4pPr>
            <a:lvl5pPr indent="-283464">
              <a:spcBef>
                <a:spcPts val="1800"/>
              </a:spcBef>
              <a:defRPr sz="2000" baseline="0">
                <a:latin typeface="(한글 글꼴 사용)"/>
                <a:ea typeface="한컴 고딕" panose="02000500000000000000" pitchFamily="2" charset="-127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640540" y="6332220"/>
            <a:ext cx="523240" cy="247651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1854083" y="6332220"/>
            <a:ext cx="1313180" cy="247651"/>
          </a:xfrm>
        </p:spPr>
        <p:txBody>
          <a:bodyPr/>
          <a:lstStyle/>
          <a:p>
            <a:fld id="{90DDAFA7-FFF2-4A51-B0D4-62CB76833446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72464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1638828"/>
            <a:ext cx="4490827" cy="4635167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 marL="283464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2pPr>
            <a:lvl3pPr marL="59436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3pPr>
            <a:lvl4pPr marL="82296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4pPr>
            <a:lvl5pPr marL="10058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1638828"/>
            <a:ext cx="4490827" cy="4635167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 marL="283464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2pPr>
            <a:lvl3pPr marL="5486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3pPr>
            <a:lvl4pPr marL="82296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4pPr>
            <a:lvl5pPr marL="10058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A877F9F-A58C-4808-8074-96E40A336903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11882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3pPr>
            <a:lvl4pPr marL="1371600" indent="0">
              <a:spcBef>
                <a:spcPts val="1800"/>
              </a:spcBef>
              <a:buFont typeface="+mj-lt"/>
              <a:buNone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1pPr>
            <a:lvl2pPr marL="283464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2pPr>
            <a:lvl3pPr marL="5486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3pPr>
            <a:lvl4pPr marL="82296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4pPr>
            <a:lvl5pPr marL="1005840" indent="-283464">
              <a:spcBef>
                <a:spcPts val="1800"/>
              </a:spcBef>
              <a:defRPr sz="2000">
                <a:latin typeface="한컴 고딕" panose="02000500000000000000" pitchFamily="2" charset="-127"/>
                <a:ea typeface="한컴 고딕" panose="02000500000000000000" pitchFamily="2" charset="-127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9EDFA48-5BD9-4DF2-8D71-CED9532EBB86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7883C47-1A2A-4F57-A0D5-1FFCF1E9D1A7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B1AB338-7267-4940-8A5B-18AADA9CD191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1993E2C-76D2-4EC0-8F76-FCD99F854036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142A697-CF5B-4AE4-BC7B-718A66428128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173018"/>
            <a:ext cx="10382250" cy="5003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604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927971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76DE19D1-2384-4B4C-ADE9-983849E25309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EFF9A4-B9CD-4233-8A6C-375F898AC678}"/>
              </a:ext>
            </a:extLst>
          </p:cNvPr>
          <p:cNvSpPr txBox="1"/>
          <p:nvPr userDrawn="1"/>
        </p:nvSpPr>
        <p:spPr>
          <a:xfrm>
            <a:off x="849743" y="6304512"/>
            <a:ext cx="523240" cy="24765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algn="l" fontAlgn="base" latinLnBrk="1">
              <a:lnSpc>
                <a:spcPct val="100000"/>
              </a:lnSpc>
            </a:pPr>
            <a:r>
              <a:rPr lang="en-US" altLang="ko-KR" sz="1100" b="0" dirty="0">
                <a:solidFill>
                  <a:srgbClr val="FF0000"/>
                </a:solidFill>
                <a:latin typeface="+mj-lt"/>
                <a:ea typeface="한컴 고딕" panose="02000500000000000000" pitchFamily="2" charset="-127"/>
              </a:rPr>
              <a:t>/44</a:t>
            </a:r>
            <a:endParaRPr lang="ko-KR" altLang="en-US" sz="1100" b="0" dirty="0">
              <a:solidFill>
                <a:srgbClr val="FF0000"/>
              </a:solidFill>
              <a:latin typeface="+mj-lt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7151" y="411479"/>
            <a:ext cx="6792685" cy="3291840"/>
          </a:xfrm>
        </p:spPr>
        <p:txBody>
          <a:bodyPr/>
          <a:lstStyle/>
          <a:p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 분석 개론</a:t>
            </a:r>
            <a:endParaRPr 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강의내용</a:t>
            </a:r>
            <a:endParaRPr 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49835" y="3819737"/>
            <a:ext cx="5911273" cy="2188599"/>
          </a:xfrm>
        </p:spPr>
        <p:txBody>
          <a:bodyPr>
            <a:normAutofit/>
          </a:bodyPr>
          <a:lstStyle/>
          <a:p>
            <a:pPr fontAlgn="base" latinLnBrk="1"/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빅데이터와 빅데이터 분석</a:t>
            </a:r>
          </a:p>
          <a:p>
            <a:pPr fontAlgn="base" latinLnBrk="1"/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직업분류와 자격증</a:t>
            </a:r>
          </a:p>
          <a:p>
            <a:pPr fontAlgn="base" latinLnBrk="1"/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인공지능과의 관계</a:t>
            </a:r>
          </a:p>
          <a:p>
            <a:pPr fontAlgn="base" latinLnBrk="1"/>
            <a:r>
              <a:rPr lang="ko-KR" altLang="en-US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정보보호법과 </a:t>
            </a:r>
            <a:r>
              <a:rPr lang="ko-KR" altLang="en-US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마이데이터</a:t>
            </a:r>
            <a:endParaRPr lang="ko-KR" alt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>
              <a:buNone/>
            </a:pPr>
            <a:endParaRPr 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endParaRPr 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8" name="Title 8">
            <a:extLst>
              <a:ext uri="{FF2B5EF4-FFF2-40B4-BE49-F238E27FC236}">
                <a16:creationId xmlns:a16="http://schemas.microsoft.com/office/drawing/2014/main" id="{5016B78D-D0BA-4B78-9E6A-BD29AFA51C75}"/>
              </a:ext>
            </a:extLst>
          </p:cNvPr>
          <p:cNvSpPr txBox="1">
            <a:spLocks/>
          </p:cNvSpPr>
          <p:nvPr/>
        </p:nvSpPr>
        <p:spPr>
          <a:xfrm>
            <a:off x="304800" y="1428443"/>
            <a:ext cx="4263610" cy="61321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 sz="3200">
                <a:latin typeface="한컴 고딕" panose="02000500000000000000" pitchFamily="2" charset="-127"/>
                <a:ea typeface="한컴 고딕" panose="02000500000000000000" pitchFamily="2" charset="-127"/>
              </a:rPr>
              <a:t>1</a:t>
            </a:r>
            <a:r>
              <a:rPr lang="ko-KR" altLang="en-US" sz="3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장 빅데이터</a:t>
            </a:r>
            <a:endParaRPr lang="en-US" sz="32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6EC111D-2696-43E1-BF67-2E25035E38DC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3B1FDBE1-9B40-4F1C-A5A1-5AB40B13B3A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07D134-0280-41ED-A147-9DF1CC9B2A65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>
              <a:latin typeface="+mn-lt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91442BE-D279-47B8-BEC6-40EFEBE2A1F1}"/>
              </a:ext>
            </a:extLst>
          </p:cNvPr>
          <p:cNvSpPr txBox="1">
            <a:spLocks/>
          </p:cNvSpPr>
          <p:nvPr/>
        </p:nvSpPr>
        <p:spPr>
          <a:xfrm>
            <a:off x="855980" y="2361337"/>
            <a:ext cx="10015820" cy="1067663"/>
          </a:xfrm>
          <a:prstGeom prst="rect">
            <a:avLst/>
          </a:prstGeom>
        </p:spPr>
        <p:txBody>
          <a:bodyPr vert="horz" lIns="0" tIns="457200" rIns="0" bIns="0" rtlCol="0" anchor="ctr">
            <a:normAutofit fontScale="25000" lnSpcReduction="20000"/>
          </a:bodyPr>
          <a:lstStyle>
            <a:lvl1pPr marL="283464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빅데이터에 대한 정의</a:t>
            </a:r>
            <a:r>
              <a:rPr lang="en-US" altLang="ko-KR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빅데이터의 처리와 분석과 관련된 기술들</a:t>
            </a:r>
            <a:r>
              <a:rPr lang="en-US" altLang="ko-KR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관련 직업분야와 국내외 자격증에 대해서 알아봅니다</a:t>
            </a:r>
            <a:r>
              <a:rPr lang="en-US" altLang="ko-KR" sz="9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  <a:endParaRPr lang="ko-KR" altLang="en-US" sz="960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0" indent="0">
              <a:buNone/>
            </a:pPr>
            <a:endParaRPr lang="en-US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6336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1.1 </a:t>
            </a:r>
            <a:r>
              <a:rPr lang="ko-KR" altLang="en-US" dirty="0" err="1"/>
              <a:t>빅데이터란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8" name="Title 8">
            <a:extLst>
              <a:ext uri="{FF2B5EF4-FFF2-40B4-BE49-F238E27FC236}">
                <a16:creationId xmlns:a16="http://schemas.microsoft.com/office/drawing/2014/main" id="{5016B78D-D0BA-4B78-9E6A-BD29AFA51C75}"/>
              </a:ext>
            </a:extLst>
          </p:cNvPr>
          <p:cNvSpPr txBox="1">
            <a:spLocks/>
          </p:cNvSpPr>
          <p:nvPr/>
        </p:nvSpPr>
        <p:spPr>
          <a:xfrm>
            <a:off x="484177" y="1565753"/>
            <a:ext cx="11432088" cy="380232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빅데이터는 기존에 데이터를 처리하는 응용 소프트웨어로는 수집하거나 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저장 및 분석하기 어려운 방대한 양의 데이터를 의미하며 이러한 데이터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로부터 가치를 추출하고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결과를 분석하는 기술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그러나 빅데이터는 수많은 사람의 정보로 구성되므로 인터넷을 사용하면서 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남긴데이터를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무분별하게 수집하거나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보안상의 문제로 개인정보가 유출될 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때 사생활이 침해될 수 있다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ko-KR" altLang="en-US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76690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1.1 </a:t>
            </a:r>
            <a:r>
              <a:rPr lang="ko-KR" altLang="en-US" dirty="0" err="1"/>
              <a:t>빅데이터란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>
              <a:latin typeface="+mn-lt"/>
            </a:endParaRP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224E58A5-5A06-42BE-B5A4-7A7DE00A87A1}"/>
              </a:ext>
            </a:extLst>
          </p:cNvPr>
          <p:cNvSpPr txBox="1">
            <a:spLocks/>
          </p:cNvSpPr>
          <p:nvPr/>
        </p:nvSpPr>
        <p:spPr>
          <a:xfrm>
            <a:off x="484177" y="1240407"/>
            <a:ext cx="11432088" cy="353200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특히 의료분야에서 빅데이터에 대한 잘못된 분석의 결과는 처방과 치료의 오남용을 가져올 수 있으며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여기에는 개인의 신체적 특징이 포함된 민감한 정보이므로 개인의 동의 없이 또는 이를 무시하고 사용될 때 사회적으로나 윤리적으로 문제가 발생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따라서 빅데이터의 사용 전에 전제가 되어야 하는 것은 무분별한 개인의 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정보를 보호하고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윤리적인 문제점을 고려해야만 한다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2333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1.1 </a:t>
            </a:r>
            <a:r>
              <a:rPr lang="ko-KR" altLang="en-US" dirty="0" err="1"/>
              <a:t>빅데이터란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>
              <a:latin typeface="+mn-lt"/>
            </a:endParaRPr>
          </a:p>
        </p:txBody>
      </p:sp>
      <p:sp>
        <p:nvSpPr>
          <p:cNvPr id="15" name="Title 8">
            <a:extLst>
              <a:ext uri="{FF2B5EF4-FFF2-40B4-BE49-F238E27FC236}">
                <a16:creationId xmlns:a16="http://schemas.microsoft.com/office/drawing/2014/main" id="{224E58A5-5A06-42BE-B5A4-7A7DE00A87A1}"/>
              </a:ext>
            </a:extLst>
          </p:cNvPr>
          <p:cNvSpPr txBox="1">
            <a:spLocks/>
          </p:cNvSpPr>
          <p:nvPr/>
        </p:nvSpPr>
        <p:spPr>
          <a:xfrm>
            <a:off x="484177" y="1240407"/>
            <a:ext cx="11432088" cy="481232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빅데이터의</a:t>
            </a:r>
            <a:r>
              <a:rPr lang="en-US" altLang="ko-KR" sz="2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2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특성</a:t>
            </a:r>
            <a:r>
              <a:rPr lang="en-US" altLang="ko-KR" sz="2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(5V)</a:t>
            </a:r>
            <a:r>
              <a:rPr lang="ko-KR" altLang="en-US" sz="24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: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규모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(Volume),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속도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(Velocity), </a:t>
            </a:r>
          </a:p>
          <a:p>
            <a:pPr fontAlgn="base" latinLnBrk="1">
              <a:lnSpc>
                <a:spcPct val="100000"/>
              </a:lnSpc>
            </a:pP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                          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다양성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(Variety),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정확성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(Veracity),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가치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(Value)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규모 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: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빅데이터의 첫 번째 특징으로 존재하는 데이터의 양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속도 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: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데이터가 생성되는 속도와 데이터가 이동하는 속도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다양성 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: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 유형의 다양성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정형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(structured data),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비정형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(unstructured data)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또는 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반정형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(semi-structured data)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데이터의 유형으로 구분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6436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D45C94D-90AC-918B-CD13-82B5B4C56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76" y="885109"/>
            <a:ext cx="11546246" cy="285160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1.1 </a:t>
            </a:r>
            <a:r>
              <a:rPr lang="ko-KR" altLang="en-US" dirty="0" err="1"/>
              <a:t>빅데이터란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>
              <a:latin typeface="+mn-lt"/>
            </a:endParaRPr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2A1EC18A-C06E-031C-B6F4-1E7B9D004763}"/>
              </a:ext>
            </a:extLst>
          </p:cNvPr>
          <p:cNvSpPr txBox="1">
            <a:spLocks/>
          </p:cNvSpPr>
          <p:nvPr/>
        </p:nvSpPr>
        <p:spPr>
          <a:xfrm>
            <a:off x="1163780" y="4922770"/>
            <a:ext cx="9998225" cy="96018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과거에는 분석하거나 의미를 파악하기가 어려웠던 비정형 데이터를 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분석함으로써 빅데이터의 탄생에 큰 역할을 담당하였다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endParaRPr lang="ko-KR" altLang="en-US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AAE490-AA63-1470-17EF-8B32AF21E583}"/>
              </a:ext>
            </a:extLst>
          </p:cNvPr>
          <p:cNvSpPr txBox="1"/>
          <p:nvPr/>
        </p:nvSpPr>
        <p:spPr>
          <a:xfrm>
            <a:off x="2510672" y="4442925"/>
            <a:ext cx="8957427" cy="59681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E87150-00F6-6D22-38FD-B6E03E981C73}"/>
              </a:ext>
            </a:extLst>
          </p:cNvPr>
          <p:cNvSpPr txBox="1"/>
          <p:nvPr/>
        </p:nvSpPr>
        <p:spPr>
          <a:xfrm>
            <a:off x="2582702" y="3778534"/>
            <a:ext cx="8429609" cy="1019244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ko-KR" altLang="en-US" sz="1400" b="1" dirty="0"/>
              <a:t>📌    </a:t>
            </a:r>
            <a:r>
              <a:rPr lang="en-US" altLang="ko-KR" sz="1400" b="1" dirty="0">
                <a:solidFill>
                  <a:schemeClr val="bg1"/>
                </a:solidFill>
              </a:rPr>
              <a:t>SCV</a:t>
            </a:r>
            <a:r>
              <a:rPr lang="ko-KR" altLang="en-US" sz="1400" dirty="0">
                <a:solidFill>
                  <a:schemeClr val="bg1"/>
                </a:solidFill>
              </a:rPr>
              <a:t>는 여러 시스템에 흩어져 있는 고객 데이터를 하나로 통합해 **고객 </a:t>
            </a:r>
            <a:r>
              <a:rPr lang="en-US" altLang="ko-KR" sz="1400" dirty="0">
                <a:solidFill>
                  <a:schemeClr val="bg1"/>
                </a:solidFill>
              </a:rPr>
              <a:t>1</a:t>
            </a:r>
            <a:r>
              <a:rPr lang="ko-KR" altLang="en-US" sz="1400" dirty="0">
                <a:solidFill>
                  <a:schemeClr val="bg1"/>
                </a:solidFill>
              </a:rPr>
              <a:t>명당 하나의 통합 프로필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뷰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  <a:r>
              <a:rPr lang="ko-KR" altLang="en-US" sz="1400" dirty="0">
                <a:solidFill>
                  <a:schemeClr val="bg1"/>
                </a:solidFill>
              </a:rPr>
              <a:t> </a:t>
            </a:r>
            <a:r>
              <a:rPr lang="en-US" altLang="ko-KR" sz="1400" dirty="0">
                <a:solidFill>
                  <a:schemeClr val="bg1"/>
                </a:solidFill>
              </a:rPr>
              <a:t> </a:t>
            </a:r>
          </a:p>
          <a:p>
            <a:r>
              <a:rPr lang="ko-KR" altLang="en-US" sz="1400" dirty="0">
                <a:solidFill>
                  <a:schemeClr val="bg1"/>
                </a:solidFill>
              </a:rPr>
              <a:t>         즉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ko-KR" altLang="en-US" sz="1400" dirty="0">
                <a:solidFill>
                  <a:schemeClr val="bg1"/>
                </a:solidFill>
              </a:rPr>
              <a:t>고객에 대한 모든 정보를 한 화면에서 볼 수 있도록 만든 </a:t>
            </a:r>
            <a:r>
              <a:rPr lang="ko-KR" altLang="en-US" sz="1400" b="1" dirty="0">
                <a:solidFill>
                  <a:schemeClr val="bg1"/>
                </a:solidFill>
              </a:rPr>
              <a:t>통합 정형 데이터 구조</a:t>
            </a:r>
            <a:endParaRPr lang="en-US" altLang="ko-KR" sz="1400" b="1" dirty="0">
              <a:solidFill>
                <a:schemeClr val="bg1"/>
              </a:solidFill>
            </a:endParaRPr>
          </a:p>
          <a:p>
            <a:r>
              <a:rPr lang="ko-KR" altLang="en-US" sz="1400" b="1" dirty="0"/>
              <a:t>📌 </a:t>
            </a:r>
            <a:r>
              <a:rPr lang="en-US" altLang="ko-KR" sz="1400" b="1" dirty="0"/>
              <a:t>    </a:t>
            </a:r>
            <a:r>
              <a:rPr lang="en-US" altLang="ko-KR" sz="1400" b="1" dirty="0">
                <a:solidFill>
                  <a:schemeClr val="bg1"/>
                </a:solidFill>
              </a:rPr>
              <a:t>JavaScript Object Notation</a:t>
            </a:r>
            <a:r>
              <a:rPr lang="ko-KR" altLang="en-US" sz="1400" b="1" dirty="0">
                <a:solidFill>
                  <a:schemeClr val="bg1"/>
                </a:solidFill>
              </a:rPr>
              <a:t> </a:t>
            </a:r>
            <a:r>
              <a:rPr lang="en-US" altLang="ko-KR" sz="1400" b="1" dirty="0">
                <a:solidFill>
                  <a:schemeClr val="bg1"/>
                </a:solidFill>
              </a:rPr>
              <a:t>:</a:t>
            </a:r>
            <a:r>
              <a:rPr lang="ko-KR" altLang="en-US" sz="1400" b="1" dirty="0">
                <a:solidFill>
                  <a:schemeClr val="bg1"/>
                </a:solidFill>
              </a:rPr>
              <a:t> </a:t>
            </a:r>
            <a:r>
              <a:rPr lang="ko-KR" altLang="en-US" sz="1400" dirty="0">
                <a:solidFill>
                  <a:schemeClr val="bg1"/>
                </a:solidFill>
              </a:rPr>
              <a:t>데이터를 저장하고 전송하기 위한 </a:t>
            </a:r>
            <a:r>
              <a:rPr lang="ko-KR" altLang="en-US" sz="1400" b="1" dirty="0">
                <a:solidFill>
                  <a:schemeClr val="bg1"/>
                </a:solidFill>
              </a:rPr>
              <a:t>텍스트 기반 데이터 교환 형식</a:t>
            </a:r>
            <a:endParaRPr lang="ko-KR" altLang="en-US" sz="1400" b="0" dirty="0">
              <a:solidFill>
                <a:schemeClr val="bg1"/>
              </a:solidFill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11641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1.2 </a:t>
            </a:r>
            <a:r>
              <a:rPr lang="ko-KR" altLang="en-US" dirty="0"/>
              <a:t>빅데이터 처리와 분석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>
              <a:latin typeface="+mn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B1D9871-B8DA-DBC0-4322-64BBD1EFA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42" y="1225038"/>
            <a:ext cx="10325100" cy="4533900"/>
          </a:xfrm>
          <a:prstGeom prst="rect">
            <a:avLst/>
          </a:prstGeom>
        </p:spPr>
      </p:pic>
      <p:sp>
        <p:nvSpPr>
          <p:cNvPr id="7" name="Title 8">
            <a:extLst>
              <a:ext uri="{FF2B5EF4-FFF2-40B4-BE49-F238E27FC236}">
                <a16:creationId xmlns:a16="http://schemas.microsoft.com/office/drawing/2014/main" id="{1EECD301-8CCB-5853-22C8-493E9746C549}"/>
              </a:ext>
            </a:extLst>
          </p:cNvPr>
          <p:cNvSpPr txBox="1">
            <a:spLocks/>
          </p:cNvSpPr>
          <p:nvPr/>
        </p:nvSpPr>
        <p:spPr>
          <a:xfrm>
            <a:off x="2510673" y="5399093"/>
            <a:ext cx="8217869" cy="99917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처리 프로세스가 항상 선형적인 것은 아니며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서로 다른 단계를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반복하거나 동시에 수행할 수 있다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endParaRPr lang="ko-KR" altLang="en-US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1522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1.2 </a:t>
            </a:r>
            <a:r>
              <a:rPr lang="ko-KR" altLang="en-US" dirty="0"/>
              <a:t>빅데이터 처리와 분석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>
              <a:latin typeface="+mn-lt"/>
            </a:endParaRPr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E018A372-DDEB-D985-4D73-DEEDE0736D79}"/>
              </a:ext>
            </a:extLst>
          </p:cNvPr>
          <p:cNvSpPr txBox="1">
            <a:spLocks/>
          </p:cNvSpPr>
          <p:nvPr/>
        </p:nvSpPr>
        <p:spPr>
          <a:xfrm>
            <a:off x="484177" y="1125414"/>
            <a:ext cx="11432088" cy="4444996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 분석은 </a:t>
            </a:r>
            <a:r>
              <a:rPr lang="ko-KR" altLang="en-US" sz="24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머신러닝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 마이닝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자연어 처리 등 첨단 분석 기법을 활용해 의사결정을 내리고 프로세스를 개선할 수 있는 패턴과 통찰력을 파악하는 것 등을 포함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빅데이터를 처리하고 분석하려면 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Hadoop, Apache Spark, NoSQL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데이터베이스와 같은 전문화된 도구와 기술이 필요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이러한 도구는 대량의 데이터를 처리하고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처리 워크로드를 여러 시스템 또는 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서버에 분산하며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복잡한 분석 및 데이터 마이닝 기술을 지원하도록 설계</a:t>
            </a:r>
          </a:p>
        </p:txBody>
      </p:sp>
    </p:spTree>
    <p:extLst>
      <p:ext uri="{BB962C8B-B14F-4D97-AF65-F5344CB8AC3E}">
        <p14:creationId xmlns:p14="http://schemas.microsoft.com/office/powerpoint/2010/main" val="1135367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1.3 </a:t>
            </a:r>
            <a:r>
              <a:rPr lang="ko-KR" altLang="en-US" dirty="0"/>
              <a:t>빅데이터 관련 직업 분류와 자격증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>
              <a:latin typeface="+mn-lt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AF7DCAB-2899-1B0A-2986-143F73D78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454" y="876300"/>
            <a:ext cx="7073063" cy="585036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0753BD9-0955-D476-CC59-83FD5CECE52B}"/>
              </a:ext>
            </a:extLst>
          </p:cNvPr>
          <p:cNvSpPr txBox="1">
            <a:spLocks/>
          </p:cNvSpPr>
          <p:nvPr/>
        </p:nvSpPr>
        <p:spPr>
          <a:xfrm>
            <a:off x="484177" y="1388764"/>
            <a:ext cx="3424632" cy="208156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국외분류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ko-KR" altLang="en-US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3457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1.3 </a:t>
            </a:r>
            <a:r>
              <a:rPr lang="ko-KR" altLang="en-US" dirty="0"/>
              <a:t>빅데이터 관련 직업 분류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>
              <a:latin typeface="+mn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9923C79-1519-98D8-8C99-25F8A0AE6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5027" y="977111"/>
            <a:ext cx="7513325" cy="5663093"/>
          </a:xfrm>
          <a:prstGeom prst="rect">
            <a:avLst/>
          </a:prstGeom>
        </p:spPr>
      </p:pic>
      <p:sp>
        <p:nvSpPr>
          <p:cNvPr id="10" name="Title 8">
            <a:extLst>
              <a:ext uri="{FF2B5EF4-FFF2-40B4-BE49-F238E27FC236}">
                <a16:creationId xmlns:a16="http://schemas.microsoft.com/office/drawing/2014/main" id="{4D120967-4455-5EA0-D128-00F86E61A55A}"/>
              </a:ext>
            </a:extLst>
          </p:cNvPr>
          <p:cNvSpPr txBox="1">
            <a:spLocks/>
          </p:cNvSpPr>
          <p:nvPr/>
        </p:nvSpPr>
        <p:spPr>
          <a:xfrm>
            <a:off x="484177" y="1388764"/>
            <a:ext cx="3424632" cy="208156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한국표준 직업분류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ko-KR" altLang="en-US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7104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1.3 </a:t>
            </a:r>
            <a:r>
              <a:rPr lang="ko-KR" altLang="en-US" dirty="0"/>
              <a:t>빅데이터 관련 직업 분류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4D120967-4455-5EA0-D128-00F86E61A55A}"/>
              </a:ext>
            </a:extLst>
          </p:cNvPr>
          <p:cNvSpPr txBox="1">
            <a:spLocks/>
          </p:cNvSpPr>
          <p:nvPr/>
        </p:nvSpPr>
        <p:spPr>
          <a:xfrm>
            <a:off x="484177" y="1165610"/>
            <a:ext cx="3424632" cy="299440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한국표준 직업분류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세분류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ko-KR" altLang="en-US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AA8EF6F-3194-E0D9-1E11-22E78D46B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286" y="1402901"/>
            <a:ext cx="7686675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629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1.3 </a:t>
            </a:r>
            <a:r>
              <a:rPr lang="ko-KR" altLang="en-US" dirty="0"/>
              <a:t>빅데이터 관련 자격증 </a:t>
            </a:r>
            <a:r>
              <a:rPr lang="en-US" altLang="ko-KR" dirty="0"/>
              <a:t>(</a:t>
            </a:r>
            <a:r>
              <a:rPr lang="ko-KR" altLang="en-US" dirty="0"/>
              <a:t>국내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4D120967-4455-5EA0-D128-00F86E61A55A}"/>
              </a:ext>
            </a:extLst>
          </p:cNvPr>
          <p:cNvSpPr txBox="1">
            <a:spLocks/>
          </p:cNvSpPr>
          <p:nvPr/>
        </p:nvSpPr>
        <p:spPr>
          <a:xfrm>
            <a:off x="386344" y="1464458"/>
            <a:ext cx="4044999" cy="235131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4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한국데이터산업진흥원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주관</a:t>
            </a: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 자격 검정시험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ko-KR" altLang="en-US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34DFA3A-D935-0AB8-558F-60261422D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1343" y="871878"/>
            <a:ext cx="7166297" cy="588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279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1.3 </a:t>
            </a:r>
            <a:r>
              <a:rPr lang="ko-KR" altLang="en-US" dirty="0"/>
              <a:t>빅데이터 관련 자격증 </a:t>
            </a:r>
            <a:r>
              <a:rPr lang="en-US" altLang="ko-KR" dirty="0"/>
              <a:t>(</a:t>
            </a:r>
            <a:r>
              <a:rPr lang="ko-KR" altLang="en-US" dirty="0"/>
              <a:t>국내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4D120967-4455-5EA0-D128-00F86E61A55A}"/>
              </a:ext>
            </a:extLst>
          </p:cNvPr>
          <p:cNvSpPr txBox="1">
            <a:spLocks/>
          </p:cNvSpPr>
          <p:nvPr/>
        </p:nvSpPr>
        <p:spPr>
          <a:xfrm>
            <a:off x="441122" y="1317788"/>
            <a:ext cx="10780026" cy="463228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사단법인 </a:t>
            </a:r>
            <a:r>
              <a:rPr lang="ko-KR" altLang="en-US" sz="24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한국정보과학진흥협회</a:t>
            </a:r>
            <a:endParaRPr lang="ko-KR" altLang="en-US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 빅데이터 큐레이터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en-US" altLang="ko-KR" sz="24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BigData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Curator) 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한국산업인력관리공단</a:t>
            </a: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∎사회조사분석사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(Survey Analyst) </a:t>
            </a:r>
          </a:p>
          <a:p>
            <a:pPr fontAlgn="base" latinLnBrk="1">
              <a:lnSpc>
                <a:spcPct val="100000"/>
              </a:lnSpc>
            </a:pP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정보관리기술사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(Professional Engineer Information Management)</a:t>
            </a:r>
          </a:p>
          <a:p>
            <a:pPr fontAlgn="base" latinLnBrk="1">
              <a:lnSpc>
                <a:spcPct val="100000"/>
              </a:lnSpc>
            </a:pP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정보처리기사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(Engineer Information Processing)</a:t>
            </a:r>
          </a:p>
          <a:p>
            <a:pPr fontAlgn="base" latinLnBrk="1">
              <a:lnSpc>
                <a:spcPct val="100000"/>
              </a:lnSpc>
            </a:pP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정보처리산업기사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(Industrial Engineer Information Processing)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ko-KR" altLang="en-US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3171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1.3 </a:t>
            </a:r>
            <a:r>
              <a:rPr lang="ko-KR" altLang="en-US" dirty="0"/>
              <a:t>빅데이터 관련 자격증 </a:t>
            </a:r>
            <a:r>
              <a:rPr lang="en-US" altLang="ko-KR" dirty="0"/>
              <a:t>(</a:t>
            </a:r>
            <a:r>
              <a:rPr lang="ko-KR" altLang="en-US" dirty="0"/>
              <a:t>국외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4D120967-4455-5EA0-D128-00F86E61A55A}"/>
              </a:ext>
            </a:extLst>
          </p:cNvPr>
          <p:cNvSpPr txBox="1">
            <a:spLocks/>
          </p:cNvSpPr>
          <p:nvPr/>
        </p:nvSpPr>
        <p:spPr>
          <a:xfrm>
            <a:off x="594360" y="1190632"/>
            <a:ext cx="11156518" cy="647616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∎AWS Certified Data Analytics :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아마존 웹 서비스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(Amazon Web </a:t>
            </a:r>
            <a:r>
              <a:rPr lang="en-US" altLang="ko-KR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Ssevices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∎Certification of Professional Achievement in Data Sciences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∎Certified Analytics Professional (CAP)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∎CDP Data Analyst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∎CompTIA Data Plus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∎Google Data Analytics Professional Certificate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∎IBM Data Analyst Professional Certificate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∎Microsoft Certified: Power BI Data Analyst Associate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∎Open Certified Data Scientist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∎SAS Statistical Business Analyst Professional Certificate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∎SAS Certified Data Scientist</a:t>
            </a:r>
          </a:p>
          <a:p>
            <a:pPr fontAlgn="base" latinLnBrk="1">
              <a:lnSpc>
                <a:spcPct val="15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endParaRPr lang="ko-KR" altLang="en-US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6319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1.3 </a:t>
            </a:r>
            <a:r>
              <a:rPr lang="ko-KR" altLang="en-US" dirty="0"/>
              <a:t>빅데이터 관련 자격증 </a:t>
            </a:r>
            <a:r>
              <a:rPr lang="en-US" altLang="ko-KR" dirty="0"/>
              <a:t>(</a:t>
            </a:r>
            <a:r>
              <a:rPr lang="ko-KR" altLang="en-US" dirty="0"/>
              <a:t>국외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15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4D120967-4455-5EA0-D128-00F86E61A55A}"/>
              </a:ext>
            </a:extLst>
          </p:cNvPr>
          <p:cNvSpPr txBox="1">
            <a:spLocks/>
          </p:cNvSpPr>
          <p:nvPr/>
        </p:nvSpPr>
        <p:spPr>
          <a:xfrm>
            <a:off x="594360" y="1190632"/>
            <a:ext cx="11156518" cy="647616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∎AWS Certified Data Analytics :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아마존 웹 서비스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(Amazon Web </a:t>
            </a:r>
            <a:r>
              <a:rPr lang="en-US" altLang="ko-KR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Ssevices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∎Certification of Professional Achievement in Data Sciences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∎Certified Analytics Professional (CAP)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∎CDP Data Analyst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∎CompTIA Data Plus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∎Google Data Analytics Professional Certificate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∎IBM Data Analyst Professional Certificate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∎Microsoft Certified: Power BI Data Analyst Associate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∎Open Certified Data Scientist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∎SAS Statistical Business Analyst Professional Certificate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∎SAS Certified Data Scientist</a:t>
            </a:r>
          </a:p>
          <a:p>
            <a:pPr fontAlgn="base" latinLnBrk="1">
              <a:lnSpc>
                <a:spcPct val="15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endParaRPr lang="ko-KR" altLang="en-US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9084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1.4 </a:t>
            </a:r>
            <a:r>
              <a:rPr lang="ko-KR" altLang="en-US" dirty="0"/>
              <a:t>빅데이터와 인공지능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16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4D120967-4455-5EA0-D128-00F86E61A55A}"/>
              </a:ext>
            </a:extLst>
          </p:cNvPr>
          <p:cNvSpPr txBox="1">
            <a:spLocks/>
          </p:cNvSpPr>
          <p:nvPr/>
        </p:nvSpPr>
        <p:spPr>
          <a:xfrm>
            <a:off x="594360" y="1138485"/>
            <a:ext cx="11156518" cy="405028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빅데이터와 인공지능은 현대 기술 분야에서 밀접하게 관련이 있으며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서로 </a:t>
            </a:r>
            <a:r>
              <a:rPr lang="ko-KR" altLang="en-US" sz="24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상호보완적인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관계에 있다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빅데이터는 인공지능의 학습과 발전을 위한 연료 역할을 하고 있고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인공지능은 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이러한 데이터를 분석하고 활용하여 지능적인 결정을 내리는 기술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따라서 데이터가 부족하다면 인공지능 모델은 충분한 학습 데이터를 확보하지 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못하므로 정확한 결과를 도출하기 어려워지기 때문에 이러한 </a:t>
            </a:r>
            <a:r>
              <a:rPr lang="ko-KR" altLang="en-US" sz="24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상호보완적인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관계는 두 기술이 서로 발전하고 혁신을 이루는 데 중요한 역할을 한다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base" latinLnBrk="1">
              <a:lnSpc>
                <a:spcPct val="100000"/>
              </a:lnSpc>
            </a:pPr>
            <a:endParaRPr lang="ko-KR" altLang="en-US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9463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1.4 </a:t>
            </a:r>
            <a:r>
              <a:rPr lang="ko-KR" altLang="en-US" dirty="0"/>
              <a:t>빅데이터와 인공지능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17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4D120967-4455-5EA0-D128-00F86E61A55A}"/>
              </a:ext>
            </a:extLst>
          </p:cNvPr>
          <p:cNvSpPr txBox="1">
            <a:spLocks/>
          </p:cNvSpPr>
          <p:nvPr/>
        </p:nvSpPr>
        <p:spPr>
          <a:xfrm>
            <a:off x="517740" y="1147505"/>
            <a:ext cx="11550081" cy="522754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온라인 쇼핑몰을 운영하는 전자상거래 기업이 매출 실적을 높이기 위해 </a:t>
            </a:r>
            <a:endParaRPr lang="en-US" altLang="ko-KR" sz="23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빅데이터와 인공지능을 활용한 예</a:t>
            </a: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단계</a:t>
            </a: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endParaRPr lang="ko-KR" altLang="en-US" sz="23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endParaRPr lang="ko-KR" altLang="en-US" sz="23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457200" indent="-457200" fontAlgn="base" latinLnBrk="1">
              <a:lnSpc>
                <a:spcPct val="150000"/>
              </a:lnSpc>
              <a:buAutoNum type="arabicPeriod"/>
            </a:pPr>
            <a:r>
              <a:rPr lang="ko-KR" altLang="en-US" sz="2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 수집 </a:t>
            </a: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: </a:t>
            </a: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온라인 쇼핑몰을 통해 수많은 고객 행동 데이터가 생성되는데</a:t>
            </a:r>
            <a:endParaRPr lang="en-US" altLang="ko-KR" sz="23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　이 데이터에는 고객의 구매 이력</a:t>
            </a: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검색 기록</a:t>
            </a: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제품 평가 등이 포함</a:t>
            </a:r>
            <a:endParaRPr lang="en-US" altLang="ko-KR" sz="23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endParaRPr lang="ko-KR" altLang="en-US" sz="23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2. </a:t>
            </a:r>
            <a:r>
              <a:rPr lang="ko-KR" altLang="en-US" sz="2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 </a:t>
            </a:r>
            <a:r>
              <a:rPr lang="ko-KR" altLang="en-US" sz="23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전처리</a:t>
            </a:r>
            <a:r>
              <a:rPr lang="ko-KR" altLang="en-US" sz="23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: </a:t>
            </a: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수집된 데이터는 </a:t>
            </a:r>
            <a:r>
              <a:rPr lang="ko-KR" altLang="en-US" sz="23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전처리</a:t>
            </a: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과정을 거쳐야 합니다</a:t>
            </a: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 전문가들은 데이터를 정제하고 필요한 형태로 가공하여 데이터베이스에 저장</a:t>
            </a: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예를 들어</a:t>
            </a: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3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결측값</a:t>
            </a: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처리</a:t>
            </a: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3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이상값</a:t>
            </a: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제거</a:t>
            </a: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 형식 표준화 등의 작업이 이루어짐</a:t>
            </a:r>
          </a:p>
          <a:p>
            <a:pPr fontAlgn="base" latinLnBrk="1">
              <a:lnSpc>
                <a:spcPct val="150000"/>
              </a:lnSpc>
            </a:pPr>
            <a:endParaRPr lang="ko-KR" altLang="en-US" sz="23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2136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1.4 </a:t>
            </a:r>
            <a:r>
              <a:rPr lang="ko-KR" altLang="en-US" dirty="0"/>
              <a:t>빅데이터와 인공지능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18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4D120967-4455-5EA0-D128-00F86E61A55A}"/>
              </a:ext>
            </a:extLst>
          </p:cNvPr>
          <p:cNvSpPr txBox="1">
            <a:spLocks/>
          </p:cNvSpPr>
          <p:nvPr/>
        </p:nvSpPr>
        <p:spPr>
          <a:xfrm>
            <a:off x="517741" y="1213557"/>
            <a:ext cx="11156518" cy="493199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3. </a:t>
            </a:r>
            <a:r>
              <a:rPr lang="ko-KR" altLang="en-US" sz="2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 분석과 학습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: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수집된 데이터를 바탕으로 인공지능 기술을 사용하여 고객의 구매 패턴을 분석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기계 학습 알고리즘은 고객의 이전 구매 이력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검색 기록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관심사 등을 분석하여 고객의 취향을 학습하고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이를 활용하여 고객이 선호하는 제품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구매 빈도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특정 시간대의 구매 성향 등을 예측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5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4. </a:t>
            </a:r>
            <a:r>
              <a:rPr lang="ko-KR" altLang="en-US" sz="22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결과 해석과 의사 결정 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: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분석된 결과를 기반으로 마케팅 전략을 구상하는데 특정한 개인에게 할인 쿠폰을 제공하거나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특정 상품을 추천하는 등의 개인화된 마케팅 전략을 수립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학습된 모델은 고객 개인에게 제품 추천을 제공하고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고객이 추천된 제품을 구매하면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해당 정보는 다시 데이터베이스에 기록되어 모델의 성능을 개선하는데 활용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75343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1.5 </a:t>
            </a:r>
            <a:r>
              <a:rPr lang="ko-KR" altLang="en-US" dirty="0"/>
              <a:t>개인정보보호와 정보활용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19</a:t>
            </a:fld>
            <a:endParaRPr lang="en-US" dirty="0">
              <a:latin typeface="+mn-lt"/>
            </a:endParaRP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4D120967-4455-5EA0-D128-00F86E61A55A}"/>
              </a:ext>
            </a:extLst>
          </p:cNvPr>
          <p:cNvSpPr txBox="1">
            <a:spLocks/>
          </p:cNvSpPr>
          <p:nvPr/>
        </p:nvSpPr>
        <p:spPr>
          <a:xfrm>
            <a:off x="683371" y="1244253"/>
            <a:ext cx="11156518" cy="374543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3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법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: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개인정보 보호법」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「신용정보의 이용 및 보호에 관한 법률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약칭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: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신용정보법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」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「정보통신망 이용촉진 및 정보보호 등에 관한 법률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약칭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: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정보통신망법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」 </a:t>
            </a:r>
          </a:p>
          <a:p>
            <a:pPr fontAlgn="base" latinLnBrk="1">
              <a:lnSpc>
                <a:spcPct val="15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</a:p>
          <a:p>
            <a:pPr fontAlgn="base" latinLnBrk="1">
              <a:lnSpc>
                <a:spcPct val="15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개인정보 보호법의 주요 개정 내용 </a:t>
            </a:r>
          </a:p>
          <a:p>
            <a:pPr fontAlgn="base" latinLnBrk="1">
              <a:lnSpc>
                <a:spcPct val="150000"/>
              </a:lnSpc>
            </a:pPr>
            <a:endParaRPr lang="ko-KR" altLang="en-US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•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가명정보 개념 도입 및 동의없이 사용가능한 범위의 구체화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•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데이터 활용에 따른 개인정보 처리자의 책임 강화 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•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개인정보의 관리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·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감독체계를 일원화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개인정보보호 위원회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940202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1.5.1 </a:t>
            </a:r>
            <a:r>
              <a:rPr lang="ko-KR" altLang="en-US" dirty="0"/>
              <a:t>개인정보 보호법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20</a:t>
            </a:fld>
            <a:endParaRPr lang="en-US" dirty="0">
              <a:latin typeface="+mn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11D820-A45D-45B8-9F32-5B05CCF1F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17788"/>
            <a:ext cx="11393284" cy="355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2073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1.5.1 </a:t>
            </a:r>
            <a:r>
              <a:rPr lang="ko-KR" altLang="en-US" dirty="0"/>
              <a:t>개인정보 보호법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21</a:t>
            </a:fld>
            <a:endParaRPr lang="en-US" dirty="0">
              <a:latin typeface="+mn-lt"/>
            </a:endParaRPr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2C10E6F6-3C8A-333B-EDD0-0B15F3EEC9A2}"/>
              </a:ext>
            </a:extLst>
          </p:cNvPr>
          <p:cNvSpPr txBox="1">
            <a:spLocks/>
          </p:cNvSpPr>
          <p:nvPr/>
        </p:nvSpPr>
        <p:spPr>
          <a:xfrm>
            <a:off x="192774" y="1309347"/>
            <a:ext cx="3685889" cy="161947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개인정보관련 용어 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endParaRPr lang="ko-KR" altLang="en-US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9604332-C373-57C1-D6BB-CD279966E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132" y="911198"/>
            <a:ext cx="7530508" cy="588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795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1.5.1 </a:t>
            </a:r>
            <a:r>
              <a:rPr lang="ko-KR" altLang="en-US" dirty="0"/>
              <a:t>개인정보 보호법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22</a:t>
            </a:fld>
            <a:endParaRPr lang="en-US" dirty="0">
              <a:latin typeface="+mn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EEF1FFF-5FCF-46DF-288E-A61DEBDA6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798" y="958886"/>
            <a:ext cx="6080353" cy="275900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209D997-CE8A-D036-5572-6D40275408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9955" y="3858374"/>
            <a:ext cx="8192651" cy="289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0792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1.5.2 </a:t>
            </a:r>
            <a:r>
              <a:rPr lang="ko-KR" altLang="en-US" dirty="0"/>
              <a:t>개인정보의 유형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23</a:t>
            </a:fld>
            <a:endParaRPr lang="en-US" dirty="0">
              <a:latin typeface="+mn-lt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86D0691-C584-5EE5-CAE9-2DB3C7191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13" y="1145222"/>
            <a:ext cx="8637716" cy="3826356"/>
          </a:xfrm>
          <a:prstGeom prst="rect">
            <a:avLst/>
          </a:prstGeom>
        </p:spPr>
      </p:pic>
      <p:sp>
        <p:nvSpPr>
          <p:cNvPr id="8" name="Title 8">
            <a:extLst>
              <a:ext uri="{FF2B5EF4-FFF2-40B4-BE49-F238E27FC236}">
                <a16:creationId xmlns:a16="http://schemas.microsoft.com/office/drawing/2014/main" id="{D1E74337-371C-3333-02FC-C8C375B44B3E}"/>
              </a:ext>
            </a:extLst>
          </p:cNvPr>
          <p:cNvSpPr txBox="1">
            <a:spLocks/>
          </p:cNvSpPr>
          <p:nvPr/>
        </p:nvSpPr>
        <p:spPr>
          <a:xfrm>
            <a:off x="540982" y="4818665"/>
            <a:ext cx="10702110" cy="128988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다른 정보와 결합하여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개인을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식별하거나 식별할 수 있다고 인정되면 개인정보로 인정됨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그러나 다른 정보와 결합가능성이 전혀 없어서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개인을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식별하지 않거나 식별할 수 없는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0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정보의 경우에는 개인정보로 인정할 수 없다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endParaRPr lang="ko-KR" altLang="en-US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445067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1.5.3 </a:t>
            </a:r>
            <a:r>
              <a:rPr lang="ko-KR" altLang="en-US" dirty="0"/>
              <a:t>개인정보의 사례와 판례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24</a:t>
            </a:fld>
            <a:endParaRPr lang="en-US" dirty="0">
              <a:latin typeface="+mn-lt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F6B501FC-920F-173C-9EC3-D0245A429FCA}"/>
              </a:ext>
            </a:extLst>
          </p:cNvPr>
          <p:cNvSpPr txBox="1">
            <a:spLocks/>
          </p:cNvSpPr>
          <p:nvPr/>
        </p:nvSpPr>
        <p:spPr>
          <a:xfrm>
            <a:off x="683371" y="1244253"/>
            <a:ext cx="11156518" cy="501587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▪ 사람이 아닌 사물에 관한 정보는 원칙적으로 개인정보에 해당하지 않지만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해당 사물 등의 제조자 또는 소유자 등을 나타내는 정보는 개인정보에 해당함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(※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특정 건물이나 아파트의 소유자가 자연인인 경우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 건물이나 아파트의 주소가 특정 소유자를 알아보는데 이용된다면 개인정보에 해당함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fontAlgn="base" latinLnBrk="1">
              <a:lnSpc>
                <a:spcPct val="15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▪ ‘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개인에 관한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정보’는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반드시 특정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인에 관한 정보를 말하는 것은 아니고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직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·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간접적으로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인 이상에 관한 정보는 각자의 정보에 해당함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.(※ SNS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단체 사진을 올린다면 사진의 영상정보는 사진에 있는 인물 모두의 개인정보에 해당함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의사가 특정 아동의 심리치료를 위해 진료 기록을 작성하면서 아동의 부모 행태 등을 포함하였다면 그 진료기록은 아동과 부모 모두의 개인정보에 해당함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그렇지만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특정 개인에 관한 정보임을 알아볼 수 없도록 통계적으로 변환된 ‘○○기업 평균연봉’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‘○○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대학 졸업생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취업률’등은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개인정보에 해당하지 않음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966804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1.5.3 </a:t>
            </a:r>
            <a:r>
              <a:rPr lang="ko-KR" altLang="en-US" dirty="0"/>
              <a:t>개인정보의 사례와 판례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25</a:t>
            </a:fld>
            <a:endParaRPr lang="en-US" dirty="0">
              <a:latin typeface="+mn-lt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F6B501FC-920F-173C-9EC3-D0245A429FCA}"/>
              </a:ext>
            </a:extLst>
          </p:cNvPr>
          <p:cNvSpPr txBox="1">
            <a:spLocks/>
          </p:cNvSpPr>
          <p:nvPr/>
        </p:nvSpPr>
        <p:spPr>
          <a:xfrm>
            <a:off x="683371" y="1016972"/>
            <a:ext cx="11156518" cy="538382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▪ 영상정보처리기기에 의하여 촬영</a:t>
            </a:r>
            <a:r>
              <a:rPr lang="en-US" altLang="ko-KR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·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처리되는 영상정보 가운데 개인의 초상</a:t>
            </a:r>
            <a:r>
              <a:rPr lang="en-US" altLang="ko-KR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행동 등과 </a:t>
            </a:r>
            <a:r>
              <a:rPr lang="ko-KR" altLang="en-US" sz="19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관련된영상으로서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해당 </a:t>
            </a:r>
            <a:r>
              <a:rPr lang="ko-KR" altLang="en-US" sz="19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개인을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식별할 수 있는 “</a:t>
            </a:r>
            <a:r>
              <a:rPr lang="ko-KR" altLang="en-US" sz="19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개인영상정보”는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개인정보에 해당함</a:t>
            </a:r>
            <a:r>
              <a:rPr lang="en-US" altLang="ko-KR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따라서 </a:t>
            </a:r>
            <a:r>
              <a:rPr lang="en-US" altLang="ko-KR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CCTV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및 네트워크 카메라 이외의 카메라</a:t>
            </a:r>
            <a:r>
              <a:rPr lang="en-US" altLang="ko-KR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휴대전화</a:t>
            </a:r>
            <a:r>
              <a:rPr lang="en-US" altLang="ko-KR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블랙박스 등 영상정보처리기기에 의하여 촬영</a:t>
            </a:r>
            <a:r>
              <a:rPr lang="en-US" altLang="ko-KR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·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처리되는 개인의 초상</a:t>
            </a:r>
            <a:r>
              <a:rPr lang="en-US" altLang="ko-KR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행동 등과 관련된 영상으로 해당 </a:t>
            </a:r>
            <a:r>
              <a:rPr lang="ko-KR" altLang="en-US" sz="19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개인을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식별할 수 있는 </a:t>
            </a:r>
            <a:r>
              <a:rPr lang="ko-KR" altLang="en-US" sz="19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영상정보는“개인영상정보”에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해당하지는 않지만</a:t>
            </a:r>
            <a:r>
              <a:rPr lang="en-US" altLang="ko-KR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개인정보로서 보호됨</a:t>
            </a:r>
          </a:p>
          <a:p>
            <a:pPr fontAlgn="base" latinLnBrk="1">
              <a:lnSpc>
                <a:spcPct val="150000"/>
              </a:lnSpc>
            </a:pPr>
            <a:endParaRPr lang="ko-KR" altLang="en-US" sz="19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en-US" altLang="ko-KR" sz="19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19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판례</a:t>
            </a:r>
            <a:r>
              <a:rPr lang="en-US" altLang="ko-KR" sz="19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 </a:t>
            </a:r>
            <a:r>
              <a:rPr lang="ko-KR" altLang="en-US" sz="19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휴대전화번호 뒤 </a:t>
            </a:r>
            <a:r>
              <a:rPr lang="en-US" altLang="ko-KR" sz="19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</a:t>
            </a:r>
            <a:r>
              <a:rPr lang="ko-KR" altLang="en-US" sz="19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자리는 개인정보인가</a:t>
            </a:r>
            <a:r>
              <a:rPr lang="en-US" altLang="ko-KR" sz="19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?</a:t>
            </a:r>
          </a:p>
          <a:p>
            <a:pPr fontAlgn="base" latinLnBrk="1">
              <a:lnSpc>
                <a:spcPct val="150000"/>
              </a:lnSpc>
            </a:pP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휴대전화번호 뒷자리 </a:t>
            </a:r>
            <a:r>
              <a:rPr lang="en-US" altLang="ko-KR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자만으로도 그 전화번호 사용자가 누구인지를 식별할 수 있는 경우가 있고</a:t>
            </a:r>
            <a:r>
              <a:rPr lang="en-US" altLang="ko-KR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특히 그 전화번호 사용자와 일정한 인적 관계를 맺어온 사람이라면 더더욱 그러할 가능성이 높으며</a:t>
            </a:r>
            <a:r>
              <a:rPr lang="en-US" altLang="ko-KR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설령 휴대전화번호 뒷자리 </a:t>
            </a:r>
            <a:r>
              <a:rPr lang="en-US" altLang="ko-KR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자만으로는 그 전화번호 사용자를 식별하지 못한다 하더라도 그 뒷자리 번호 </a:t>
            </a:r>
            <a:r>
              <a:rPr lang="en-US" altLang="ko-KR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4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자와 관련성이 있는 다른 정보</a:t>
            </a:r>
            <a:r>
              <a:rPr lang="en-US" altLang="ko-KR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생일</a:t>
            </a:r>
            <a:r>
              <a:rPr lang="en-US" altLang="ko-KR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기념일</a:t>
            </a:r>
            <a:r>
              <a:rPr lang="en-US" altLang="ko-KR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집 전화번호</a:t>
            </a:r>
            <a:r>
              <a:rPr lang="en-US" altLang="ko-KR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가족 전화번호</a:t>
            </a:r>
            <a:r>
              <a:rPr lang="en-US" altLang="ko-KR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기존 통화내역 등</a:t>
            </a:r>
            <a:r>
              <a:rPr lang="en-US" altLang="ko-KR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19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쉽게 결합하여 그 전화번호 사용자가 누구인지를 알아볼 수도 있다</a:t>
            </a:r>
            <a:endParaRPr lang="en-US" altLang="ko-KR" sz="19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19157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1.5.3 </a:t>
            </a:r>
            <a:r>
              <a:rPr lang="ko-KR" altLang="en-US" dirty="0"/>
              <a:t>개인정보의 사례와 판례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26</a:t>
            </a:fld>
            <a:endParaRPr lang="en-US" dirty="0">
              <a:latin typeface="+mn-lt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F6B501FC-920F-173C-9EC3-D0245A429FCA}"/>
              </a:ext>
            </a:extLst>
          </p:cNvPr>
          <p:cNvSpPr txBox="1">
            <a:spLocks/>
          </p:cNvSpPr>
          <p:nvPr/>
        </p:nvSpPr>
        <p:spPr>
          <a:xfrm>
            <a:off x="683371" y="1135467"/>
            <a:ext cx="11156518" cy="516484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판례</a:t>
            </a: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 </a:t>
            </a:r>
            <a:r>
              <a:rPr lang="ko-KR" altLang="en-US" sz="16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이메일주소는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개인정보인가</a:t>
            </a: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?</a:t>
            </a:r>
          </a:p>
          <a:p>
            <a:pPr fontAlgn="base" latinLnBrk="1">
              <a:lnSpc>
                <a:spcPct val="150000"/>
              </a:lnSpc>
            </a:pP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이메일 주소는 당해 정보만으로는 특정 </a:t>
            </a:r>
            <a:r>
              <a:rPr lang="ko-KR" altLang="en-US" sz="16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개인을</a:t>
            </a: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알아볼 수 없을지라도 다른 정보와 용이하게 결합할 경우 당해 </a:t>
            </a:r>
            <a:r>
              <a:rPr lang="ko-KR" altLang="en-US" sz="16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개인을</a:t>
            </a: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알아볼 수 있는 정보라 할 것이므로 「정보통신망 이용촉진 및 정보보호 등에 관한 법률」 제</a:t>
            </a:r>
            <a:r>
              <a:rPr lang="en-US" altLang="ko-KR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</a:t>
            </a: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조 제</a:t>
            </a:r>
            <a:r>
              <a:rPr lang="en-US" altLang="ko-KR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</a:t>
            </a: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항 제</a:t>
            </a:r>
            <a:r>
              <a:rPr lang="en-US" altLang="ko-KR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6</a:t>
            </a: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호에서 정한 ‘</a:t>
            </a:r>
            <a:r>
              <a:rPr lang="ko-KR" altLang="en-US" sz="16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개인정보’에</a:t>
            </a: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해당한다</a:t>
            </a:r>
            <a:r>
              <a:rPr lang="en-US" altLang="ko-KR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서울중앙지방법원</a:t>
            </a:r>
            <a:r>
              <a:rPr lang="en-US" altLang="ko-KR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2007. 2. 8. </a:t>
            </a: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선고 </a:t>
            </a:r>
            <a:r>
              <a:rPr lang="en-US" altLang="ko-KR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2006</a:t>
            </a: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가합</a:t>
            </a:r>
            <a:r>
              <a:rPr lang="en-US" altLang="ko-KR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33062,53332 </a:t>
            </a: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판결</a:t>
            </a:r>
            <a:r>
              <a:rPr lang="en-US" altLang="ko-KR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).</a:t>
            </a:r>
          </a:p>
          <a:p>
            <a:pPr fontAlgn="base" latinLnBrk="1">
              <a:lnSpc>
                <a:spcPct val="150000"/>
              </a:lnSpc>
            </a:pPr>
            <a:endParaRPr lang="en-US" altLang="ko-KR" sz="16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판례</a:t>
            </a: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 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아이디와 비밀번호는 개인정보인가</a:t>
            </a: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?</a:t>
            </a:r>
          </a:p>
          <a:p>
            <a:pPr fontAlgn="base" latinLnBrk="1">
              <a:lnSpc>
                <a:spcPct val="150000"/>
              </a:lnSpc>
            </a:pP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아이디와 비밀번호 등 식별부호는 실제 공간과는 달리 익명성이 통용되어 행위자가 </a:t>
            </a:r>
            <a:r>
              <a:rPr lang="ko-KR" altLang="en-US" sz="16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누구인지명확하게</a:t>
            </a: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확인하기 어려운 가상공간에서 그 행위자의 인격을 표상한다고 할 것이므로</a:t>
            </a:r>
            <a:r>
              <a:rPr lang="en-US" altLang="ko-KR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6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개인에관한</a:t>
            </a: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정보로서 당해 </a:t>
            </a:r>
            <a:r>
              <a:rPr lang="ko-KR" altLang="en-US" sz="16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개인을</a:t>
            </a: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알아볼 수 있는 정보</a:t>
            </a:r>
            <a:r>
              <a:rPr lang="en-US" altLang="ko-KR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즉 정보통신망법 제</a:t>
            </a:r>
            <a:r>
              <a:rPr lang="en-US" altLang="ko-KR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</a:t>
            </a: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조 제</a:t>
            </a:r>
            <a:r>
              <a:rPr lang="en-US" altLang="ko-KR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</a:t>
            </a: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항 제</a:t>
            </a:r>
            <a:r>
              <a:rPr lang="en-US" altLang="ko-KR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6</a:t>
            </a: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호에서 정한 개인정보에 해당한다</a:t>
            </a:r>
            <a:r>
              <a:rPr lang="en-US" altLang="ko-KR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서울중앙지법 </a:t>
            </a:r>
            <a:r>
              <a:rPr lang="en-US" altLang="ko-KR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2007.1.26.</a:t>
            </a: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선고 </a:t>
            </a:r>
            <a:r>
              <a:rPr lang="en-US" altLang="ko-KR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2006</a:t>
            </a: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나</a:t>
            </a:r>
            <a:r>
              <a:rPr lang="en-US" altLang="ko-KR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12182 </a:t>
            </a: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판결</a:t>
            </a:r>
            <a:r>
              <a:rPr lang="en-US" altLang="ko-KR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).</a:t>
            </a:r>
          </a:p>
          <a:p>
            <a:pPr fontAlgn="base" latinLnBrk="1">
              <a:lnSpc>
                <a:spcPct val="150000"/>
              </a:lnSpc>
            </a:pPr>
            <a:endParaRPr lang="en-US" altLang="ko-KR" sz="16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[</a:t>
            </a:r>
            <a:r>
              <a:rPr lang="ko-KR" altLang="en-US" sz="16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의결례</a:t>
            </a: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] </a:t>
            </a:r>
            <a:r>
              <a:rPr lang="ko-KR" altLang="en-US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블랙박스로 촬영된 영상정보의 개인정보파일 해당하는가</a:t>
            </a:r>
            <a:r>
              <a:rPr lang="en-US" altLang="ko-KR" sz="1600" dirty="0">
                <a:latin typeface="한컴 고딕" panose="02000500000000000000" pitchFamily="2" charset="-127"/>
                <a:ea typeface="한컴 고딕" panose="02000500000000000000" pitchFamily="2" charset="-127"/>
              </a:rPr>
              <a:t>?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‘</a:t>
            </a: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개인정보 </a:t>
            </a:r>
            <a:r>
              <a:rPr lang="ko-KR" altLang="en-US" sz="16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파일’이란</a:t>
            </a: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개인정보를 쉽게 검색할 수 있도록 규칙에 따라 체계적으로 배열하거나 구성한 개인정보의 집합물을 말하는데</a:t>
            </a:r>
            <a:r>
              <a:rPr lang="en-US" altLang="ko-KR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「개인정보 </a:t>
            </a:r>
            <a:r>
              <a:rPr lang="ko-KR" altLang="en-US" sz="16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보호법」제</a:t>
            </a:r>
            <a:r>
              <a:rPr lang="en-US" altLang="ko-KR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</a:t>
            </a: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조 제</a:t>
            </a:r>
            <a:r>
              <a:rPr lang="en-US" altLang="ko-KR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3</a:t>
            </a: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호 참조</a:t>
            </a:r>
            <a:r>
              <a:rPr lang="en-US" altLang="ko-KR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), </a:t>
            </a: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블랙박스로 촬영된 영상정보는 촬영일시 등에 따라 체계적으로 배열하여 저장되므로 개인정보파일에 해당한다 할 것이다</a:t>
            </a:r>
            <a:r>
              <a:rPr lang="en-US" altLang="ko-KR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6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의결례</a:t>
            </a: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제</a:t>
            </a:r>
            <a:r>
              <a:rPr lang="en-US" altLang="ko-KR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2017-13-100</a:t>
            </a:r>
            <a:r>
              <a:rPr lang="ko-KR" altLang="en-US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호</a:t>
            </a:r>
            <a:r>
              <a:rPr lang="en-US" altLang="ko-KR" sz="16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3880621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1.5.4 </a:t>
            </a:r>
            <a:r>
              <a:rPr lang="ko-KR" altLang="en-US" dirty="0"/>
              <a:t>개인정보의 수집과 이용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27</a:t>
            </a:fld>
            <a:endParaRPr lang="en-US" dirty="0">
              <a:latin typeface="+mn-lt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F6B501FC-920F-173C-9EC3-D0245A429FCA}"/>
              </a:ext>
            </a:extLst>
          </p:cNvPr>
          <p:cNvSpPr txBox="1">
            <a:spLocks/>
          </p:cNvSpPr>
          <p:nvPr/>
        </p:nvSpPr>
        <p:spPr>
          <a:xfrm>
            <a:off x="594360" y="1003519"/>
            <a:ext cx="11156518" cy="485096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개인정보 보호법에 따른 개인정보의 처리의 세부적인 사항을 규정하는 표준 개인정보 보호지침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시행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2024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년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1. 4.)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개인정보의 수집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•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이용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제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6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조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중  인터넷 상의 정보에 관한 내용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•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개인정보의 “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수집”이란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정보주체로부터 직접 이름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주소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전화번호 등의 개인정보를 제공받는 것뿐만 아니라 제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3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자로부터 정보주체에 관한 모든 형태의 개인정보를 취득하는 것을 말함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다만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인터넷 등에 공개된 자료의 경우 이에 해당하지 않음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5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•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인터넷 홈페이지 등 공개된 매체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장소 등에 정보주체가 자신의 개인정보를 수집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·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이용해도 된다는 명시적인 동의의사를 표시하거나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홈페이지의 성격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게시물 내용 등에 비추어 사회 통념상 동의의사가 있었다고 인정되면*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해당 정보주체의 개인정보는 동의 없이 수집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·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이용 가능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683593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1.5.4 </a:t>
            </a:r>
            <a:r>
              <a:rPr lang="ko-KR" altLang="en-US" dirty="0"/>
              <a:t>개인정보의 수집과 이용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28</a:t>
            </a:fld>
            <a:endParaRPr lang="en-US" dirty="0">
              <a:latin typeface="+mn-lt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F6B501FC-920F-173C-9EC3-D0245A429FCA}"/>
              </a:ext>
            </a:extLst>
          </p:cNvPr>
          <p:cNvSpPr txBox="1">
            <a:spLocks/>
          </p:cNvSpPr>
          <p:nvPr/>
        </p:nvSpPr>
        <p:spPr>
          <a:xfrm>
            <a:off x="594360" y="1125416"/>
            <a:ext cx="11156518" cy="424040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통계처리를 위한 데이터의 수집과 이용에 대한 다음의 내용은 개인정보보호 가이드라인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통계작성 편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 </a:t>
            </a:r>
          </a:p>
          <a:p>
            <a:pPr fontAlgn="base" latinLnBrk="1">
              <a:lnSpc>
                <a:spcPct val="150000"/>
              </a:lnSpc>
            </a:pP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개인정보보호 가이드라인 통계작성편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개인정보보위원회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2023. 11)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에서 발췌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</a:p>
          <a:p>
            <a:pPr fontAlgn="base" latinLnBrk="1">
              <a:lnSpc>
                <a:spcPct val="150000"/>
              </a:lnSpc>
            </a:pPr>
            <a:endParaRPr lang="en-US" altLang="ko-KR" sz="18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▪ 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통계업무 시 개인정보 보호법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이하 ‘보호법’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 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적용을 포괄적으로 배제하던 보호법 제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58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조제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항 제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1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호*가 </a:t>
            </a:r>
            <a:endParaRPr lang="en-US" altLang="ko-KR" sz="18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삭제됨에 따라 보호법 규정이 통계업무에 전면 적용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(2023.9.15. 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시행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fontAlgn="base" latinLnBrk="1">
              <a:lnSpc>
                <a:spcPct val="150000"/>
              </a:lnSpc>
            </a:pP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▪ 통계법에 개인정보의 처리 및 보호에 관하여 특별한 규정이 있는 경우에는 통계법을 적용하고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특별한 규정이 없는 경우에는 보호법을 적용</a:t>
            </a:r>
          </a:p>
          <a:p>
            <a:pPr fontAlgn="base" latinLnBrk="1">
              <a:lnSpc>
                <a:spcPct val="150000"/>
              </a:lnSpc>
            </a:pP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▪ 개인정보의 처리 목적을 명확히 하고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필요 최소한의 개인정보만을 적법하고 정당하게 수집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·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이용해야 함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보호법 제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3</a:t>
            </a: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조</a:t>
            </a:r>
            <a:r>
              <a:rPr lang="en-US" altLang="ko-KR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</a:p>
          <a:p>
            <a:pPr fontAlgn="base" latinLnBrk="1">
              <a:lnSpc>
                <a:spcPct val="150000"/>
              </a:lnSpc>
            </a:pPr>
            <a:r>
              <a:rPr lang="ko-KR" altLang="en-US" sz="18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▪ 처리목적에 필요한 범위에서 적합하게 처리하고 안전하게 관리</a:t>
            </a:r>
          </a:p>
        </p:txBody>
      </p:sp>
    </p:spTree>
    <p:extLst>
      <p:ext uri="{BB962C8B-B14F-4D97-AF65-F5344CB8AC3E}">
        <p14:creationId xmlns:p14="http://schemas.microsoft.com/office/powerpoint/2010/main" val="5540048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1.5.4 </a:t>
            </a:r>
            <a:r>
              <a:rPr lang="ko-KR" altLang="en-US" dirty="0"/>
              <a:t>개인정보의 수집과 이용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29</a:t>
            </a:fld>
            <a:endParaRPr lang="en-US" dirty="0">
              <a:latin typeface="+mn-lt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F6B501FC-920F-173C-9EC3-D0245A429FCA}"/>
              </a:ext>
            </a:extLst>
          </p:cNvPr>
          <p:cNvSpPr txBox="1">
            <a:spLocks/>
          </p:cNvSpPr>
          <p:nvPr/>
        </p:nvSpPr>
        <p:spPr>
          <a:xfrm>
            <a:off x="517740" y="1248506"/>
            <a:ext cx="11359411" cy="307228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•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고유식별정보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민감정보 민감정보는 법령 근거나 정보주체의 동의에 따라 처리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endParaRPr lang="ko-KR" altLang="en-US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·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고유식별정보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: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주민등록번호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여권번호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운전면허번호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외국인등록번호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·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민감정보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: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사상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·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신념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노동조합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·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정당의 가입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·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탈퇴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정치적 견해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건강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성생활 등에 관한 정보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</a:p>
          <a:p>
            <a:pPr fontAlgn="base" latinLnBrk="1">
              <a:lnSpc>
                <a:spcPct val="15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유전정보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범죄경력정보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신체적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·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생리적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·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행동적 특징에 관한 정보로서 특정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개인을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알아볼 목적으로 일정한 기술적 수단을 통해 생성한 정보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인종이나 민족에 관한 정보</a:t>
            </a:r>
          </a:p>
        </p:txBody>
      </p:sp>
    </p:spTree>
    <p:extLst>
      <p:ext uri="{BB962C8B-B14F-4D97-AF65-F5344CB8AC3E}">
        <p14:creationId xmlns:p14="http://schemas.microsoft.com/office/powerpoint/2010/main" val="7595669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1.5.5 </a:t>
            </a:r>
            <a:r>
              <a:rPr lang="ko-KR" altLang="en-US" dirty="0" err="1"/>
              <a:t>마이데이터</a:t>
            </a:r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30</a:t>
            </a:fld>
            <a:endParaRPr lang="en-US" dirty="0">
              <a:latin typeface="+mn-lt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F6B501FC-920F-173C-9EC3-D0245A429FCA}"/>
              </a:ext>
            </a:extLst>
          </p:cNvPr>
          <p:cNvSpPr txBox="1">
            <a:spLocks/>
          </p:cNvSpPr>
          <p:nvPr/>
        </p:nvSpPr>
        <p:spPr>
          <a:xfrm>
            <a:off x="520469" y="1439142"/>
            <a:ext cx="11359411" cy="314036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230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마이데이터</a:t>
            </a: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: </a:t>
            </a: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“정보주체인 개인이 본인의 정보를 적극적으로 관리</a:t>
            </a: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통제하고</a:t>
            </a: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이를 신용관리</a:t>
            </a: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자산관리</a:t>
            </a: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나아가 건강관리까지 개인 생활에 능동적으로 활용하는 일련의 과정”</a:t>
            </a:r>
            <a:endParaRPr lang="en-US" altLang="ko-KR" sz="23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endParaRPr lang="en-US" altLang="ko-KR" sz="23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즉</a:t>
            </a: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정보주체를 중심으로 산재된 개인데이터를 한 곳에 모아 개인이 직접 열람하고 저장하는 등 통합 관리하고</a:t>
            </a: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이를 활용하는 일련의 과정</a:t>
            </a:r>
            <a:r>
              <a:rPr lang="en-US" altLang="ko-KR" sz="23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50000"/>
              </a:lnSpc>
            </a:pPr>
            <a:endParaRPr lang="en-US" altLang="ko-KR" sz="23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306499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1.5.5 </a:t>
            </a:r>
            <a:r>
              <a:rPr lang="ko-KR" altLang="en-US" dirty="0" err="1"/>
              <a:t>마이데이터</a:t>
            </a:r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31</a:t>
            </a:fld>
            <a:endParaRPr lang="en-US" dirty="0">
              <a:latin typeface="+mn-lt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B709D6E-16D6-A731-6D28-E7857DD90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574" y="2944167"/>
            <a:ext cx="9188225" cy="3635704"/>
          </a:xfrm>
          <a:prstGeom prst="rect">
            <a:avLst/>
          </a:prstGeom>
        </p:spPr>
      </p:pic>
      <p:sp>
        <p:nvSpPr>
          <p:cNvPr id="8" name="Title 8">
            <a:extLst>
              <a:ext uri="{FF2B5EF4-FFF2-40B4-BE49-F238E27FC236}">
                <a16:creationId xmlns:a16="http://schemas.microsoft.com/office/drawing/2014/main" id="{E37417D1-51C0-45D3-248F-BCF57153BE8B}"/>
              </a:ext>
            </a:extLst>
          </p:cNvPr>
          <p:cNvSpPr txBox="1">
            <a:spLocks/>
          </p:cNvSpPr>
          <p:nvPr/>
        </p:nvSpPr>
        <p:spPr>
          <a:xfrm>
            <a:off x="594360" y="992727"/>
            <a:ext cx="11359411" cy="164793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2020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년 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8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월 개정된 데이터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3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법으로 인해 법적으로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마이데이터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산업이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가능해졌는데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이 중에서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마이데이터와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직접적으로 연관이 있는 법안은 “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신용정보법”인데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이 개정안에 ‘개인신용정보 </a:t>
            </a: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전송요구권’이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포함되었기 때문이다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endParaRPr lang="ko-KR" altLang="en-US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304714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1.5.5 </a:t>
            </a:r>
            <a:r>
              <a:rPr lang="ko-KR" altLang="en-US" dirty="0" err="1"/>
              <a:t>마이데이터</a:t>
            </a:r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32</a:t>
            </a:fld>
            <a:endParaRPr lang="en-US" dirty="0">
              <a:latin typeface="+mn-lt"/>
            </a:endParaRPr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E37417D1-51C0-45D3-248F-BCF57153BE8B}"/>
              </a:ext>
            </a:extLst>
          </p:cNvPr>
          <p:cNvSpPr txBox="1">
            <a:spLocks/>
          </p:cNvSpPr>
          <p:nvPr/>
        </p:nvSpPr>
        <p:spPr>
          <a:xfrm>
            <a:off x="503925" y="1577590"/>
            <a:ext cx="11359411" cy="278339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4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마이데이터는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자신에 관한 정보가 언제 누구에게 어느 범위까지 알려지고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또 이용되도록 할 것인지를 개인이 스스로 결정할 수 있는 권리인 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'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개인정보 자기결정권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'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 제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3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자에게 이를 관리할 수 있도록 허용하는 </a:t>
            </a: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'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개인정보 </a:t>
            </a:r>
            <a:r>
              <a:rPr lang="ko-KR" altLang="en-US" sz="24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이동권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'</a:t>
            </a:r>
            <a:r>
              <a:rPr lang="ko-KR" altLang="en-US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을 기반으로 한다</a:t>
            </a:r>
            <a:r>
              <a:rPr lang="en-US" altLang="ko-KR" sz="24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base" latinLnBrk="1">
              <a:lnSpc>
                <a:spcPct val="150000"/>
              </a:lnSpc>
            </a:pPr>
            <a:endParaRPr lang="en-US" altLang="ko-KR" sz="24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12612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1.5.5 </a:t>
            </a:r>
            <a:r>
              <a:rPr lang="ko-KR" altLang="en-US" dirty="0" err="1"/>
              <a:t>마이데이터</a:t>
            </a:r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33</a:t>
            </a:fld>
            <a:endParaRPr lang="en-US" dirty="0">
              <a:latin typeface="+mn-lt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F6B501FC-920F-173C-9EC3-D0245A429FCA}"/>
              </a:ext>
            </a:extLst>
          </p:cNvPr>
          <p:cNvSpPr txBox="1">
            <a:spLocks/>
          </p:cNvSpPr>
          <p:nvPr/>
        </p:nvSpPr>
        <p:spPr>
          <a:xfrm>
            <a:off x="594360" y="1468985"/>
            <a:ext cx="11359411" cy="427054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개인에게 ‘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개인정보자기결정권’을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보장하는 기본 원칙은 다음과 같다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base" latinLnBrk="1">
              <a:lnSpc>
                <a:spcPct val="150000"/>
              </a:lnSpc>
            </a:pP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•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개인은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언제든지 본인의 개인데이터에 접근할 수 있고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 데이터를 제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3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자에게 보내거나 활용하게 할 수 있다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•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개인이 개인데이터를 요청하면 개인데이터 보유자는 해당 데이터를 안전하고 쉽게 이용할 수 있는 형식으로 개인에게 제공해야 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•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개인데이터를 사용하고자 하는 제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3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자는 필요할 때마다 개인에게 동의를 받아야 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•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개인은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자신의 데이터가 어떻게 수집 및 사용되었는지 투명하게 확인할 수 있어야 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base" latinLnBrk="1">
              <a:lnSpc>
                <a:spcPct val="150000"/>
              </a:lnSpc>
            </a:pP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•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개인이 원한다면 개인데이터 보유자는 데이터를 바로 삭제해야 한다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58887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1.5.5 </a:t>
            </a:r>
            <a:r>
              <a:rPr lang="ko-KR" altLang="en-US" dirty="0" err="1"/>
              <a:t>마이데이터</a:t>
            </a:r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34</a:t>
            </a:fld>
            <a:endParaRPr lang="en-US" dirty="0">
              <a:latin typeface="+mn-lt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F6B501FC-920F-173C-9EC3-D0245A429FCA}"/>
              </a:ext>
            </a:extLst>
          </p:cNvPr>
          <p:cNvSpPr txBox="1">
            <a:spLocks/>
          </p:cNvSpPr>
          <p:nvPr/>
        </p:nvSpPr>
        <p:spPr>
          <a:xfrm>
            <a:off x="594360" y="1215851"/>
            <a:ext cx="11359411" cy="60482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공공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금융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의료 및 데이터 산업에서의 </a:t>
            </a: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마이데이터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개념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154CFE2-0A9C-ECDC-22D6-AF4C30CF6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990452"/>
            <a:ext cx="10056697" cy="417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1634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1.5.5 </a:t>
            </a:r>
            <a:r>
              <a:rPr lang="ko-KR" altLang="en-US" dirty="0" err="1"/>
              <a:t>마이데이터</a:t>
            </a:r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35</a:t>
            </a:fld>
            <a:endParaRPr lang="en-US" dirty="0">
              <a:latin typeface="+mn-lt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F6B501FC-920F-173C-9EC3-D0245A429FCA}"/>
              </a:ext>
            </a:extLst>
          </p:cNvPr>
          <p:cNvSpPr txBox="1">
            <a:spLocks/>
          </p:cNvSpPr>
          <p:nvPr/>
        </p:nvSpPr>
        <p:spPr>
          <a:xfrm>
            <a:off x="594360" y="1215851"/>
            <a:ext cx="11359411" cy="1376624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은행 정보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계좌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이체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대출 등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와 신용카드 정보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사용 내역 및 금액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금융 데이터 주인이 금융 회사가 아닌 개인이므로 개인의 동의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요청</a:t>
            </a:r>
            <a:r>
              <a:rPr lang="en-US" altLang="ko-KR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)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하에 여러 금융 회사에 분산되어 있는 금융 정보를 통합적으로 관리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5" name="Picture 0">
            <a:extLst>
              <a:ext uri="{FF2B5EF4-FFF2-40B4-BE49-F238E27FC236}">
                <a16:creationId xmlns:a16="http://schemas.microsoft.com/office/drawing/2014/main" id="{3AEAFE66-18FB-BB65-37A5-BD206B00A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037" y="2764507"/>
            <a:ext cx="7219164" cy="3609582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9865473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1.5.5 </a:t>
            </a:r>
            <a:r>
              <a:rPr lang="ko-KR" altLang="en-US" dirty="0" err="1"/>
              <a:t>마이데이터</a:t>
            </a:r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36</a:t>
            </a:fld>
            <a:endParaRPr lang="en-US" dirty="0">
              <a:latin typeface="+mn-lt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F6B501FC-920F-173C-9EC3-D0245A429FCA}"/>
              </a:ext>
            </a:extLst>
          </p:cNvPr>
          <p:cNvSpPr txBox="1">
            <a:spLocks/>
          </p:cNvSpPr>
          <p:nvPr/>
        </p:nvSpPr>
        <p:spPr>
          <a:xfrm>
            <a:off x="594360" y="1143001"/>
            <a:ext cx="11359411" cy="48064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2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마이데이터를</a:t>
            </a:r>
            <a:r>
              <a:rPr lang="ko-KR" altLang="en-US" sz="22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통한 신용정보관리</a:t>
            </a:r>
            <a:endParaRPr lang="en-US" altLang="ko-KR" sz="22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CE1B4161-1AF7-C246-D23D-963A9CFC3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894" y="1890348"/>
            <a:ext cx="7268642" cy="4441872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9877167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1.5.5 </a:t>
            </a:r>
            <a:r>
              <a:rPr lang="ko-KR" altLang="en-US" dirty="0" err="1"/>
              <a:t>마이데이터</a:t>
            </a:r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37</a:t>
            </a:fld>
            <a:endParaRPr lang="en-US" dirty="0">
              <a:latin typeface="+mn-lt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F6B501FC-920F-173C-9EC3-D0245A429FCA}"/>
              </a:ext>
            </a:extLst>
          </p:cNvPr>
          <p:cNvSpPr txBox="1">
            <a:spLocks/>
          </p:cNvSpPr>
          <p:nvPr/>
        </p:nvSpPr>
        <p:spPr>
          <a:xfrm>
            <a:off x="594360" y="1143000"/>
            <a:ext cx="11359411" cy="506185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마이데이터를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통해 각 금융사에 흩어진 자신의 자산정보를 한곳에서 확인하고 관리할 수 있게 됨에 따라 이를 바탕으로 개인 맞춤형 자산관리와 컨설팅 등의 서비스를 제공받을 수 있다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base" latinLnBrk="1">
              <a:lnSpc>
                <a:spcPct val="15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마이데이터는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개인데이터의 활용처와 활용범위 등에 대한 정보주체의 능동적인 의사결정을 지원함으로써 개인정보 자기결정권을 보장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이를 통해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개인은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20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마이데이터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서비스의 개인데이터 활용방식과 수익분배 등의 과정에 더욱 적극적으로 참여할 수 있다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base" latinLnBrk="1">
              <a:lnSpc>
                <a:spcPct val="150000"/>
              </a:lnSpc>
            </a:pPr>
            <a:endParaRPr lang="en-US" altLang="ko-KR" sz="20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또한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제휴를 맺은 기관 또는 기업 간에만 개인데이터 공유가 가능했던 기존의 환경에서 동의 기반 데이터 제공을 통해 맞춤 서비스가 성장할 수 있는 토대를 마련하여 데이터 산업 발전에 기여한다</a:t>
            </a:r>
            <a:r>
              <a:rPr lang="en-US" altLang="ko-KR" sz="20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438506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 err="1"/>
              <a:t>빅데이터란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38</a:t>
            </a:fld>
            <a:endParaRPr lang="en-US" dirty="0">
              <a:latin typeface="+mn-lt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F6B501FC-920F-173C-9EC3-D0245A429FCA}"/>
              </a:ext>
            </a:extLst>
          </p:cNvPr>
          <p:cNvSpPr txBox="1">
            <a:spLocks/>
          </p:cNvSpPr>
          <p:nvPr/>
        </p:nvSpPr>
        <p:spPr>
          <a:xfrm>
            <a:off x="594360" y="1153886"/>
            <a:ext cx="11359411" cy="506185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빅데이터는 기존에 데이터를 처리하는 응용 소프트웨어로는 수집하거나 저장 및 분석하기 어려운 방대한 양의 데이터를 의미하며 이러한 데이터로부터 가치를 추출하고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결과를 분석하는 기술을 말한다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base" latinLnBrk="1">
              <a:lnSpc>
                <a:spcPct val="150000"/>
              </a:lnSpc>
            </a:pP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빅데이터는 정치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경제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사회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문화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과학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의학 등의 전체 영역의 모든 분야에서 우리에게 가치가 있고 의미 있는 정보를 제공하고 있으며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날로 그 중요성이 높아지고 있다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16453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 err="1"/>
              <a:t>빅데이터란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39</a:t>
            </a:fld>
            <a:endParaRPr lang="en-US" dirty="0">
              <a:latin typeface="+mn-lt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F6B501FC-920F-173C-9EC3-D0245A429FCA}"/>
              </a:ext>
            </a:extLst>
          </p:cNvPr>
          <p:cNvSpPr txBox="1">
            <a:spLocks/>
          </p:cNvSpPr>
          <p:nvPr/>
        </p:nvSpPr>
        <p:spPr>
          <a:xfrm>
            <a:off x="594360" y="1153886"/>
            <a:ext cx="11359411" cy="359360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그러나 빅데이터는 수많은 사람의 정보로 구성되므로 인터넷을 사용하면서 남긴 데이터를 무분별하게 수집하거나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보안상의 문제로 개인정보가 유출될 때 사생활이 침해될 수 있으므로 빅데이터의 사용 전에 전제가 되어야 하는 것은 무분별한 개인의 정보를 보호하고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윤리적인 문제점을 고려해야 한다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  <a:p>
            <a:pPr fontAlgn="base" latinLnBrk="1">
              <a:lnSpc>
                <a:spcPct val="150000"/>
              </a:lnSpc>
            </a:pPr>
            <a:endParaRPr lang="en-US" altLang="ko-KR" sz="2100" b="0" dirty="0"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빅데이터는 규모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(Volume),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속도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(Velocity),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다양성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(Variety),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정확성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(Veracity), </a:t>
            </a:r>
          </a:p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가치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(Value)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5V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 특성을 갖는다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39507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 err="1"/>
              <a:t>빅데이터처리와</a:t>
            </a:r>
            <a:r>
              <a:rPr lang="ko-KR" altLang="en-US" dirty="0"/>
              <a:t> 분석 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40</a:t>
            </a:fld>
            <a:endParaRPr lang="en-US" dirty="0">
              <a:latin typeface="+mn-lt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F6B501FC-920F-173C-9EC3-D0245A429FCA}"/>
              </a:ext>
            </a:extLst>
          </p:cNvPr>
          <p:cNvSpPr txBox="1">
            <a:spLocks/>
          </p:cNvSpPr>
          <p:nvPr/>
        </p:nvSpPr>
        <p:spPr>
          <a:xfrm>
            <a:off x="594360" y="1153886"/>
            <a:ext cx="11359411" cy="870857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 처리 프로세스가 항상 선형적인 것은 아니며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구체적인 사용 사례와 요구 사항에 따라 서로 다른 단계를 반복하거나 동시에 수행할 수 있다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DF34079-7F0C-3B27-C528-D1EA3A2FF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2130602"/>
            <a:ext cx="9296111" cy="409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4031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빅데이터 관련 직업분류 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41</a:t>
            </a:fld>
            <a:endParaRPr lang="en-US" dirty="0">
              <a:latin typeface="+mn-lt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CD1C82B-8536-0C9C-36E1-3008D8EB5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440" y="942460"/>
            <a:ext cx="6866846" cy="590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5067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빅데이터와 인공지능  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42</a:t>
            </a:fld>
            <a:endParaRPr lang="en-US" dirty="0">
              <a:latin typeface="+mn-lt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F6B501FC-920F-173C-9EC3-D0245A429FCA}"/>
              </a:ext>
            </a:extLst>
          </p:cNvPr>
          <p:cNvSpPr txBox="1">
            <a:spLocks/>
          </p:cNvSpPr>
          <p:nvPr/>
        </p:nvSpPr>
        <p:spPr>
          <a:xfrm>
            <a:off x="594360" y="1164772"/>
            <a:ext cx="11359411" cy="226422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빅데이터는 인공지능의 학습과 발전을 위한 연료 역할을 하고 있고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인공지능은 이러한 데이터를 분석하고 활용하여 지능적인 결정을 내리는 기술이므로 </a:t>
            </a:r>
            <a:r>
              <a:rPr lang="ko-KR" altLang="en-US" sz="2100" b="0" u="sng" dirty="0">
                <a:solidFill>
                  <a:srgbClr val="FF0000"/>
                </a:solidFill>
                <a:latin typeface="한컴 고딕" panose="02000500000000000000" pitchFamily="2" charset="-127"/>
                <a:ea typeface="한컴 고딕" panose="02000500000000000000" pitchFamily="2" charset="-127"/>
              </a:rPr>
              <a:t>빅데이터와 인공지능은 상호 보완적인 관계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에 있다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온라인 쇼핑몰을 운영하는 전자상거래 기업이 매출 실적을 높이기 위해 빅데이터와 인공지능을 활용할 때 다음과 같은 과정으로 이루어진다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428BCAD-17D7-E2AB-C10B-074EC218A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3636646"/>
            <a:ext cx="8572500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7368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개인정보보호와 정보활용 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43</a:t>
            </a:fld>
            <a:endParaRPr lang="en-US" dirty="0">
              <a:latin typeface="+mn-lt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F6B501FC-920F-173C-9EC3-D0245A429FCA}"/>
              </a:ext>
            </a:extLst>
          </p:cNvPr>
          <p:cNvSpPr txBox="1">
            <a:spLocks/>
          </p:cNvSpPr>
          <p:nvPr/>
        </p:nvSpPr>
        <p:spPr>
          <a:xfrm>
            <a:off x="594360" y="1077685"/>
            <a:ext cx="11359411" cy="1948543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개인정보는 현대사회에서 인터넷 상의 정보조회 및 정보교환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마케팅과 상거래를 포함한 금전적 금융적 거래에 있어서 중요한 요소로서 기능을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히고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있으나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의도적으로 악용되거나 유출될 경우에 개인의 사생활은 물론 안전과 재산에 피해를 줄 수 있기 때문에 그 중요성이 날로 강조되고 있다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1183320-863D-B221-01DB-8E5F8673B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909" y="3034898"/>
            <a:ext cx="9252485" cy="329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9634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pPr fontAlgn="base" latinLnBrk="1"/>
            <a:r>
              <a:rPr lang="en-US" altLang="ko-KR" dirty="0"/>
              <a:t>[</a:t>
            </a:r>
            <a:r>
              <a:rPr lang="ko-KR" altLang="en-US" dirty="0"/>
              <a:t>단원정리</a:t>
            </a:r>
            <a:r>
              <a:rPr lang="en-US" altLang="ko-KR" dirty="0"/>
              <a:t>] </a:t>
            </a:r>
            <a:r>
              <a:rPr lang="ko-KR" altLang="en-US" dirty="0"/>
              <a:t>개인정보와 </a:t>
            </a:r>
            <a:r>
              <a:rPr lang="ko-KR" altLang="en-US" dirty="0" err="1"/>
              <a:t>마이데이터</a:t>
            </a:r>
            <a:r>
              <a:rPr lang="ko-KR" altLang="en-US" dirty="0"/>
              <a:t> </a:t>
            </a:r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660DD98-005F-44E7-AEC1-3B987AA25CFD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CF3B3A64-8F3A-45ED-987D-DEC8E6596A5C}" type="datetime1">
              <a:rPr lang="ko-KR" altLang="en-US" smtClean="0">
                <a:latin typeface="+mn-lt"/>
              </a:rPr>
              <a:t>2026-03-01</a:t>
            </a:fld>
            <a:endParaRPr lang="en-US" dirty="0">
              <a:latin typeface="+mn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3C181-9747-47DD-A412-DA924169B4B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44</a:t>
            </a:fld>
            <a:endParaRPr lang="en-US" dirty="0">
              <a:latin typeface="+mn-lt"/>
            </a:endParaRPr>
          </a:p>
        </p:txBody>
      </p:sp>
      <p:sp>
        <p:nvSpPr>
          <p:cNvPr id="6" name="Title 8">
            <a:extLst>
              <a:ext uri="{FF2B5EF4-FFF2-40B4-BE49-F238E27FC236}">
                <a16:creationId xmlns:a16="http://schemas.microsoft.com/office/drawing/2014/main" id="{F6B501FC-920F-173C-9EC3-D0245A429FCA}"/>
              </a:ext>
            </a:extLst>
          </p:cNvPr>
          <p:cNvSpPr txBox="1">
            <a:spLocks/>
          </p:cNvSpPr>
          <p:nvPr/>
        </p:nvSpPr>
        <p:spPr>
          <a:xfrm>
            <a:off x="594360" y="1001486"/>
            <a:ext cx="11359411" cy="142602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fontAlgn="base" latinLnBrk="1">
              <a:lnSpc>
                <a:spcPct val="150000"/>
              </a:lnSpc>
            </a:pP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마이데이터는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개인데이터의 활용처와 활용범위 등에 대한 정보주체의 능동적인 의사결정을 지원함으로써 개인정보 자기결정권을 보장하고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이를 통해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개인은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lang="ko-KR" altLang="en-US" sz="2100" b="0" dirty="0" err="1">
                <a:latin typeface="한컴 고딕" panose="02000500000000000000" pitchFamily="2" charset="-127"/>
                <a:ea typeface="한컴 고딕" panose="02000500000000000000" pitchFamily="2" charset="-127"/>
              </a:rPr>
              <a:t>마이데이터</a:t>
            </a:r>
            <a:r>
              <a:rPr lang="ko-KR" altLang="en-US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 서비스의 개인데이터 활용방식과 수익분배 등의 과정에 더욱 적극적으로 참여할 수 있다</a:t>
            </a:r>
            <a:r>
              <a:rPr lang="en-US" altLang="ko-KR" sz="2100" b="0" dirty="0">
                <a:latin typeface="한컴 고딕" panose="02000500000000000000" pitchFamily="2" charset="-127"/>
                <a:ea typeface="한컴 고딕" panose="02000500000000000000" pitchFamily="2" charset="-127"/>
              </a:rPr>
              <a:t>.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845FC03E-3A2F-7F8E-4707-C65E1C803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8265" y="2496799"/>
            <a:ext cx="6798592" cy="4154624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15269143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0" tIns="0" rIns="0" bIns="0" rtlCol="0" anchor="ctr" anchorCtr="0">
        <a:noAutofit/>
      </a:bodyPr>
      <a:lstStyle>
        <a:defPPr algn="l" fontAlgn="base" latinLnBrk="1">
          <a:lnSpc>
            <a:spcPct val="100000"/>
          </a:lnSpc>
          <a:defRPr sz="2800" b="0" dirty="0" smtClean="0">
            <a:latin typeface="한컴 고딕" panose="02000500000000000000" pitchFamily="2" charset="-127"/>
            <a:ea typeface="한컴 고딕" panose="020005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8A8ECD1-788F-484B-9043-D957FCFDF1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A0FE134-9032-4C7F-BC57-C7DE3F833363}">
  <ds:schemaRefs>
    <ds:schemaRef ds:uri="http://schemas.microsoft.com/sharepoint/v3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purl.org/dc/elements/1.1/"/>
    <ds:schemaRef ds:uri="http://purl.org/dc/dcmitype/"/>
    <ds:schemaRef ds:uri="16c05727-aa75-4e4a-9b5f-8a80a1165891"/>
    <ds:schemaRef ds:uri="http://schemas.openxmlformats.org/package/2006/metadata/core-properties"/>
    <ds:schemaRef ds:uri="230e9df3-be65-4c73-a93b-d1236ebd677e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36D24F1A-6251-4B9A-A918-7D6F3A8F7E2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</TotalTime>
  <Words>2658</Words>
  <Application>Microsoft Office PowerPoint</Application>
  <PresentationFormat>와이드스크린</PresentationFormat>
  <Paragraphs>409</Paragraphs>
  <Slides>44</Slides>
  <Notes>44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1" baseType="lpstr">
      <vt:lpstr>(한글 글꼴 사용)</vt:lpstr>
      <vt:lpstr>한컴 고딕</vt:lpstr>
      <vt:lpstr>Arial</vt:lpstr>
      <vt:lpstr>Calibri</vt:lpstr>
      <vt:lpstr>Franklin Gothic Book</vt:lpstr>
      <vt:lpstr>Franklin Gothic Demi</vt:lpstr>
      <vt:lpstr>Custom</vt:lpstr>
      <vt:lpstr>빅데이터 분석 개론</vt:lpstr>
      <vt:lpstr>강의내용</vt:lpstr>
      <vt:lpstr>1.1 빅데이터란?</vt:lpstr>
      <vt:lpstr>1.1 빅데이터란?</vt:lpstr>
      <vt:lpstr>1.1 빅데이터란?</vt:lpstr>
      <vt:lpstr>1.1 빅데이터란?</vt:lpstr>
      <vt:lpstr>1.2 빅데이터 처리와 분석 </vt:lpstr>
      <vt:lpstr>1.2 빅데이터 처리와 분석 </vt:lpstr>
      <vt:lpstr>1.3 빅데이터 관련 직업 분류와 자격증 </vt:lpstr>
      <vt:lpstr>1.3 빅데이터 관련 직업 분류 </vt:lpstr>
      <vt:lpstr>1.3 빅데이터 관련 직업 분류 </vt:lpstr>
      <vt:lpstr>1.3 빅데이터 관련 자격증 (국내)</vt:lpstr>
      <vt:lpstr>1.3 빅데이터 관련 자격증 (국내) </vt:lpstr>
      <vt:lpstr>1.3 빅데이터 관련 자격증 (국외) </vt:lpstr>
      <vt:lpstr>1.3 빅데이터 관련 자격증 (국외) </vt:lpstr>
      <vt:lpstr>1.4 빅데이터와 인공지능</vt:lpstr>
      <vt:lpstr>1.4 빅데이터와 인공지능</vt:lpstr>
      <vt:lpstr>1.4 빅데이터와 인공지능</vt:lpstr>
      <vt:lpstr>1.5 개인정보보호와 정보활용</vt:lpstr>
      <vt:lpstr>1.5.1 개인정보 보호법</vt:lpstr>
      <vt:lpstr>1.5.1 개인정보 보호법</vt:lpstr>
      <vt:lpstr>1.5.1 개인정보 보호법</vt:lpstr>
      <vt:lpstr>1.5.2 개인정보의 유형</vt:lpstr>
      <vt:lpstr>1.5.3 개인정보의 사례와 판례</vt:lpstr>
      <vt:lpstr>1.5.3 개인정보의 사례와 판례</vt:lpstr>
      <vt:lpstr>1.5.3 개인정보의 사례와 판례</vt:lpstr>
      <vt:lpstr>1.5.4 개인정보의 수집과 이용</vt:lpstr>
      <vt:lpstr>1.5.4 개인정보의 수집과 이용</vt:lpstr>
      <vt:lpstr>1.5.4 개인정보의 수집과 이용</vt:lpstr>
      <vt:lpstr>1.5.5 마이데이터</vt:lpstr>
      <vt:lpstr>1.5.5 마이데이터</vt:lpstr>
      <vt:lpstr>1.5.5 마이데이터</vt:lpstr>
      <vt:lpstr>1.5.5 마이데이터</vt:lpstr>
      <vt:lpstr>1.5.5 마이데이터</vt:lpstr>
      <vt:lpstr>1.5.5 마이데이터</vt:lpstr>
      <vt:lpstr>1.5.5 마이데이터</vt:lpstr>
      <vt:lpstr>1.5.5 마이데이터</vt:lpstr>
      <vt:lpstr>[단원정리] 빅데이터란? </vt:lpstr>
      <vt:lpstr>[단원정리] 빅데이터란? </vt:lpstr>
      <vt:lpstr>[단원정리] 빅데이터처리와 분석 </vt:lpstr>
      <vt:lpstr>[단원정리] 빅데이터 관련 직업분류 </vt:lpstr>
      <vt:lpstr>[단원정리] 빅데이터와 인공지능  </vt:lpstr>
      <vt:lpstr>[단원정리] 개인정보보호와 정보활용 </vt:lpstr>
      <vt:lpstr>[단원정리] 개인정보와 마이데이터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경화 강</cp:lastModifiedBy>
  <cp:revision>19</cp:revision>
  <dcterms:created xsi:type="dcterms:W3CDTF">2023-12-20T08:12:12Z</dcterms:created>
  <dcterms:modified xsi:type="dcterms:W3CDTF">2026-03-01T16:04:12Z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