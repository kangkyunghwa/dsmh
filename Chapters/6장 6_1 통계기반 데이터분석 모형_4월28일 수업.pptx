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58" r:id="rId4"/>
  </p:sldMasterIdLst>
  <p:notesMasterIdLst>
    <p:notesMasterId r:id="rId29"/>
  </p:notesMasterIdLst>
  <p:handoutMasterIdLst>
    <p:handoutMasterId r:id="rId30"/>
  </p:handoutMasterIdLst>
  <p:sldIdLst>
    <p:sldId id="410" r:id="rId5"/>
    <p:sldId id="413" r:id="rId6"/>
    <p:sldId id="416" r:id="rId7"/>
    <p:sldId id="587" r:id="rId8"/>
    <p:sldId id="588" r:id="rId9"/>
    <p:sldId id="589" r:id="rId10"/>
    <p:sldId id="590" r:id="rId11"/>
    <p:sldId id="425" r:id="rId12"/>
    <p:sldId id="591" r:id="rId13"/>
    <p:sldId id="518" r:id="rId14"/>
    <p:sldId id="593" r:id="rId15"/>
    <p:sldId id="626" r:id="rId16"/>
    <p:sldId id="627" r:id="rId17"/>
    <p:sldId id="628" r:id="rId18"/>
    <p:sldId id="629" r:id="rId19"/>
    <p:sldId id="630" r:id="rId20"/>
    <p:sldId id="631" r:id="rId21"/>
    <p:sldId id="632" r:id="rId22"/>
    <p:sldId id="633" r:id="rId23"/>
    <p:sldId id="634" r:id="rId24"/>
    <p:sldId id="580" r:id="rId25"/>
    <p:sldId id="635" r:id="rId26"/>
    <p:sldId id="645" r:id="rId27"/>
    <p:sldId id="64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22" autoAdjust="0"/>
    <p:restoredTop sz="96238" autoAdjust="0"/>
  </p:normalViewPr>
  <p:slideViewPr>
    <p:cSldViewPr snapToGrid="0">
      <p:cViewPr varScale="1">
        <p:scale>
          <a:sx n="70" d="100"/>
          <a:sy n="70" d="100"/>
        </p:scale>
        <p:origin x="560" y="4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84" d="100"/>
          <a:sy n="84" d="100"/>
        </p:scale>
        <p:origin x="233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UNIVERSITY    DEPARTMENT</a:t>
            </a:r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UNIVERSITY    DEPARTMENT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pPr/>
              <a:t>‹#›</a:t>
            </a:fld>
            <a:r>
              <a:rPr lang="en-US" dirty="0"/>
              <a:t>/60</a:t>
            </a:r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BCA7E5-BC47-4B82-81BC-931F6059DA3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A1A51F-8993-4C5E-A46B-A38B68D203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552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998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976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5967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1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2631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6150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174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451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0815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9970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0061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7142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6394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573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9810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9823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5959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5520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4273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466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7184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293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83200" y="411479"/>
            <a:ext cx="6513104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283200" y="4005626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58" y="910627"/>
            <a:ext cx="6787747" cy="75854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C7E6CA08-7602-4BBF-800D-0500B2C538AF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59" y="2065713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1049714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77378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baseline="0">
                <a:latin typeface="(한글 글꼴 사용)"/>
                <a:ea typeface="한컴 고딕" panose="02000500000000000000" pitchFamily="2" charset="-127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 baseline="0">
                <a:latin typeface="(한글 글꼴 사용)"/>
                <a:ea typeface="한컴 고딕" panose="02000500000000000000" pitchFamily="2" charset="-127"/>
              </a:defRPr>
            </a:lvl1pPr>
            <a:lvl2pPr indent="-283464">
              <a:spcBef>
                <a:spcPts val="1800"/>
              </a:spcBef>
              <a:defRPr sz="2000" baseline="0">
                <a:latin typeface="(한글 글꼴 사용)"/>
                <a:ea typeface="한컴 고딕" panose="02000500000000000000" pitchFamily="2" charset="-127"/>
              </a:defRPr>
            </a:lvl2pPr>
            <a:lvl3pPr indent="-283464">
              <a:spcBef>
                <a:spcPts val="1800"/>
              </a:spcBef>
              <a:defRPr sz="2000" baseline="0">
                <a:latin typeface="(한글 글꼴 사용)"/>
                <a:ea typeface="한컴 고딕" panose="02000500000000000000" pitchFamily="2" charset="-127"/>
              </a:defRPr>
            </a:lvl3pPr>
            <a:lvl4pPr indent="-283464">
              <a:spcBef>
                <a:spcPts val="1800"/>
              </a:spcBef>
              <a:defRPr sz="2000" baseline="0">
                <a:latin typeface="(한글 글꼴 사용)"/>
                <a:ea typeface="한컴 고딕" panose="02000500000000000000" pitchFamily="2" charset="-127"/>
              </a:defRPr>
            </a:lvl4pPr>
            <a:lvl5pPr indent="-283464">
              <a:spcBef>
                <a:spcPts val="1800"/>
              </a:spcBef>
              <a:defRPr sz="2000" baseline="0">
                <a:latin typeface="(한글 글꼴 사용)"/>
                <a:ea typeface="한컴 고딕" panose="02000500000000000000" pitchFamily="2" charset="-12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714437" y="6377736"/>
            <a:ext cx="275435" cy="247651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r>
              <a:rPr lang="en-US" dirty="0"/>
              <a:t> </a:t>
            </a:r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793484" y="6332220"/>
            <a:ext cx="1313180" cy="247651"/>
          </a:xfrm>
        </p:spPr>
        <p:txBody>
          <a:bodyPr/>
          <a:lstStyle/>
          <a:p>
            <a:fld id="{74C2D93F-F902-4A64-A85E-B05CDF529F0E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72464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1638828"/>
            <a:ext cx="4490827" cy="4635167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 marL="283464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2pPr>
            <a:lvl3pPr marL="59436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3pPr>
            <a:lvl4pPr marL="82296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4pPr>
            <a:lvl5pPr marL="10058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1638828"/>
            <a:ext cx="4490827" cy="4635167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 marL="283464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2pPr>
            <a:lvl3pPr marL="5486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3pPr>
            <a:lvl4pPr marL="82296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4pPr>
            <a:lvl5pPr marL="10058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r>
              <a:rPr lang="en-US" dirty="0"/>
              <a:t> </a:t>
            </a:r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C1A343C-CF34-4CC0-B1E0-DFD14494129A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11882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3pPr>
            <a:lvl4pPr marL="1371600" indent="0">
              <a:spcBef>
                <a:spcPts val="1800"/>
              </a:spcBef>
              <a:buFont typeface="+mj-lt"/>
              <a:buNone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 marL="283464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2pPr>
            <a:lvl3pPr marL="5486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3pPr>
            <a:lvl4pPr marL="82296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4pPr>
            <a:lvl5pPr marL="10058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r>
              <a:rPr lang="en-US" dirty="0"/>
              <a:t> </a:t>
            </a:r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61EAF93-F6DD-4966-B4ED-226E4F0B2B3B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r>
              <a:rPr lang="en-US" dirty="0"/>
              <a:t> </a:t>
            </a:r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043E474-04FF-41B8-9363-FD94C965B7DA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r>
              <a:rPr lang="en-US" dirty="0"/>
              <a:t> </a:t>
            </a:r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A48E407-D200-4276-84A3-02ECA142D0C7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68AA46C-C75E-4A33-A2EC-DB99BB84EC04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r>
              <a:rPr lang="en-US" dirty="0"/>
              <a:t> 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r>
              <a:rPr lang="en-US" dirty="0"/>
              <a:t> </a:t>
            </a:r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4991972-94E3-4881-91A4-6471795D1299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173018"/>
            <a:ext cx="10382250" cy="5003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604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45523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7A0978C8-04C9-46D2-936D-2A1254E7DD8E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27543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CBECB3-D5A7-40DA-BDE0-E1B4D1CB80B8}"/>
              </a:ext>
            </a:extLst>
          </p:cNvPr>
          <p:cNvSpPr txBox="1"/>
          <p:nvPr userDrawn="1"/>
        </p:nvSpPr>
        <p:spPr>
          <a:xfrm>
            <a:off x="877119" y="6341456"/>
            <a:ext cx="490654" cy="24765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algn="l" fontAlgn="base" latinLnBrk="1">
              <a:lnSpc>
                <a:spcPct val="100000"/>
              </a:lnSpc>
            </a:pPr>
            <a:r>
              <a:rPr lang="en-US" altLang="ko-KR" sz="1100" b="1" dirty="0">
                <a:solidFill>
                  <a:srgbClr val="FF0000"/>
                </a:solidFill>
              </a:rPr>
              <a:t>/67</a:t>
            </a:r>
            <a:endParaRPr lang="ko-KR" altLang="en-US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7151" y="411479"/>
            <a:ext cx="6792685" cy="3291840"/>
          </a:xfrm>
        </p:spPr>
        <p:txBody>
          <a:bodyPr/>
          <a:lstStyle/>
          <a:p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 분석 개론</a:t>
            </a:r>
            <a:endParaRPr 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강의내용</a:t>
            </a:r>
            <a:endParaRPr 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16850" y="3429000"/>
            <a:ext cx="7582776" cy="3150871"/>
          </a:xfrm>
        </p:spPr>
        <p:txBody>
          <a:bodyPr>
            <a:normAutofit/>
          </a:bodyPr>
          <a:lstStyle/>
          <a:p>
            <a:pPr marL="0" indent="0" fontAlgn="base" latinLnBrk="1">
              <a:buNone/>
            </a:pPr>
            <a:r>
              <a:rPr lang="en-US" altLang="ko-KR" dirty="0">
                <a:latin typeface="한컴 고딕" panose="02000500000000000000" pitchFamily="2" charset="-127"/>
              </a:rPr>
              <a:t>1. </a:t>
            </a:r>
            <a:r>
              <a:rPr lang="ko-KR" altLang="en-US" dirty="0">
                <a:latin typeface="한컴 고딕" panose="02000500000000000000" pitchFamily="2" charset="-127"/>
              </a:rPr>
              <a:t>통계기반 데이터 분석 모형</a:t>
            </a:r>
          </a:p>
          <a:p>
            <a:pPr marL="0" indent="0" fontAlgn="base" latinLnBrk="1">
              <a:buNone/>
            </a:pPr>
            <a:r>
              <a:rPr lang="ko-KR" altLang="en-US" dirty="0">
                <a:latin typeface="한컴 고딕" panose="02000500000000000000" pitchFamily="2" charset="-127"/>
              </a:rPr>
              <a:t>     기술통계와 추론통계</a:t>
            </a:r>
            <a:r>
              <a:rPr lang="en-US" altLang="ko-KR" dirty="0">
                <a:latin typeface="한컴 고딕" panose="02000500000000000000" pitchFamily="2" charset="-127"/>
              </a:rPr>
              <a:t>, </a:t>
            </a:r>
            <a:r>
              <a:rPr lang="ko-KR" altLang="en-US" dirty="0">
                <a:latin typeface="한컴 고딕" panose="02000500000000000000" pitchFamily="2" charset="-127"/>
              </a:rPr>
              <a:t>추정과 가설검정</a:t>
            </a:r>
            <a:r>
              <a:rPr lang="en-US" altLang="ko-KR" dirty="0">
                <a:latin typeface="한컴 고딕" panose="02000500000000000000" pitchFamily="2" charset="-127"/>
              </a:rPr>
              <a:t>, </a:t>
            </a:r>
            <a:r>
              <a:rPr lang="ko-KR" altLang="en-US" dirty="0" err="1">
                <a:latin typeface="한컴 고딕" panose="02000500000000000000" pitchFamily="2" charset="-127"/>
              </a:rPr>
              <a:t>다변량분석</a:t>
            </a:r>
            <a:endParaRPr lang="ko-KR" altLang="en-US" dirty="0">
              <a:latin typeface="한컴 고딕" panose="02000500000000000000" pitchFamily="2" charset="-127"/>
            </a:endParaRPr>
          </a:p>
          <a:p>
            <a:pPr marL="0" indent="0" fontAlgn="base" latinLnBrk="1">
              <a:buNone/>
            </a:pPr>
            <a:r>
              <a:rPr lang="en-US" altLang="ko-KR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2. </a:t>
            </a:r>
            <a:r>
              <a:rPr lang="ko-KR" altLang="en-US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데이터 마이닝 기반 데이터 분석 모형</a:t>
            </a:r>
          </a:p>
          <a:p>
            <a:pPr marL="0" indent="0" fontAlgn="base" latinLnBrk="1">
              <a:buNone/>
            </a:pPr>
            <a:r>
              <a:rPr lang="ko-KR" altLang="en-US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      군집화</a:t>
            </a:r>
            <a:r>
              <a:rPr lang="en-US" altLang="ko-KR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, </a:t>
            </a:r>
            <a:r>
              <a:rPr lang="ko-KR" altLang="en-US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분류</a:t>
            </a:r>
            <a:r>
              <a:rPr lang="en-US" altLang="ko-KR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, </a:t>
            </a:r>
            <a:r>
              <a:rPr lang="ko-KR" altLang="en-US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연관규칙</a:t>
            </a:r>
            <a:r>
              <a:rPr lang="en-US" altLang="ko-KR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, </a:t>
            </a:r>
            <a:r>
              <a:rPr lang="ko-KR" altLang="en-US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예측</a:t>
            </a:r>
          </a:p>
          <a:p>
            <a:pPr marL="0" indent="0" fontAlgn="base" latinLnBrk="1">
              <a:buNone/>
            </a:pPr>
            <a:r>
              <a:rPr lang="en-US" altLang="ko-KR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3. </a:t>
            </a:r>
            <a:r>
              <a:rPr lang="ko-KR" altLang="en-US" dirty="0" err="1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머신러닝</a:t>
            </a:r>
            <a:r>
              <a:rPr lang="ko-KR" altLang="en-US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 기반 분석 모형</a:t>
            </a:r>
          </a:p>
          <a:p>
            <a:pPr marL="0" indent="0" fontAlgn="base" latinLnBrk="1">
              <a:buNone/>
            </a:pPr>
            <a:r>
              <a:rPr lang="ko-KR" altLang="en-US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     분류</a:t>
            </a:r>
            <a:r>
              <a:rPr lang="en-US" altLang="ko-KR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, </a:t>
            </a:r>
            <a:r>
              <a:rPr lang="ko-KR" altLang="en-US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회귀</a:t>
            </a:r>
            <a:r>
              <a:rPr lang="en-US" altLang="ko-KR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, </a:t>
            </a:r>
            <a:r>
              <a:rPr lang="ko-KR" altLang="en-US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군집</a:t>
            </a:r>
            <a:r>
              <a:rPr lang="en-US" altLang="ko-KR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, </a:t>
            </a:r>
            <a:r>
              <a:rPr lang="ko-KR" altLang="en-US" dirty="0">
                <a:solidFill>
                  <a:schemeClr val="tx1">
                    <a:lumMod val="85000"/>
                  </a:schemeClr>
                </a:solidFill>
                <a:latin typeface="한컴 고딕" panose="02000500000000000000" pitchFamily="2" charset="-127"/>
              </a:rPr>
              <a:t>차원 축소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8" name="Title 8">
            <a:extLst>
              <a:ext uri="{FF2B5EF4-FFF2-40B4-BE49-F238E27FC236}">
                <a16:creationId xmlns:a16="http://schemas.microsoft.com/office/drawing/2014/main" id="{5016B78D-D0BA-4B78-9E6A-BD29AFA51C75}"/>
              </a:ext>
            </a:extLst>
          </p:cNvPr>
          <p:cNvSpPr txBox="1">
            <a:spLocks/>
          </p:cNvSpPr>
          <p:nvPr/>
        </p:nvSpPr>
        <p:spPr>
          <a:xfrm>
            <a:off x="547868" y="1183108"/>
            <a:ext cx="8758177" cy="6132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 sz="3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6</a:t>
            </a:r>
            <a:r>
              <a:rPr lang="ko-KR" altLang="en-US" sz="3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장 데이터 분석 모형  </a:t>
            </a:r>
            <a:endParaRPr lang="en-US" sz="3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6EC111D-2696-43E1-BF67-2E25035E38DC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EDD0E39B-DECB-434E-A081-3429056DE106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07D134-0280-41ED-A147-9DF1CC9B2A6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r>
              <a:rPr lang="en-US" dirty="0"/>
              <a:t> </a:t>
            </a:r>
            <a:endParaRPr lang="en-US" dirty="0">
              <a:latin typeface="+mn-lt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91442BE-D279-47B8-BEC6-40EFEBE2A1F1}"/>
              </a:ext>
            </a:extLst>
          </p:cNvPr>
          <p:cNvSpPr txBox="1">
            <a:spLocks/>
          </p:cNvSpPr>
          <p:nvPr/>
        </p:nvSpPr>
        <p:spPr>
          <a:xfrm>
            <a:off x="492373" y="1518325"/>
            <a:ext cx="11207253" cy="1631187"/>
          </a:xfrm>
          <a:prstGeom prst="rect">
            <a:avLst/>
          </a:prstGeom>
        </p:spPr>
        <p:txBody>
          <a:bodyPr vert="horz" lIns="0" tIns="457200" rIns="0" bIns="0" rtlCol="0" anchor="t">
            <a:normAutofit fontScale="25000" lnSpcReduction="20000"/>
          </a:bodyPr>
          <a:lstStyle>
            <a:lvl1pPr marL="283464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적합한 빅데이터 분석 모형을 선정하는데 있어서 통계</a:t>
            </a:r>
            <a:r>
              <a:rPr lang="en-US" altLang="ko-KR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 마이닝 그리고 </a:t>
            </a:r>
            <a:r>
              <a:rPr lang="ko-KR" altLang="en-US" sz="96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머신러닝을</a:t>
            </a: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기반으로 하는 데이터 분석 모형을 활용합니다</a:t>
            </a:r>
            <a:r>
              <a:rPr lang="en-US" altLang="ko-KR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36336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432087" cy="773425"/>
          </a:xfrm>
        </p:spPr>
        <p:txBody>
          <a:bodyPr/>
          <a:lstStyle/>
          <a:p>
            <a:pPr fontAlgn="base" latinLnBrk="1"/>
            <a:r>
              <a:rPr lang="ko-KR" altLang="en-US" dirty="0"/>
              <a:t>데이터 분석모형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1B917CA-D121-451D-AE8E-14C52648CDC9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0105A53-BB4D-44A0-AD4D-07122EECD627}"/>
              </a:ext>
            </a:extLst>
          </p:cNvPr>
          <p:cNvSpPr txBox="1">
            <a:spLocks/>
          </p:cNvSpPr>
          <p:nvPr/>
        </p:nvSpPr>
        <p:spPr>
          <a:xfrm>
            <a:off x="484177" y="1565754"/>
            <a:ext cx="11432088" cy="11542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적합한 빅데이터 분석 모형을 선정하는데 있어서 통계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 마이닝 그리고 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머신러닝을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기반으로 하는 데이터 분석 모형을 활용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843B02C-9B96-4613-6741-0B52D3F86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2973" y="2804088"/>
            <a:ext cx="9574496" cy="2479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690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432087" cy="773425"/>
          </a:xfrm>
        </p:spPr>
        <p:txBody>
          <a:bodyPr/>
          <a:lstStyle/>
          <a:p>
            <a:pPr fontAlgn="base" latinLnBrk="1"/>
            <a:r>
              <a:rPr lang="ko-KR" altLang="en-US" dirty="0"/>
              <a:t>데이터 분석모형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806CA48-249A-4EFF-BA0E-3E4E2F663B6C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0105A53-BB4D-44A0-AD4D-07122EECD627}"/>
              </a:ext>
            </a:extLst>
          </p:cNvPr>
          <p:cNvSpPr txBox="1">
            <a:spLocks/>
          </p:cNvSpPr>
          <p:nvPr/>
        </p:nvSpPr>
        <p:spPr>
          <a:xfrm>
            <a:off x="484177" y="1565753"/>
            <a:ext cx="11432088" cy="46382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400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통계기반 분석모형</a:t>
            </a:r>
            <a:endParaRPr lang="en-US" altLang="ko-KR" sz="2400" dirty="0">
              <a:solidFill>
                <a:srgbClr val="FF000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통계란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어떤 현상을 종합적으로 한눈에 알아보기 쉽게 일정한 체계에 따라 나타낸 것으로서 숫자를 포함하여 다양한 방법으로 나타낼 수 있다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통계학은 통계로부터 의미 있는 정보를 추출하고 이를 토대로 불확실한 사실에 대해 합리적인 의사결정을 내릴 수 있도록 도와주는 학문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통계학은 데이터를 수집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분석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연구하고 미래에 대한 추론과 예측을 하는 학문으로 데이터 마이닝과 기계학습 알고리즘의 기본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1410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432087" cy="773425"/>
          </a:xfrm>
        </p:spPr>
        <p:txBody>
          <a:bodyPr/>
          <a:lstStyle/>
          <a:p>
            <a:pPr fontAlgn="base" latinLnBrk="1"/>
            <a:r>
              <a:rPr lang="ko-KR" altLang="en-US" dirty="0"/>
              <a:t>데이터 분석모형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E90A82C-04FE-48E9-A0DE-A32D6919BFAA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0105A53-BB4D-44A0-AD4D-07122EECD627}"/>
              </a:ext>
            </a:extLst>
          </p:cNvPr>
          <p:cNvSpPr txBox="1">
            <a:spLocks/>
          </p:cNvSpPr>
          <p:nvPr/>
        </p:nvSpPr>
        <p:spPr>
          <a:xfrm>
            <a:off x="484177" y="1565754"/>
            <a:ext cx="11432088" cy="39630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400" dirty="0">
                <a:solidFill>
                  <a:schemeClr val="accent5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데이터 마이닝 기반 분석모형</a:t>
            </a:r>
            <a:endParaRPr lang="en-US" altLang="ko-KR" sz="2400" dirty="0">
              <a:solidFill>
                <a:schemeClr val="accent5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 마이닝이란 방대한 양의 데이터 즉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빅데이터로부터 유용한 정보를 추출하는 프로세스로서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데이터로부터 새롭고 유용한 패턴을 발견하고 그것을 필요로 하는 조직 또는 개인이 </a:t>
            </a:r>
            <a:r>
              <a:rPr lang="ko-KR" altLang="en-US" sz="24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의미있는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정보를 찾기 위하여 사용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기업들은 방대한 고객 정보를 바탕으로 강력한 데이터 마이닝 기법을 사용하여 고객의 구매 패턴을 파악하거나 생산된 제품의 재고 유지를 위한 중요한 정보를 얻기 위하여 </a:t>
            </a:r>
            <a:r>
              <a:rPr lang="ko-KR" altLang="en-US" sz="24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머신러닝과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통계 그리고 데이터베이스기술을 활용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061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432087" cy="773425"/>
          </a:xfrm>
        </p:spPr>
        <p:txBody>
          <a:bodyPr/>
          <a:lstStyle/>
          <a:p>
            <a:pPr fontAlgn="base" latinLnBrk="1"/>
            <a:r>
              <a:rPr lang="ko-KR" altLang="en-US" dirty="0"/>
              <a:t>데이터 분석모형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11C62D9-96C1-4496-9AA7-18F7268EA877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0105A53-BB4D-44A0-AD4D-07122EECD627}"/>
              </a:ext>
            </a:extLst>
          </p:cNvPr>
          <p:cNvSpPr txBox="1">
            <a:spLocks/>
          </p:cNvSpPr>
          <p:nvPr/>
        </p:nvSpPr>
        <p:spPr>
          <a:xfrm>
            <a:off x="484177" y="1565753"/>
            <a:ext cx="11432088" cy="380232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400" dirty="0" err="1">
                <a:solidFill>
                  <a:schemeClr val="accent5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머신러닝</a:t>
            </a:r>
            <a:r>
              <a:rPr lang="ko-KR" altLang="en-US" sz="2400" dirty="0">
                <a:solidFill>
                  <a:schemeClr val="accent5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기반 분석모형</a:t>
            </a:r>
            <a:endParaRPr lang="en-US" altLang="ko-KR" sz="2400" dirty="0">
              <a:solidFill>
                <a:schemeClr val="accent5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머신러닝은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데이터로부터 얻어진 경험의 결과를 향상시킨 알고리즘을 발견하는 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과정이고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사람의 개입없이 기계 스스로가 학습할 수 있는 알고리즘을 설계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연구하고 개발하는 것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따라서 </a:t>
            </a:r>
            <a:r>
              <a:rPr lang="ko-KR" altLang="en-US" sz="24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머신러닝은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컴퓨터가 주어진 내용을 학습하고 컴퓨터가 이해하는 방법을 가르침으로써 복잡한 작업을 수행하도록 시스템을 훈련시키고 수집된 데이터와 경험을 통해 더 똑똑하게 만드는 것이다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0861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02875"/>
            <a:ext cx="11432087" cy="773425"/>
          </a:xfrm>
        </p:spPr>
        <p:txBody>
          <a:bodyPr/>
          <a:lstStyle/>
          <a:p>
            <a:pPr fontAlgn="base" latinLnBrk="1"/>
            <a:r>
              <a:rPr lang="ko-KR" altLang="en-US" dirty="0"/>
              <a:t>데이터 분석모형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ECADEFD8-57D2-42EB-BBD7-4F51EB324907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0105A53-BB4D-44A0-AD4D-07122EECD627}"/>
              </a:ext>
            </a:extLst>
          </p:cNvPr>
          <p:cNvSpPr txBox="1">
            <a:spLocks/>
          </p:cNvSpPr>
          <p:nvPr/>
        </p:nvSpPr>
        <p:spPr>
          <a:xfrm>
            <a:off x="852154" y="1505487"/>
            <a:ext cx="10446234" cy="46382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400" dirty="0">
                <a:solidFill>
                  <a:schemeClr val="accent5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데이터 마이닝과 </a:t>
            </a:r>
            <a:r>
              <a:rPr lang="ko-KR" altLang="en-US" sz="2400" dirty="0" err="1">
                <a:solidFill>
                  <a:schemeClr val="accent5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머신러닝의</a:t>
            </a:r>
            <a:r>
              <a:rPr lang="ko-KR" altLang="en-US" sz="2400" dirty="0">
                <a:solidFill>
                  <a:schemeClr val="accent5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 공통점</a:t>
            </a:r>
            <a:endParaRPr lang="en-US" altLang="ko-KR" sz="2400" dirty="0">
              <a:solidFill>
                <a:schemeClr val="accent5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두 개의 프로세스 모두가 복잡한 문제해결을 위하여 데이터를 사용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solidFill>
                  <a:srgbClr val="0070C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어떤 구체적인 패턴을 찾아내기 위하여 동일한 알고리즘을 사용</a:t>
            </a:r>
            <a:endParaRPr lang="en-US" altLang="ko-KR" sz="2400" b="0" dirty="0">
              <a:solidFill>
                <a:srgbClr val="0070C0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머신러닝은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데이터 마이닝을 수행하는 수단으로 사용될 수 있으며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 마이닝에서 수집된 데이터는 모형을 훈련하여 </a:t>
            </a:r>
            <a:r>
              <a:rPr lang="ko-KR" altLang="en-US" sz="24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머신러닝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기술을 적용하는 데 사용될 수 있다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7213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4000" dirty="0"/>
              <a:t>6.1 </a:t>
            </a:r>
            <a:r>
              <a:rPr lang="ko-KR" altLang="en-US" sz="4000" dirty="0"/>
              <a:t>통계기반 데이터 분석 모형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23BA27F-18DE-4010-86B6-863385E995EB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52BAA388-41A0-479C-9162-EE2CE71051A6}"/>
              </a:ext>
            </a:extLst>
          </p:cNvPr>
          <p:cNvSpPr txBox="1">
            <a:spLocks/>
          </p:cNvSpPr>
          <p:nvPr/>
        </p:nvSpPr>
        <p:spPr>
          <a:xfrm>
            <a:off x="1053678" y="1295620"/>
            <a:ext cx="10167469" cy="49315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통계 기반 데이터 분석 모형은 데이터를 통계적으로 분석하고 </a:t>
            </a:r>
            <a:r>
              <a:rPr lang="ko-KR" altLang="en-US" sz="24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모형링하는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방법을 의미하고 이러한 모형은 데이터에 숨겨진 패턴을 발견하고 예측하기 위해 사용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주어진 문제의 예측과 전망에 대해 합리적인 의사결정을 내리기 위한 여러 방법들이 사용될 수 있는데 그 중에서 통계학이 한 가지 방법으로 사용된다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61777D5-5AC6-B61B-E18C-5379C2E22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484" y="4380961"/>
            <a:ext cx="9105900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3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4000" dirty="0"/>
              <a:t>6.1 </a:t>
            </a:r>
            <a:r>
              <a:rPr lang="ko-KR" altLang="en-US" sz="4000" dirty="0"/>
              <a:t>통계기반 데이터 분석 모형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1F3559A4-7C47-4156-A048-1E1831F53135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52BAA388-41A0-479C-9162-EE2CE71051A6}"/>
              </a:ext>
            </a:extLst>
          </p:cNvPr>
          <p:cNvSpPr txBox="1">
            <a:spLocks/>
          </p:cNvSpPr>
          <p:nvPr/>
        </p:nvSpPr>
        <p:spPr>
          <a:xfrm>
            <a:off x="532895" y="1926440"/>
            <a:ext cx="11060626" cy="329956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통계학은 제기된 문제로부터 합리적인 의사결정을 내리기 위해 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다음과 같은 절차와 내용에 관심을 두고 있다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F697666-61B1-26AC-A1D5-C2A51F988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79" y="3147169"/>
            <a:ext cx="10869621" cy="194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282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200" dirty="0"/>
              <a:t>6.1.1 </a:t>
            </a:r>
            <a:r>
              <a:rPr lang="ko-KR" altLang="en-US" sz="3200" dirty="0"/>
              <a:t>기술통계와 추론통계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B937749-A331-466F-B9D8-11CEC4830775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52BAA388-41A0-479C-9162-EE2CE71051A6}"/>
              </a:ext>
            </a:extLst>
          </p:cNvPr>
          <p:cNvSpPr txBox="1">
            <a:spLocks/>
          </p:cNvSpPr>
          <p:nvPr/>
        </p:nvSpPr>
        <p:spPr>
          <a:xfrm>
            <a:off x="927614" y="1412485"/>
            <a:ext cx="10540486" cy="42739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통계분석은 수집한 데이터로부터 유용한 정보를 추출하는 과정으로 크게 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기술통계 분석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(descriptive statistics </a:t>
            </a:r>
            <a:r>
              <a:rPr lang="en-US" altLang="ko-KR" sz="24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analisys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추론통계 분석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(inferential statistical analysis)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으로 구분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정보를 얻고자 하는 관심 대상 전체 집합을 모집단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(population)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이라 하며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모집단은 관심 대상에 따라 다르게 정의되지만 국민 전체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성인 남녀 또는 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유권자 전체 등으로 그 규모가 크기 때문에 우리가 다루는 데이터의 대부분은 모집단의 부분집합인 표본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(sample)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이다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기술통계 분석은 표본의 결과를 다루지만 추론통계 분석은 표본의 결과를 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이용하여 모집단의 특성인 </a:t>
            </a:r>
            <a:r>
              <a:rPr lang="ko-KR" altLang="en-US" sz="24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모수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(parameter)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추정한다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53288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200" dirty="0"/>
              <a:t>6.1.1 </a:t>
            </a:r>
            <a:r>
              <a:rPr lang="ko-KR" altLang="en-US" sz="3200" dirty="0"/>
              <a:t>기술통계와 추론통계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E07B77B1-AC9A-4DA8-87FB-24B96B12382A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75BBEFD-316B-48D9-D306-B71BB9614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946" y="1231095"/>
            <a:ext cx="9606715" cy="4882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060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6.1.4 </a:t>
            </a:r>
            <a:r>
              <a:rPr lang="ko-KR" altLang="en-US" sz="3000" dirty="0" err="1"/>
              <a:t>단변량</a:t>
            </a:r>
            <a:r>
              <a:rPr lang="en-US" altLang="ko-KR" sz="3000" dirty="0"/>
              <a:t>, </a:t>
            </a:r>
            <a:r>
              <a:rPr lang="ko-KR" altLang="en-US" sz="3000" dirty="0" err="1"/>
              <a:t>다변량</a:t>
            </a:r>
            <a:r>
              <a:rPr lang="en-US" altLang="ko-KR" sz="3000" dirty="0"/>
              <a:t>, </a:t>
            </a:r>
            <a:r>
              <a:rPr lang="ko-KR" altLang="en-US" sz="3000" dirty="0"/>
              <a:t>단순</a:t>
            </a:r>
            <a:r>
              <a:rPr lang="en-US" altLang="ko-KR" sz="3000" dirty="0"/>
              <a:t>, </a:t>
            </a:r>
            <a:r>
              <a:rPr lang="ko-KR" altLang="en-US" sz="3000" dirty="0"/>
              <a:t>다중 분석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69DDD8C8-B990-4612-8360-A8BBEB60B2AE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79C5037B-1FC2-4902-8225-0168F03C5744}"/>
              </a:ext>
            </a:extLst>
          </p:cNvPr>
          <p:cNvSpPr txBox="1">
            <a:spLocks/>
          </p:cNvSpPr>
          <p:nvPr/>
        </p:nvSpPr>
        <p:spPr>
          <a:xfrm>
            <a:off x="594360" y="1126276"/>
            <a:ext cx="10540486" cy="419667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통계분석은 다루고자 하는 데이터에 포함된 종속 변수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(dependent variable)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독립 변수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(independent variable)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수에 따라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단변량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(univariate),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다변량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(multivariate),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단순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(simple),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다중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(multiple)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으로 구분한다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독립 변수는 실험 연구에서 그 효과를 알아보기 위하여 조작하거나 변화를 일으키는 변수로서 그 연구에서 다른 변수에 영향을 받지 않기 때문에 “독립” 변수라고 하며 설명 변수라고도 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반면에 종속 변수는 독립 변수의 결과에 해당하는 즉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독립 변수에 의존하는 변수를 말한다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예를 들어 혈압이 높을 경우 혈압을 낮추는 방법으로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저염식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식사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칼륨이 함유된 음식 섭취 그리고 운동요법 등이 제안되는데 이 경우에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저염식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식사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칼륨 함유 음식 섭취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운동요법은 독립 변수로 혈압은 종속 변수로 볼 수 있다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67150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sz="3000" dirty="0"/>
              <a:t>6.1.4 </a:t>
            </a:r>
            <a:r>
              <a:rPr lang="ko-KR" altLang="en-US" sz="3000" dirty="0" err="1"/>
              <a:t>단변량</a:t>
            </a:r>
            <a:r>
              <a:rPr lang="en-US" altLang="ko-KR" sz="3000" dirty="0"/>
              <a:t>, </a:t>
            </a:r>
            <a:r>
              <a:rPr lang="ko-KR" altLang="en-US" sz="3000" dirty="0" err="1"/>
              <a:t>다변량</a:t>
            </a:r>
            <a:r>
              <a:rPr lang="en-US" altLang="ko-KR" sz="3000" dirty="0"/>
              <a:t>, </a:t>
            </a:r>
            <a:r>
              <a:rPr lang="ko-KR" altLang="en-US" sz="3000" dirty="0"/>
              <a:t>단순</a:t>
            </a:r>
            <a:r>
              <a:rPr lang="en-US" altLang="ko-KR" sz="3000" dirty="0"/>
              <a:t>, </a:t>
            </a:r>
            <a:r>
              <a:rPr lang="ko-KR" altLang="en-US" sz="3000" dirty="0"/>
              <a:t>다중 분석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F6770E01-1407-444C-88F7-7974BF077812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01A1670-34A6-4F91-B39A-F93726A06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376" y="1229190"/>
            <a:ext cx="8360724" cy="480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485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ko-KR" altLang="en-US" sz="3000" dirty="0" err="1"/>
              <a:t>다변량</a:t>
            </a:r>
            <a:r>
              <a:rPr lang="ko-KR" altLang="en-US" sz="3000" dirty="0"/>
              <a:t> 분석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1F2F540-DCA9-4F61-AF3A-9E9E9EC3D10A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79C5037B-1FC2-4902-8225-0168F03C5744}"/>
              </a:ext>
            </a:extLst>
          </p:cNvPr>
          <p:cNvSpPr txBox="1">
            <a:spLocks/>
          </p:cNvSpPr>
          <p:nvPr/>
        </p:nvSpPr>
        <p:spPr>
          <a:xfrm>
            <a:off x="594360" y="1460811"/>
            <a:ext cx="10540486" cy="468295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대부분의 빅데이터에 대한 통계 기반 분석은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다변량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분석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(multivariate analysis)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해당한다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다변량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분석은 개의 변수에 대해서 번 관측으로 얻어진 데이터에 대해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변수간의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관계 또는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개체간의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관계를 파악하려는 통계적 분석방법을 말하며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표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6-7]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같이 구분할 수 있다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변수간의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관계를 다루는 방법으로는 주성분분석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(PCA, principal components analysis)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인자분석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(factor analysis,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요인분석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있고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개체간의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관계를 다루는 방법으로는 판별분석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(discriminant analysis)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군집분석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(cluster analysis)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있다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 외에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변수들간의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인과 관계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함수 관계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상관 관계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분석하는 방법으로 상관분석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회귀분석 등이 있다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92813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ko-KR" altLang="en-US" sz="3000" dirty="0" err="1"/>
              <a:t>다변량</a:t>
            </a:r>
            <a:r>
              <a:rPr lang="ko-KR" altLang="en-US" sz="3000" dirty="0"/>
              <a:t> 분석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1C217E68-A227-4F18-9B28-D0D48D12E146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15</a:t>
            </a:fld>
            <a:endParaRPr 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BAC5813-56EF-48EA-A26C-88618282A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237" y="1322581"/>
            <a:ext cx="9391379" cy="451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706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ko-KR" altLang="en-US" sz="3000" dirty="0"/>
              <a:t>주성분분석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59CBE074-7B96-4528-9E5C-3CBFF9ADF0AC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le 8">
                <a:extLst>
                  <a:ext uri="{FF2B5EF4-FFF2-40B4-BE49-F238E27FC236}">
                    <a16:creationId xmlns:a16="http://schemas.microsoft.com/office/drawing/2014/main" id="{79C5037B-1FC2-4902-8225-0168F03C57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4360" y="1126278"/>
                <a:ext cx="10540486" cy="4196677"/>
              </a:xfrm>
              <a:prstGeom prst="rect">
                <a:avLst/>
              </a:prstGeom>
            </p:spPr>
            <p:txBody>
              <a:bodyPr vert="horz" lIns="0" tIns="0" rIns="0" bIns="0" rtlCol="0" anchor="t" anchorCtr="0">
                <a:noAutofit/>
              </a:bodyPr>
              <a:lstStyle>
                <a:lvl1pPr algn="l" defTabSz="914400" rtl="0" eaLnBrk="1" latinLnBrk="0" hangingPunct="1">
                  <a:lnSpc>
                    <a:spcPct val="80000"/>
                  </a:lnSpc>
                  <a:spcBef>
                    <a:spcPct val="0"/>
                  </a:spcBef>
                  <a:buNone/>
                  <a:defRPr sz="4400" b="1" i="0" kern="1200" spc="100" baseline="0">
                    <a:solidFill>
                      <a:schemeClr val="bg1"/>
                    </a:solidFill>
                    <a:latin typeface="+mj-lt"/>
                    <a:ea typeface="+mj-ea"/>
                    <a:cs typeface="+mj-c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algn="just" fontAlgn="base" latinLnBrk="1">
                  <a:lnSpc>
                    <a:spcPct val="100000"/>
                  </a:lnSpc>
                </a:pP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데이터를 구성하는 많은 </a:t>
                </a:r>
                <a:r>
                  <a:rPr lang="ko-KR" altLang="en-US" sz="2000" b="0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변수들로부터</a:t>
                </a: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 분산의 변동을 잘 설명해주는 새로운 변수인 주성분을 찾는 것인데</a:t>
                </a:r>
                <a:r>
                  <a:rPr lang="en-US" altLang="ko-KR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</a:t>
                </a: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이 과정에서 데이터의 차원</a:t>
                </a:r>
                <a:r>
                  <a:rPr lang="en-US" altLang="ko-KR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</a:t>
                </a: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변수의 수</a:t>
                </a:r>
                <a:r>
                  <a:rPr lang="en-US" altLang="ko-KR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)</a:t>
                </a: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을 줄이기 위해 고차원의 데이터를 더 적은 차원으로 투영</a:t>
                </a:r>
                <a:r>
                  <a:rPr lang="en-US" altLang="ko-KR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(projection)</a:t>
                </a: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하는 방법을 이용</a:t>
                </a:r>
                <a:endParaRPr lang="en-US" altLang="ko-KR" sz="20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algn="just" fontAlgn="base" latinLnBrk="1">
                  <a:lnSpc>
                    <a:spcPct val="100000"/>
                  </a:lnSpc>
                </a:pPr>
                <a:endParaRPr lang="en-US" altLang="ko-KR" sz="20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  <a:p>
                <a:pPr algn="just" fontAlgn="base" latinLnBrk="1">
                  <a:lnSpc>
                    <a:spcPct val="100000"/>
                  </a:lnSpc>
                </a:pP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따라서 만약 원래의 데이터에 </a:t>
                </a:r>
                <a14:m>
                  <m:oMath xmlns:m="http://schemas.openxmlformats.org/officeDocument/2006/math"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ko-KR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개의 변수가 있었다면 보다 적은 수의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한컴 고딕" panose="02000500000000000000" pitchFamily="2" charset="-127"/>
                      </a:rPr>
                      <m:t>𝑟</m:t>
                    </m:r>
                  </m:oMath>
                </a14:m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개</a:t>
                </a:r>
                <a:r>
                  <a:rPr lang="en-US" altLang="ko-KR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(r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)</a:t>
                </a: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의 변수로 요약하려는 것이고 새로운 변수인 주성분은 기존 변수들의 선형조합으로 나타난다</a:t>
                </a:r>
                <a:r>
                  <a:rPr lang="en-US" altLang="ko-KR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 </a:t>
                </a: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결국 가장 적은 수의 주성분을 이용하여 원래 변수들의 변동을 설명하려는 것이다</a:t>
                </a:r>
                <a:r>
                  <a:rPr lang="en-US" altLang="ko-KR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 </a:t>
                </a:r>
              </a:p>
              <a:p>
                <a:pPr algn="just" fontAlgn="base" latinLnBrk="1">
                  <a:lnSpc>
                    <a:spcPct val="100000"/>
                  </a:lnSpc>
                </a:pP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주성분분석은 차원 데이터의 공간을 그보다 낮은 차원의 공간으로 축소하는 것인데 이때 문제가 되는 것은 의 값 즉</a:t>
                </a:r>
                <a:r>
                  <a:rPr lang="en-US" altLang="ko-KR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, </a:t>
                </a: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주성분의 개수를 결정하는 것이다</a:t>
                </a:r>
                <a:r>
                  <a:rPr lang="en-US" altLang="ko-KR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 </a:t>
                </a: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주성분의 개수를 결정하는 쉬운 방법으로는 </a:t>
                </a:r>
                <a:r>
                  <a:rPr lang="ko-KR" altLang="en-US" sz="2000" b="0" dirty="0" err="1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고유값</a:t>
                </a:r>
                <a:r>
                  <a:rPr lang="en-US" altLang="ko-KR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(eigen value)</a:t>
                </a:r>
                <a:r>
                  <a:rPr lang="ko-KR" altLang="en-US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의 크기를 이용하는 방법과 전체 분산에 대한 비율로 결정하는 방법이 있다</a:t>
                </a:r>
                <a:r>
                  <a:rPr lang="en-US" altLang="ko-KR" sz="2000" b="0" dirty="0">
                    <a:latin typeface="한컴 고딕" panose="02000500000000000000" pitchFamily="2" charset="-127"/>
                    <a:ea typeface="한컴 고딕" panose="02000500000000000000" pitchFamily="2" charset="-127"/>
                  </a:rPr>
                  <a:t>. </a:t>
                </a:r>
              </a:p>
              <a:p>
                <a:pPr algn="just" fontAlgn="base" latinLnBrk="1">
                  <a:lnSpc>
                    <a:spcPct val="100000"/>
                  </a:lnSpc>
                </a:pPr>
                <a:endParaRPr lang="en-US" altLang="ko-KR" sz="2000" b="0" dirty="0">
                  <a:latin typeface="한컴 고딕" panose="02000500000000000000" pitchFamily="2" charset="-127"/>
                  <a:ea typeface="한컴 고딕" panose="02000500000000000000" pitchFamily="2" charset="-127"/>
                </a:endParaRPr>
              </a:p>
            </p:txBody>
          </p:sp>
        </mc:Choice>
        <mc:Fallback xmlns="">
          <p:sp>
            <p:nvSpPr>
              <p:cNvPr id="11" name="Title 8">
                <a:extLst>
                  <a:ext uri="{FF2B5EF4-FFF2-40B4-BE49-F238E27FC236}">
                    <a16:creationId xmlns:a16="http://schemas.microsoft.com/office/drawing/2014/main" id="{79C5037B-1FC2-4902-8225-0168F03C5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1126278"/>
                <a:ext cx="10540486" cy="4196677"/>
              </a:xfrm>
              <a:prstGeom prst="rect">
                <a:avLst/>
              </a:prstGeom>
              <a:blipFill>
                <a:blip r:embed="rId3"/>
                <a:stretch>
                  <a:fillRect l="-1504" t="-1890" r="-14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BBF85CAC-CD5E-4824-BA9E-1173A70BB3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3315" y="4495800"/>
            <a:ext cx="6448425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278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ko-KR" altLang="en-US" sz="3000" dirty="0"/>
              <a:t>인자</a:t>
            </a:r>
            <a:r>
              <a:rPr lang="en-US" altLang="ko-KR" sz="3000" dirty="0"/>
              <a:t>(</a:t>
            </a:r>
            <a:r>
              <a:rPr lang="ko-KR" altLang="en-US" sz="3000" dirty="0"/>
              <a:t>요인</a:t>
            </a:r>
            <a:r>
              <a:rPr lang="en-US" altLang="ko-KR" sz="3000" dirty="0"/>
              <a:t>)</a:t>
            </a:r>
            <a:r>
              <a:rPr lang="ko-KR" altLang="en-US" sz="3000" dirty="0"/>
              <a:t>분석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EB65F9FE-2B8D-4F6E-AEF1-2678147920D5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17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79C5037B-1FC2-4902-8225-0168F03C5744}"/>
              </a:ext>
            </a:extLst>
          </p:cNvPr>
          <p:cNvSpPr txBox="1">
            <a:spLocks/>
          </p:cNvSpPr>
          <p:nvPr/>
        </p:nvSpPr>
        <p:spPr>
          <a:xfrm>
            <a:off x="594360" y="1193184"/>
            <a:ext cx="10540486" cy="49264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인자분석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(factor analysis,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요인분석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상관관계가 있는 변수들 사이의 관계를 변수의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개수보다 적은 수의 인자를 이용하여 설명하려는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다변량분석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방법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여기서 인자는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변수들간의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상관관계를 설명해 줄 수 있는 공통된 인자를 말하며 인자분석은 이러한 공통인자를 찾아 그 구조를 해석하는 방법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예를 들어 사회적인 지위 또는 경제적인 지위의 정도를 직접적으로 나타내거나 측정하기가 어렵지만 사회경제적 지위라는 것은 관련이 있음과 동시에 평가할 수 있는 요인인 직업의 종류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교육 수준의 정도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소득의 수준을 통해 나타낼 수 있다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인자분석의 첫 번째 단계는 변수들의 상관관계로부터 최초의 인자를 추출하는 것이고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첫 번째 인자는 변수들 대부분의 분산을 설명하게 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두 번째 인자는 첫 번째 인자가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설명하지 못하는 나머지 분산을 설명할 수 있도록 추출된다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인자를 추출하는 방법으로는 주성분방법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(principal component method),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반복 주축인자법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(iterated principal factor method),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최대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우도법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(maximum likelihood method)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등이 있다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8521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ko-KR" altLang="en-US" sz="3000" dirty="0"/>
              <a:t>판별분석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4695766D-5512-44F0-8C59-CFE3830B2D03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18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79C5037B-1FC2-4902-8225-0168F03C5744}"/>
              </a:ext>
            </a:extLst>
          </p:cNvPr>
          <p:cNvSpPr txBox="1">
            <a:spLocks/>
          </p:cNvSpPr>
          <p:nvPr/>
        </p:nvSpPr>
        <p:spPr>
          <a:xfrm>
            <a:off x="594360" y="1193184"/>
            <a:ext cx="10540486" cy="49264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판별분석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(discriminant analysis)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 어느 집단에 속하는지를 알고 있는 과거의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관측값들을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이용하여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관측값들이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속한 집단을 잘 구분할 수 있는 방법을 찾고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이를 이용하여 새로운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관측값이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어느 집단에 속할지를 판별하는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다변량분석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방법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예를 들어 은행에서 대출을 신청한 사람에 대해 은행은 그 사람이 과연 대출을 갚을 것인지 아닌지를 결정해야 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이를 결정하기위해 신용점수나 신용등급을 평가하는데 여기에는 소득 규모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현재 부채 수준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과거 대출상환능력 등이 포함된다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대출여부를 결정하는데 있어서 과거의 데이터를 이용한다면 대출을 받았던 모든 사람들에 대해서 대출금을 갚았던 사람들의 그룹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신용자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대출금을 갚지 않았던 사람들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신용불량자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그룹 두 개로 구별한 다음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현재 대출을 신청한 사람이 어느 그룹에 속할지를 판별하는 것이다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기업의 경우에는 기업의 파산을 예측하는 모형을 개발하기위해서 건전한 우량 기업과 이미 파산하거나 불량 기업의 재무비율을 조사하거나 기술력을 평가하는 자료를 이용하여 이를 구분하는 방법을 찾고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이를 통해서 기업의 파산 가능성을 예측하는 것이다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6156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ko-KR" altLang="en-US" sz="3000" dirty="0"/>
              <a:t>상관분석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22F5427-03FD-471D-A9CF-A016ACFA7A9C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19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79C5037B-1FC2-4902-8225-0168F03C5744}"/>
              </a:ext>
            </a:extLst>
          </p:cNvPr>
          <p:cNvSpPr txBox="1">
            <a:spLocks/>
          </p:cNvSpPr>
          <p:nvPr/>
        </p:nvSpPr>
        <p:spPr>
          <a:xfrm>
            <a:off x="594360" y="1193184"/>
            <a:ext cx="10540486" cy="49264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상관분석은 변수들 간의 단순한 상호 관계성의 정도를 분석하는 통계적 기법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상관분석은 두 변수의 순서쌍으로 구성된 개의 표본요소 에 대해서 두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변수간의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상관관계를 상관계수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(correlation coefficient)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통해 나타냄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상관계수는  사이의 값을 갖고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이면 음의 상관관계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이면 양의 상관관계라 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상관계수는 그림과 같이 두 변수 와 에 대한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산점도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산포도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scatter diagram)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를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그려봄으로써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어느 정도 파악이 가능하다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6478DC60-3C35-4BE2-805A-037B34197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599" y="3218406"/>
            <a:ext cx="4357649" cy="3336223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60899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ko-KR" altLang="en-US" sz="3000" dirty="0"/>
              <a:t>회귀분석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58682767-78C8-4905-A6CB-8AD36FE2EE9E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20</a:t>
            </a:fld>
            <a:endParaRPr lang="en-US" dirty="0">
              <a:latin typeface="+mn-lt"/>
            </a:endParaRP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79C5037B-1FC2-4902-8225-0168F03C5744}"/>
              </a:ext>
            </a:extLst>
          </p:cNvPr>
          <p:cNvSpPr txBox="1">
            <a:spLocks/>
          </p:cNvSpPr>
          <p:nvPr/>
        </p:nvSpPr>
        <p:spPr>
          <a:xfrm>
            <a:off x="594360" y="1193184"/>
            <a:ext cx="10540486" cy="49264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상관분석은 변수들 간의 단순한 관련성의 정도를 파악하는 것이고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회귀분석은 변수 간의 인과관계를 분석하는 방법으로 변수들 중 하나를 종속변수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영향을 받는 변수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dependent variable)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나머지를 독립변수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영향을 주는 변수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independent variable)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하여 이들의 함수관계를 통해 한 변수의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값으로부터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다른 변수의 값을 예측하는데 사용하는 분석방법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예를 들어 선형 회귀 분석은 그림과 같이 키와 몸무게를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차원 평면상에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산점도로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나타낼 때 각각의 점으로 표시된 데이터에 가장 적합한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직선 식을 찾는 방법이고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 직선 식을 이용하여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독립 변수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몸무게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,X)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대해 종속 변수의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값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Y)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추정하거나 예측할 수 있다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그림에서 몸무게와 키 사이의 함수 관계는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다음과 같으며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만약 몸무게가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60kg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이라면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키는 함수식에 의해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0.7507×60 + 124.36 = 169.4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예상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추측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할 수 있다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9A924E-BFF8-40E9-8E02-4056D0443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040" y="3114498"/>
            <a:ext cx="4800600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21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빅데이터 분석 모형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EF86868-109A-4F22-9DB9-5830B28A5ACA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21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74322B25-0372-454A-8D91-6526C3DFB54A}"/>
              </a:ext>
            </a:extLst>
          </p:cNvPr>
          <p:cNvSpPr txBox="1">
            <a:spLocks/>
          </p:cNvSpPr>
          <p:nvPr/>
        </p:nvSpPr>
        <p:spPr>
          <a:xfrm>
            <a:off x="594360" y="1193184"/>
            <a:ext cx="10540486" cy="6472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적합한 빅데이터 분석 모형을 선정하는데 있어서 통계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 마이닝 그리고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머신러닝을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기반으로 하는 데이터 분석 모형을 활용한다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5C46A2-B06F-461A-8969-DD7B6BA8B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80" y="2509837"/>
            <a:ext cx="9654068" cy="250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564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통계기반 데이터 분석 모형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5F06D62A-BFC0-438B-802C-C24884D2AE22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22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74322B25-0372-454A-8D91-6526C3DFB54A}"/>
              </a:ext>
            </a:extLst>
          </p:cNvPr>
          <p:cNvSpPr txBox="1">
            <a:spLocks/>
          </p:cNvSpPr>
          <p:nvPr/>
        </p:nvSpPr>
        <p:spPr>
          <a:xfrm>
            <a:off x="594360" y="1193184"/>
            <a:ext cx="10540486" cy="12674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통계 기반 데이터 분석 모형은 데이터를 통계적으로 분석하고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모형링하는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방법을 의미하고 이러한 모형은 데이터에 숨겨진 패턴을 발견하고 예측하기 위해 사용한다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주어진 문제의 예측과 전망에 대해 합리적인 의사결정을 내리기 위한 여러 방법들이  사용될 수 있는데 그 중에서 통계학이 한 가지 방법으로 사용된다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9084A98-811A-476E-8E62-A59CDC838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2543" y="3191317"/>
            <a:ext cx="7583625" cy="356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9899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데이터에 대한 척도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4547AC21-1F42-49E9-A0CE-6B9F5EEBCBAC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23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74322B25-0372-454A-8D91-6526C3DFB54A}"/>
              </a:ext>
            </a:extLst>
          </p:cNvPr>
          <p:cNvSpPr txBox="1">
            <a:spLocks/>
          </p:cNvSpPr>
          <p:nvPr/>
        </p:nvSpPr>
        <p:spPr>
          <a:xfrm>
            <a:off x="714437" y="1485866"/>
            <a:ext cx="10540486" cy="14720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데이터가 어떤 척도에 따라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작성되었는가는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그 데이터의 통계적인 처리방법이 달라진다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algn="just"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예를 들어 평균이나 분산 등을 포함한 일반적인 분석방법은 구간척도나 비율척도에서 가능하며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명목척도나 순서척도로 표현된 데이터에 대해서는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최빈값이나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중앙값에 관심을 두기 때문에 빈도분석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분할표를 이용한 교차분석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비모수통계분석을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이용한다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8455BCE-F86B-4571-AA65-BBAE1EECD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1829" y="2957868"/>
            <a:ext cx="7696586" cy="3164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8991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 </a:t>
            </a:r>
            <a:r>
              <a:rPr lang="ko-KR" altLang="en-US" dirty="0" err="1"/>
              <a:t>다변량분석</a:t>
            </a:r>
            <a:r>
              <a:rPr lang="ko-KR" altLang="en-US" dirty="0"/>
              <a:t>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4547AC21-1F42-49E9-A0CE-6B9F5EEBCBAC}" type="datetime1">
              <a:rPr lang="ko-KR" altLang="en-US" smtClean="0">
                <a:latin typeface="+mn-lt"/>
              </a:rPr>
              <a:t>2026-04-27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24</a:t>
            </a:fld>
            <a:endParaRPr 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7CCE28C-1CD8-4E81-876D-507DE2EA5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4625" y="1278512"/>
            <a:ext cx="8995635" cy="461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03683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0" tIns="0" rIns="0" bIns="0" rtlCol="0" anchor="ctr" anchorCtr="0">
        <a:noAutofit/>
      </a:bodyPr>
      <a:lstStyle>
        <a:defPPr algn="l" fontAlgn="base" latinLnBrk="1">
          <a:lnSpc>
            <a:spcPct val="100000"/>
          </a:lnSpc>
          <a:defRPr sz="2800" b="0" dirty="0" smtClean="0">
            <a:latin typeface="한컴 고딕" panose="02000500000000000000" pitchFamily="2" charset="-127"/>
            <a:ea typeface="한컴 고딕" panose="020005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0FE134-9032-4C7F-BC57-C7DE3F833363}">
  <ds:schemaRefs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http://schemas.microsoft.com/sharepoint/v3"/>
    <ds:schemaRef ds:uri="230e9df3-be65-4c73-a93b-d1236ebd677e"/>
    <ds:schemaRef ds:uri="http://www.w3.org/XML/1998/namespace"/>
    <ds:schemaRef ds:uri="http://schemas.microsoft.com/office/infopath/2007/PartnerControls"/>
    <ds:schemaRef ds:uri="71af3243-3dd4-4a8d-8c0d-dd76da1f02a5"/>
    <ds:schemaRef ds:uri="http://schemas.openxmlformats.org/package/2006/metadata/core-properties"/>
    <ds:schemaRef ds:uri="16c05727-aa75-4e4a-9b5f-8a80a1165891"/>
  </ds:schemaRefs>
</ds:datastoreItem>
</file>

<file path=customXml/itemProps2.xml><?xml version="1.0" encoding="utf-8"?>
<ds:datastoreItem xmlns:ds="http://schemas.openxmlformats.org/officeDocument/2006/customXml" ds:itemID="{36D24F1A-6251-4B9A-A918-7D6F3A8F7E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8A8ECD1-788F-484B-9043-D957FCFDF1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1606</Words>
  <Application>Microsoft Office PowerPoint</Application>
  <PresentationFormat>와이드스크린</PresentationFormat>
  <Paragraphs>233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2" baseType="lpstr">
      <vt:lpstr>(한글 글꼴 사용)</vt:lpstr>
      <vt:lpstr>한컴 고딕</vt:lpstr>
      <vt:lpstr>Arial</vt:lpstr>
      <vt:lpstr>Calibri</vt:lpstr>
      <vt:lpstr>Cambria Math</vt:lpstr>
      <vt:lpstr>Franklin Gothic Book</vt:lpstr>
      <vt:lpstr>Franklin Gothic Demi</vt:lpstr>
      <vt:lpstr>Custom</vt:lpstr>
      <vt:lpstr>빅데이터 분석 개론</vt:lpstr>
      <vt:lpstr>강의내용</vt:lpstr>
      <vt:lpstr>데이터 분석모형</vt:lpstr>
      <vt:lpstr>데이터 분석모형</vt:lpstr>
      <vt:lpstr>데이터 분석모형</vt:lpstr>
      <vt:lpstr>데이터 분석모형</vt:lpstr>
      <vt:lpstr>데이터 분석모형</vt:lpstr>
      <vt:lpstr>6.1 통계기반 데이터 분석 모형</vt:lpstr>
      <vt:lpstr>6.1 통계기반 데이터 분석 모형</vt:lpstr>
      <vt:lpstr>6.1.1 기술통계와 추론통계 </vt:lpstr>
      <vt:lpstr>6.1.1 기술통계와 추론통계 </vt:lpstr>
      <vt:lpstr>6.1.4 단변량, 다변량, 단순, 다중 분석</vt:lpstr>
      <vt:lpstr>6.1.4 단변량, 다변량, 단순, 다중 분석</vt:lpstr>
      <vt:lpstr>다변량 분석</vt:lpstr>
      <vt:lpstr>다변량 분석</vt:lpstr>
      <vt:lpstr>주성분분석</vt:lpstr>
      <vt:lpstr>인자(요인)분석</vt:lpstr>
      <vt:lpstr>판별분석</vt:lpstr>
      <vt:lpstr>상관분석</vt:lpstr>
      <vt:lpstr>회귀분석</vt:lpstr>
      <vt:lpstr>[단원정리] 빅데이터 분석 모형</vt:lpstr>
      <vt:lpstr>[단원정리] 통계기반 데이터 분석 모형</vt:lpstr>
      <vt:lpstr>[단원정리] 데이터에 대한 척도</vt:lpstr>
      <vt:lpstr>[단원정리]  다변량분석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2023-12-20T08:12:12Z</dcterms:created>
  <dcterms:modified xsi:type="dcterms:W3CDTF">2026-04-27T00:18:59Z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