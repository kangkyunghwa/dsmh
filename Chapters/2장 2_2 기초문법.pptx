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48"/>
  </p:notesMasterIdLst>
  <p:handoutMasterIdLst>
    <p:handoutMasterId r:id="rId49"/>
  </p:handoutMasterIdLst>
  <p:sldIdLst>
    <p:sldId id="410" r:id="rId5"/>
    <p:sldId id="413" r:id="rId6"/>
    <p:sldId id="434" r:id="rId7"/>
    <p:sldId id="500" r:id="rId8"/>
    <p:sldId id="501" r:id="rId9"/>
    <p:sldId id="502" r:id="rId10"/>
    <p:sldId id="503" r:id="rId11"/>
    <p:sldId id="504" r:id="rId12"/>
    <p:sldId id="436" r:id="rId13"/>
    <p:sldId id="438" r:id="rId14"/>
    <p:sldId id="506" r:id="rId15"/>
    <p:sldId id="507" r:id="rId16"/>
    <p:sldId id="508" r:id="rId17"/>
    <p:sldId id="509" r:id="rId18"/>
    <p:sldId id="510" r:id="rId19"/>
    <p:sldId id="511" r:id="rId20"/>
    <p:sldId id="512" r:id="rId21"/>
    <p:sldId id="513" r:id="rId22"/>
    <p:sldId id="514" r:id="rId23"/>
    <p:sldId id="515" r:id="rId24"/>
    <p:sldId id="516" r:id="rId25"/>
    <p:sldId id="517" r:id="rId26"/>
    <p:sldId id="518" r:id="rId27"/>
    <p:sldId id="519" r:id="rId28"/>
    <p:sldId id="520" r:id="rId29"/>
    <p:sldId id="521" r:id="rId30"/>
    <p:sldId id="522" r:id="rId31"/>
    <p:sldId id="523" r:id="rId32"/>
    <p:sldId id="524" r:id="rId33"/>
    <p:sldId id="525" r:id="rId34"/>
    <p:sldId id="526" r:id="rId35"/>
    <p:sldId id="527" r:id="rId36"/>
    <p:sldId id="460" r:id="rId37"/>
    <p:sldId id="528" r:id="rId38"/>
    <p:sldId id="461" r:id="rId39"/>
    <p:sldId id="529" r:id="rId40"/>
    <p:sldId id="530" r:id="rId41"/>
    <p:sldId id="531" r:id="rId42"/>
    <p:sldId id="532" r:id="rId43"/>
    <p:sldId id="533" r:id="rId44"/>
    <p:sldId id="534" r:id="rId45"/>
    <p:sldId id="535" r:id="rId46"/>
    <p:sldId id="53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6327" autoAdjust="0"/>
  </p:normalViewPr>
  <p:slideViewPr>
    <p:cSldViewPr snapToGrid="0">
      <p:cViewPr varScale="1">
        <p:scale>
          <a:sx n="75" d="100"/>
          <a:sy n="75" d="100"/>
        </p:scale>
        <p:origin x="328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commentAuthors" Target="commentAuthors.xml"/><Relationship Id="rId55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BCA7E5-BC47-4B82-81BC-931F6059DA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1A51F-8993-4C5E-A46B-A38B68D203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552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92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021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590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206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368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766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95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656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177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804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648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91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743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96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296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689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915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4020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7056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0699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2317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2923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6677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122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582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250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7602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372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5461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9249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303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2523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9456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466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980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7045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917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441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2074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63875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49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0" y="411479"/>
            <a:ext cx="6513104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83200" y="4005626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58" y="910627"/>
            <a:ext cx="6787747" cy="75854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FD97A6B-37B9-4B45-8753-2537594BD9E7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59" y="2065713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049714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77378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baseline="0">
                <a:latin typeface="(한글 글꼴 사용)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 baseline="0">
                <a:latin typeface="(한글 글꼴 사용)"/>
                <a:ea typeface="한컴 고딕" panose="02000500000000000000" pitchFamily="2" charset="-127"/>
              </a:defRPr>
            </a:lvl1pPr>
            <a:lvl2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2pPr>
            <a:lvl3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3pPr>
            <a:lvl4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4pPr>
            <a:lvl5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854083" y="6332220"/>
            <a:ext cx="1313180" cy="247651"/>
          </a:xfrm>
        </p:spPr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8C2F4-6B0A-4E76-8F70-C576359498CC}"/>
              </a:ext>
            </a:extLst>
          </p:cNvPr>
          <p:cNvSpPr txBox="1"/>
          <p:nvPr userDrawn="1"/>
        </p:nvSpPr>
        <p:spPr>
          <a:xfrm>
            <a:off x="840507" y="6304512"/>
            <a:ext cx="523240" cy="24765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l" fontAlgn="base" latinLnBrk="1">
              <a:lnSpc>
                <a:spcPct val="100000"/>
              </a:lnSpc>
            </a:pPr>
            <a:r>
              <a:rPr lang="en-US" altLang="ko-KR" sz="1100" b="0" dirty="0">
                <a:solidFill>
                  <a:srgbClr val="FF0000"/>
                </a:solidFill>
                <a:latin typeface="+mj-lt"/>
                <a:ea typeface="한컴 고딕" panose="02000500000000000000" pitchFamily="2" charset="-127"/>
              </a:rPr>
              <a:t>/43</a:t>
            </a:r>
            <a:endParaRPr lang="ko-KR" altLang="en-US" sz="1100" b="0" dirty="0">
              <a:solidFill>
                <a:srgbClr val="FF0000"/>
              </a:solidFill>
              <a:latin typeface="+mj-lt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72464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943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77F9F-A58C-4808-8074-96E40A336903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1882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EDFA48-5BD9-4DF2-8D71-CED9532EBB86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7883C47-1A2A-4F57-A0D5-1FFCF1E9D1A7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1AB338-7267-4940-8A5B-18AADA9CD191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1993E2C-76D2-4EC0-8F76-FCD99F854036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142A697-CF5B-4AE4-BC7B-718A66428128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173018"/>
            <a:ext cx="10382250" cy="5003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604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76DE19D1-2384-4B4C-ADE9-983849E25309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1462" y="513079"/>
            <a:ext cx="6792685" cy="3291840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분석 개론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강의내용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0527" y="3776541"/>
            <a:ext cx="6260621" cy="2555679"/>
          </a:xfrm>
        </p:spPr>
        <p:txBody>
          <a:bodyPr>
            <a:normAutofit/>
          </a:bodyPr>
          <a:lstStyle/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dirty="0" err="1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설치와 프로그램 실행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2.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라이브러리의 설치와 활용</a:t>
            </a:r>
          </a:p>
          <a:p>
            <a:pPr marL="0" indent="0" fontAlgn="base" latinLnBrk="1">
              <a:buNone/>
            </a:pP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3. 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파이썬 프로그램의 기본 문법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그래프를 통하여 데이터의 특성을 나타내는 방법들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5.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특성을 숫자로 요약하는 방법들</a:t>
            </a:r>
            <a:endParaRPr lang="en-US" dirty="0">
              <a:solidFill>
                <a:schemeClr val="tx1">
                  <a:lumMod val="85000"/>
                </a:schemeClr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5016B78D-D0BA-4B78-9E6A-BD29AFA51C75}"/>
              </a:ext>
            </a:extLst>
          </p:cNvPr>
          <p:cNvSpPr txBox="1">
            <a:spLocks/>
          </p:cNvSpPr>
          <p:nvPr/>
        </p:nvSpPr>
        <p:spPr>
          <a:xfrm>
            <a:off x="855980" y="1314434"/>
            <a:ext cx="4263610" cy="6132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장 </a:t>
            </a:r>
            <a:r>
              <a:rPr lang="ko-KR" altLang="en-US" sz="32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언어</a:t>
            </a:r>
            <a:endParaRPr lang="en-US" sz="3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EC111D-2696-43E1-BF67-2E25035E38D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B1FDBE1-9B40-4F1C-A5A1-5AB40B13B3A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7D134-0280-41ED-A147-9DF1CC9B2A6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>
              <a:latin typeface="+mn-lt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1442BE-D279-47B8-BEC6-40EFEBE2A1F1}"/>
              </a:ext>
            </a:extLst>
          </p:cNvPr>
          <p:cNvSpPr txBox="1">
            <a:spLocks/>
          </p:cNvSpPr>
          <p:nvPr/>
        </p:nvSpPr>
        <p:spPr>
          <a:xfrm>
            <a:off x="855980" y="1866375"/>
            <a:ext cx="10015820" cy="1910165"/>
          </a:xfrm>
          <a:prstGeom prst="rect">
            <a:avLst/>
          </a:prstGeom>
        </p:spPr>
        <p:txBody>
          <a:bodyPr vert="horz" lIns="0" tIns="457200" rIns="0" bIns="0" rtlCol="0" anchor="ctr">
            <a:normAutofit fontScale="25000" lnSpcReduction="20000"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빅데이터의 탐험 도구로 활용하려는 </a:t>
            </a:r>
            <a:r>
              <a:rPr lang="ko-KR" altLang="en-US" sz="9600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sz="96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특징과 설치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빅데이터분석과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처리와 분석을 위해 필요한 </a:t>
            </a:r>
            <a:r>
              <a:rPr lang="ko-KR" altLang="en-US" sz="96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라이브러리들과 설치방법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언어 사용법과 </a:t>
            </a:r>
            <a:r>
              <a:rPr lang="ko-KR" altLang="en-US" sz="96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시각화 기술에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대해서 알아봅니다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3633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2.2 </a:t>
            </a:r>
            <a:r>
              <a:rPr lang="ko-KR" altLang="en-US" dirty="0"/>
              <a:t>기초문법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2CE7FB70-7158-4C1A-BBCB-74852AA06B6F}"/>
              </a:ext>
            </a:extLst>
          </p:cNvPr>
          <p:cNvSpPr txBox="1">
            <a:spLocks/>
          </p:cNvSpPr>
          <p:nvPr/>
        </p:nvSpPr>
        <p:spPr>
          <a:xfrm>
            <a:off x="855980" y="1813792"/>
            <a:ext cx="11139976" cy="38316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언어의 문법과 기본적인 사용법에 대해서 설명합니다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2.2.1 print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함수와 연산자의 사용법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ko-KR" altLang="en-US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2.2.2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입력과 변수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2.2.3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프로그램의 제어</a:t>
            </a: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	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순환과 반복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2.2.4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특별한 기능을 처리하는 단위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101627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2.2.1 print </a:t>
            </a:r>
            <a:r>
              <a:rPr lang="ko-KR" altLang="en-US" sz="4000" dirty="0"/>
              <a:t>함수와 연산자의 사용법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2CE7FB70-7158-4C1A-BBCB-74852AA06B6F}"/>
              </a:ext>
            </a:extLst>
          </p:cNvPr>
          <p:cNvSpPr txBox="1">
            <a:spLocks/>
          </p:cNvSpPr>
          <p:nvPr/>
        </p:nvSpPr>
        <p:spPr>
          <a:xfrm>
            <a:off x="484177" y="1280970"/>
            <a:ext cx="5277796" cy="43302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기본적으로 프로그램들은 처리결과를 확인할 화면으로 출력하는데 이때 사용하는 함수가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print()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함수란 특별한 기능을 처리하도록 만들어진 단위를 말하며 이에 대한 자세한 사용법은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2.2.4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설명한다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&lt;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2-1&gt;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상수와 간단한 연산결과를 출력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#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프로그램의 추가적인 설명 즉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주석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(comment)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위해 사용하며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‘</a:t>
            </a:r>
            <a:r>
              <a:rPr lang="en-US" altLang="ko-KR" sz="2100" b="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\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n'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출력 후에 줄을 바꾸기 위해 사용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AF0B95-D10A-48B1-AD81-C7660CBE8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052" y="1230867"/>
            <a:ext cx="6138741" cy="505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3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>
                <a:solidFill>
                  <a:schemeClr val="tx1"/>
                </a:solidFill>
                <a:highlight>
                  <a:srgbClr val="000080"/>
                </a:highlight>
              </a:rPr>
              <a:t>2.2.1 print </a:t>
            </a:r>
            <a:r>
              <a:rPr lang="ko-KR" altLang="en-US" sz="4000" dirty="0">
                <a:solidFill>
                  <a:schemeClr val="tx1"/>
                </a:solidFill>
                <a:highlight>
                  <a:srgbClr val="000080"/>
                </a:highlight>
              </a:rPr>
              <a:t>함수와 연산자의 </a:t>
            </a:r>
            <a:r>
              <a:rPr lang="ko-KR" altLang="en-US" sz="2800" dirty="0">
                <a:solidFill>
                  <a:schemeClr val="tx1"/>
                </a:solidFill>
                <a:highlight>
                  <a:srgbClr val="000080"/>
                </a:highlight>
              </a:rPr>
              <a:t>사용법</a:t>
            </a:r>
            <a:r>
              <a:rPr lang="ko-KR" altLang="en-US" sz="4000" dirty="0">
                <a:solidFill>
                  <a:schemeClr val="tx1"/>
                </a:solidFill>
                <a:highlight>
                  <a:srgbClr val="000080"/>
                </a:highlight>
              </a:rPr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7BD6CF-AAA7-4F8B-BC98-C7DB697A6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7" y="1413021"/>
            <a:ext cx="10144057" cy="438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8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2.2.2 </a:t>
            </a:r>
            <a:r>
              <a:rPr lang="ko-KR" altLang="en-US" dirty="0"/>
              <a:t>데이터의 입력과 변수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2CE7FB70-7158-4C1A-BBCB-74852AA06B6F}"/>
              </a:ext>
            </a:extLst>
          </p:cNvPr>
          <p:cNvSpPr txBox="1">
            <a:spLocks/>
          </p:cNvSpPr>
          <p:nvPr/>
        </p:nvSpPr>
        <p:spPr>
          <a:xfrm>
            <a:off x="484177" y="1280971"/>
            <a:ext cx="11139976" cy="46097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예를 들어 이차 방정식              의 해를 근의 공식을 이용하여 계산하고</a:t>
            </a:r>
            <a:r>
              <a:rPr lang="en-US" altLang="ko-KR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계산기를 </a:t>
            </a:r>
            <a:endParaRPr lang="en-US" altLang="ko-KR" sz="2200" b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이용한다고 가정하면 중간 과정의 계산결과를 적어 두어야 할 것이다</a:t>
            </a:r>
            <a:r>
              <a:rPr lang="en-US" altLang="ko-KR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이때 종이에 </a:t>
            </a:r>
            <a:r>
              <a:rPr lang="ko-KR" altLang="en-US" sz="2200" b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적어둔다는</a:t>
            </a:r>
            <a:r>
              <a:rPr lang="ko-KR" altLang="en-US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것은 그 값을 기억하기 위한 것인데 프로그램에서는 값을 기억하기 위해 변수를 사용한다</a:t>
            </a:r>
            <a:r>
              <a:rPr lang="en-US" altLang="ko-KR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이차 방정식에 대해서 근의 공식을 이용하여 두 개의 근이 있다는 가정하에 근을 구하는 공식은 다음과 같다</a:t>
            </a:r>
            <a:r>
              <a:rPr lang="en-US" altLang="ko-KR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이차 방적식의 </a:t>
            </a:r>
            <a:r>
              <a:rPr lang="en-US" altLang="ko-KR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a, b, c </a:t>
            </a:r>
            <a:r>
              <a:rPr lang="ko-KR" altLang="en-US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입력 받은 후에 위의 공식을 이용하여 근을 구하는 </a:t>
            </a:r>
            <a:r>
              <a:rPr lang="ko-KR" altLang="en-US" sz="2200" b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프로그램은다음과</a:t>
            </a:r>
            <a:r>
              <a:rPr lang="ko-KR" altLang="en-US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같다</a:t>
            </a:r>
            <a:r>
              <a:rPr lang="en-US" altLang="ko-KR" sz="2200" b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 </a:t>
            </a:r>
            <a:endParaRPr lang="ko-KR" altLang="en-US" sz="2200" b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7E702C-41D8-4896-9090-6F635C1E0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039" y="3696194"/>
            <a:ext cx="6512628" cy="11812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2CD6C4-7B30-4B81-B2B4-5AE6E1978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898" y="1215377"/>
            <a:ext cx="1751883" cy="35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07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2.2.2 </a:t>
            </a:r>
            <a:r>
              <a:rPr lang="ko-KR" altLang="en-US" dirty="0"/>
              <a:t>데이터의 입력과 변수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3CB9CE-954B-469A-9708-63CD9C700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66968"/>
            <a:ext cx="8456569" cy="4808363"/>
          </a:xfrm>
          <a:prstGeom prst="rect">
            <a:avLst/>
          </a:prstGeom>
        </p:spPr>
      </p:pic>
      <p:sp>
        <p:nvSpPr>
          <p:cNvPr id="13" name="Title 8">
            <a:extLst>
              <a:ext uri="{FF2B5EF4-FFF2-40B4-BE49-F238E27FC236}">
                <a16:creationId xmlns:a16="http://schemas.microsoft.com/office/drawing/2014/main" id="{58A080BD-DF81-4D0C-9A63-BE3277FD7658}"/>
              </a:ext>
            </a:extLst>
          </p:cNvPr>
          <p:cNvSpPr txBox="1">
            <a:spLocks/>
          </p:cNvSpPr>
          <p:nvPr/>
        </p:nvSpPr>
        <p:spPr>
          <a:xfrm>
            <a:off x="6413326" y="1280971"/>
            <a:ext cx="5624185" cy="2856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프로그램의 실행마다 새로운 값을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입력받기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위해서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input()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함수를 이용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프로그램에서 제곱근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(square root)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계산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하기 위해서 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math.sqrt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math.sqrt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사용하기 위해서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라이브러리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math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import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1893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3] </a:t>
            </a:r>
            <a:r>
              <a:rPr lang="ko-KR" altLang="en-US" dirty="0"/>
              <a:t>변수의 이름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>
              <a:latin typeface="+mn-lt"/>
            </a:endParaRPr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58A080BD-DF81-4D0C-9A63-BE3277FD7658}"/>
              </a:ext>
            </a:extLst>
          </p:cNvPr>
          <p:cNvSpPr txBox="1">
            <a:spLocks/>
          </p:cNvSpPr>
          <p:nvPr/>
        </p:nvSpPr>
        <p:spPr>
          <a:xfrm>
            <a:off x="488516" y="1280970"/>
            <a:ext cx="11548996" cy="30934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변수의 이름은 프로그래머가 정하며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프로그램의 가독성을 위하여 변수에 어떤 값이 저장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될지를 나타내는 이름으로 정한다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나이를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입력받는다면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변수의 이름으로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age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사용자의 이름을 저장하는 변수라면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name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하는 것이 좋다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변수 이름에 사용할 수 있는 문자는 영문 소문자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영문 대문자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한글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숫자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(0~9),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언더바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(_)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이며 변수 이름의 첫 글자는 문자를 사용해야 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또한 프로그램에서 특정한 용도로 사용되는 단어를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예약어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(reserved word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keyword)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 하는데 이 단어들은 변수 이름으로 사용하지 않는다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파이썬의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예약어들은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다음과 같다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196B28-BE05-4107-866B-CE7C74D5D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673" y="4439807"/>
            <a:ext cx="8126273" cy="18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600" dirty="0"/>
              <a:t>[</a:t>
            </a:r>
            <a:r>
              <a:rPr lang="ko-KR" altLang="en-US" sz="3600" dirty="0"/>
              <a:t>참고 </a:t>
            </a:r>
            <a:r>
              <a:rPr lang="en-US" altLang="ko-KR" sz="3600" dirty="0"/>
              <a:t>4] </a:t>
            </a:r>
            <a:r>
              <a:rPr lang="ko-KR" altLang="en-US" sz="3600" dirty="0"/>
              <a:t>변수 형</a:t>
            </a:r>
            <a:r>
              <a:rPr lang="en-US" altLang="ko-KR" sz="3600" dirty="0"/>
              <a:t>(data</a:t>
            </a:r>
            <a:r>
              <a:rPr lang="ko-KR" altLang="en-US" sz="3600" dirty="0"/>
              <a:t> </a:t>
            </a:r>
            <a:r>
              <a:rPr lang="en-US" altLang="ko-KR" sz="3600" dirty="0"/>
              <a:t>type)</a:t>
            </a:r>
            <a:endParaRPr lang="ko-KR" altLang="en-US" sz="3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594360" y="1190632"/>
            <a:ext cx="11156518" cy="4700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JAVA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같은 대부분의 프로그램 언어들은 변수를 사용하기 전에 변수에 어떤 값을 저장할 것인지를 미리 정하여 변수를 생성하고 나서 이용해야 하지만 </a:t>
            </a:r>
            <a:r>
              <a:rPr lang="ko-KR" altLang="en-US" sz="2000" b="0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파이썬에서는</a:t>
            </a:r>
            <a:r>
              <a:rPr lang="ko-KR" altLang="en-US" sz="20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변수에 어떤 값이던 데이터를 할당을 하는 순간에 변수의 타입</a:t>
            </a:r>
            <a:r>
              <a:rPr lang="en-US" altLang="ko-KR" sz="20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(type)</a:t>
            </a:r>
            <a:r>
              <a:rPr lang="ko-KR" altLang="en-US" sz="20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 결정되므로 사용하기가 편리하다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따라서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변수의 타입은 그 변수에 저장할 데이터의 타입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데이터 형이라 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따라 결정된다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사용하는 데이터 형에는 이미 앞에서 사용한 정수형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(int)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&lt;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2&gt;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x1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x2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같은 실수형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(float)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외에 문자열 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(str), </a:t>
            </a:r>
            <a:r>
              <a:rPr lang="ko-KR" altLang="en-US" sz="20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리스트</a:t>
            </a:r>
            <a:r>
              <a:rPr lang="en-US" altLang="ko-KR" sz="20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(list), </a:t>
            </a:r>
            <a:r>
              <a:rPr lang="ko-KR" altLang="en-US" sz="2000" b="0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튜플</a:t>
            </a:r>
            <a:r>
              <a:rPr lang="en-US" altLang="ko-KR" sz="20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(tuple), </a:t>
            </a:r>
            <a:r>
              <a:rPr lang="ko-KR" altLang="en-US" sz="2000" b="0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딕셔너리</a:t>
            </a:r>
            <a:r>
              <a:rPr lang="en-US" altLang="ko-KR" sz="20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(dictionary)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등이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6319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2.2.3 </a:t>
            </a:r>
            <a:r>
              <a:rPr lang="ko-KR" altLang="en-US" dirty="0"/>
              <a:t>프로그램의 제어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594360" y="1400872"/>
            <a:ext cx="11156518" cy="39180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오늘 점심에는 무엇을 먹을까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주말에 날씨가 좋으면 등산을 가고 그렇지 않으면 무엇을 할까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우리가 </a:t>
            </a:r>
            <a:r>
              <a:rPr lang="ko-KR" altLang="en-US" sz="23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깨어있는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동안에 주어진 상황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조건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대해서 의식적이던 무의식적이던 판단을 통해 선택을 해야만 한다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컵에 물을 받는 경우에는 원하는 만큼의 물을 받을 때까지 물을 받는 동작을 반복하게 되는데 이러한 문제를 프로그램을 통해 해결할 때 </a:t>
            </a:r>
            <a:r>
              <a:rPr lang="ko-KR" altLang="en-US" sz="23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제어문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(control statement)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사용한다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99463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2.2.3 </a:t>
            </a:r>
            <a:r>
              <a:rPr lang="ko-KR" altLang="en-US" dirty="0"/>
              <a:t>프로그램의 제어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594360" y="1400872"/>
            <a:ext cx="11156518" cy="33590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조건에 의한 판단과 선택</a:t>
            </a:r>
          </a:p>
          <a:p>
            <a:pPr fontAlgn="base" latinLnBrk="1">
              <a:lnSpc>
                <a:spcPct val="150000"/>
              </a:lnSpc>
            </a:pPr>
            <a:endParaRPr lang="ko-KR" altLang="en-US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프로그램을 통해 해결해야 할 문제들 중에는 주어진 상황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조건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 판단과 선택이 요구되는 경우가 있다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나이를 </a:t>
            </a:r>
            <a:r>
              <a:rPr lang="ko-KR" altLang="en-US" sz="23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입력받아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버스 요금을 출력하는 프로그램을 작성할 때 나이 범위에 따른 버스 요금에 대한 다음과 같은 기준을 이용한다고 가정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ACC8D3-E7A9-48BD-9E72-2372FA799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714" y="4440095"/>
            <a:ext cx="5084183" cy="18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11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2.2.3 </a:t>
            </a:r>
            <a:r>
              <a:rPr lang="ko-KR" altLang="en-US" dirty="0"/>
              <a:t>프로그램의 제어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594360" y="1400872"/>
            <a:ext cx="11156518" cy="16680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이러한 문제를 해결할 때 프로그램에서는 비교 연산자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관계 연산자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사용하며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다음과 같다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이러한 비교 연산의 결과는 참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(True)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거짓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(False)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둘 중의 하나이며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참인 경우와 거짓인 경우를 구분하여 어떤 판단을 내릴지를 결정한다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20D98B-6AFC-49D4-98A6-F5533A63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226" y="3085403"/>
            <a:ext cx="7609189" cy="315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05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&lt;</a:t>
            </a:r>
            <a:r>
              <a:rPr lang="ko-KR" altLang="en-US" sz="4000" dirty="0"/>
              <a:t>예제 </a:t>
            </a:r>
            <a:r>
              <a:rPr lang="en-US" altLang="ko-KR" sz="4000" dirty="0"/>
              <a:t>2-3&gt; </a:t>
            </a:r>
            <a:r>
              <a:rPr lang="ko-KR" altLang="en-US" sz="4000" dirty="0"/>
              <a:t>나이에 따른 버스 요금의 출력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594360" y="1400871"/>
            <a:ext cx="11156518" cy="44406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버스요금의 기준과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2-4]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연산자를 이용하여 버스 요금을 출력하는 프로그램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ko-KR" altLang="en-US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버스요금의 기준에서 나이의 기준은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개로 구분되어 있지만 프로그램 상에서 조건을 따지는 부분은 하나임에 주의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입력한 나이의 값이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세 미만이 참이면 요금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1,000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원을 출력하고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입력한 나이의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값이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세 미만이 거짓이면 요금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1,500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원을 출력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여기서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세 미만이 거짓이라는 것은 입력한 값이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세 이상을 의미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조건의 결과가 거짓일 경우에 처리하는 부분은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else: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나타냄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55432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&lt;</a:t>
            </a:r>
            <a:r>
              <a:rPr lang="ko-KR" altLang="en-US" sz="4000" dirty="0"/>
              <a:t>예제 </a:t>
            </a:r>
            <a:r>
              <a:rPr lang="en-US" altLang="ko-KR" sz="4000" dirty="0"/>
              <a:t>2-3&gt; </a:t>
            </a:r>
            <a:r>
              <a:rPr lang="ko-KR" altLang="en-US" sz="4000" dirty="0"/>
              <a:t>나이에 따른 버스 요금의 출력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0898A2-46C9-4622-96A3-DC813CFEB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197" y="3051096"/>
            <a:ext cx="8830903" cy="3001637"/>
          </a:xfrm>
          <a:prstGeom prst="rect">
            <a:avLst/>
          </a:prstGeom>
        </p:spPr>
      </p:pic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400872"/>
            <a:ext cx="11156518" cy="16668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입력한 나이의 값이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세 미만이 참이면 요금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1,000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원을 출력하고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입력한 나이의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값이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세 미만이 거짓이면 요금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1,500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원을 출력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여기서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세 미만이 거짓이라는 것은 입력한 값이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세 이상을 의미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조건의 결과가 거짓일 경우에 처리하는 부분은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else: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나타냄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0015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2.2.3 </a:t>
            </a:r>
            <a:r>
              <a:rPr lang="ko-KR" altLang="en-US" dirty="0"/>
              <a:t>프로그램의 제어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693597" y="1161742"/>
            <a:ext cx="11156518" cy="9930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성별을 구분하는 조건에서도 남자인지 또는 여자인지 두 개의 조건을 따지는 것이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아니라 남자가 참이냐 거짓이냐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(else)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 구분해 주면 되므로 다음과 같이 나타낼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B9691B-389B-4CD0-8BD6-313D46AAF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28674"/>
            <a:ext cx="7086484" cy="1491283"/>
          </a:xfrm>
          <a:prstGeom prst="rect">
            <a:avLst/>
          </a:prstGeom>
        </p:spPr>
      </p:pic>
      <p:sp>
        <p:nvSpPr>
          <p:cNvPr id="12" name="Title 8">
            <a:extLst>
              <a:ext uri="{FF2B5EF4-FFF2-40B4-BE49-F238E27FC236}">
                <a16:creationId xmlns:a16="http://schemas.microsoft.com/office/drawing/2014/main" id="{98690247-1576-4463-8E4D-630E059D4CDC}"/>
              </a:ext>
            </a:extLst>
          </p:cNvPr>
          <p:cNvSpPr txBox="1">
            <a:spLocks/>
          </p:cNvSpPr>
          <p:nvPr/>
        </p:nvSpPr>
        <p:spPr>
          <a:xfrm>
            <a:off x="484177" y="3771808"/>
            <a:ext cx="11156518" cy="9433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입력된 값이 음수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0,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그리고 양수를 판단하는 경우에도 다음과 같이 두가지의 조건에 대해서만 판단하고 나머지 경우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양수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else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의해 처리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5068C3-0298-4AF7-99DB-233F0EBEA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199" y="4893945"/>
            <a:ext cx="7081563" cy="186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6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2.2.3 </a:t>
            </a:r>
            <a:r>
              <a:rPr lang="ko-KR" altLang="en-US" dirty="0"/>
              <a:t>프로그램의 제어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88137"/>
            <a:ext cx="11156518" cy="46025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순환과 반복</a:t>
            </a:r>
          </a:p>
          <a:p>
            <a:pPr fontAlgn="base" latinLnBrk="1">
              <a:lnSpc>
                <a:spcPct val="150000"/>
              </a:lnSpc>
            </a:pPr>
            <a:endParaRPr lang="ko-KR" altLang="en-US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시내버스가 정해진 노선을 따라 계속 운행하는 것을 순환이라 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딱다구리가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영역을 표시하기 위해 부리로 나무를 두드리는 것을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드러밍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(drumming)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이라 하는데 이것은 반복이다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프로그램에서도 이러한 순환과 반복이 필요한 경우가 있으며 순환과 반복을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멈추기위해서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적절한 조건의 판단이 필요하다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먼저 지정한 횟수에 따라 반복을 하는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for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문에 대해서 살펴본다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68893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400" dirty="0"/>
              <a:t>&lt;</a:t>
            </a:r>
            <a:r>
              <a:rPr lang="ko-KR" altLang="en-US" sz="3400" dirty="0"/>
              <a:t>예제 </a:t>
            </a:r>
            <a:r>
              <a:rPr lang="en-US" altLang="ko-KR" sz="3400" dirty="0"/>
              <a:t>2-4&gt; </a:t>
            </a:r>
            <a:r>
              <a:rPr lang="ko-KR" altLang="en-US" sz="3400" dirty="0"/>
              <a:t>일정한 횟수를 반복하는 </a:t>
            </a:r>
            <a:r>
              <a:rPr lang="en-US" altLang="ko-KR" sz="3400" dirty="0"/>
              <a:t>for </a:t>
            </a:r>
            <a:r>
              <a:rPr lang="ko-KR" altLang="en-US" sz="3400" dirty="0"/>
              <a:t>문의 사용법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88138"/>
            <a:ext cx="11156518" cy="10561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어떤 내용을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번을 반복하면서 출력하는 프로그램을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for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문을 이용하여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작성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E7EAA3-D327-4223-9472-3F84D4323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8" y="2900946"/>
            <a:ext cx="7337546" cy="263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76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400" dirty="0"/>
              <a:t>&lt;</a:t>
            </a:r>
            <a:r>
              <a:rPr lang="ko-KR" altLang="en-US" sz="3400" dirty="0"/>
              <a:t>예제 </a:t>
            </a:r>
            <a:r>
              <a:rPr lang="en-US" altLang="ko-KR" sz="3400" dirty="0"/>
              <a:t>2-4&gt; </a:t>
            </a:r>
            <a:r>
              <a:rPr lang="ko-KR" altLang="en-US" sz="3400" dirty="0"/>
              <a:t>일정한 횟수를 반복하는 </a:t>
            </a:r>
            <a:r>
              <a:rPr lang="en-US" altLang="ko-KR" sz="3400" dirty="0"/>
              <a:t>for </a:t>
            </a:r>
            <a:r>
              <a:rPr lang="ko-KR" altLang="en-US" sz="3400" dirty="0"/>
              <a:t>문의 사용법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88138"/>
            <a:ext cx="11156518" cy="15803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프로그램에서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range(5)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부터 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미만의 정수를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만드는데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for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in range(5):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값이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부터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까지 변하는 동안에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print('iteration')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번 반복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반복할때마다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변하는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값을 동시에 출력한다면 다음과 같이 수정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86C332-6942-4A03-8D16-ECB75EB57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238" y="3127908"/>
            <a:ext cx="7929132" cy="271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82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400" dirty="0"/>
              <a:t>&lt;</a:t>
            </a:r>
            <a:r>
              <a:rPr lang="ko-KR" altLang="en-US" sz="3400" dirty="0"/>
              <a:t>예제 </a:t>
            </a:r>
            <a:r>
              <a:rPr lang="en-US" altLang="ko-KR" sz="3400" dirty="0"/>
              <a:t>2-4&gt; </a:t>
            </a:r>
            <a:r>
              <a:rPr lang="ko-KR" altLang="en-US" sz="3400" dirty="0"/>
              <a:t>일정한 횟수를 반복하는 </a:t>
            </a:r>
            <a:r>
              <a:rPr lang="en-US" altLang="ko-KR" sz="3400" dirty="0"/>
              <a:t>for </a:t>
            </a:r>
            <a:r>
              <a:rPr lang="ko-KR" altLang="en-US" sz="3400" dirty="0"/>
              <a:t>문의 사용법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88138"/>
            <a:ext cx="11156518" cy="5523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부터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9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까지 홀수의 경우만 반복한다면 다음과 같이 수정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5DEEAE-5C2E-420E-A0FA-CA3B7D7F2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3" y="2344243"/>
            <a:ext cx="8401841" cy="267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71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400" dirty="0"/>
              <a:t>&lt;</a:t>
            </a:r>
            <a:r>
              <a:rPr lang="ko-KR" altLang="en-US" sz="3400" dirty="0"/>
              <a:t>예제 </a:t>
            </a:r>
            <a:r>
              <a:rPr lang="en-US" altLang="ko-KR" sz="3400" dirty="0"/>
              <a:t>2-4&gt; </a:t>
            </a:r>
            <a:r>
              <a:rPr lang="ko-KR" altLang="en-US" sz="3400" dirty="0"/>
              <a:t>일정한 횟수를 반복하는 </a:t>
            </a:r>
            <a:r>
              <a:rPr lang="en-US" altLang="ko-KR" sz="3400" dirty="0"/>
              <a:t>for </a:t>
            </a:r>
            <a:r>
              <a:rPr lang="ko-KR" altLang="en-US" sz="3400" dirty="0"/>
              <a:t>문의 사용법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88138"/>
            <a:ext cx="11156518" cy="5523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range()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대해서 정리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7A78E4-954C-42A6-A9D2-EF66D291C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71660"/>
            <a:ext cx="9949199" cy="319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39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for</a:t>
            </a:r>
            <a:r>
              <a:rPr lang="ko-KR" altLang="en-US" dirty="0"/>
              <a:t>문과 </a:t>
            </a:r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88138"/>
            <a:ext cx="11156518" cy="28454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for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문은 일정한 횟수를 반복하는데 비해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while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문은 주어진 조건이 참인 경우에 반복을 유지한다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비교를 하자면 화살을 쏘는 게임에서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for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문은 주어진 횟수만큼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화살쏘기를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반복하며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while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문은 화살이 과녁에 맞을 때까지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화살쏘기를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반복하는 프로그램에 사용한다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89268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400" dirty="0"/>
              <a:t>&lt;</a:t>
            </a:r>
            <a:r>
              <a:rPr lang="ko-KR" altLang="en-US" sz="3400" dirty="0"/>
              <a:t>예제 </a:t>
            </a:r>
            <a:r>
              <a:rPr lang="en-US" altLang="ko-KR" sz="3400" dirty="0"/>
              <a:t>2-5&gt; </a:t>
            </a:r>
            <a:r>
              <a:rPr lang="ko-KR" altLang="en-US" sz="3400" dirty="0"/>
              <a:t>조건이 참인 경우에 반복하는 </a:t>
            </a:r>
            <a:r>
              <a:rPr lang="en-US" altLang="ko-KR" sz="3400" dirty="0"/>
              <a:t>while </a:t>
            </a:r>
            <a:r>
              <a:rPr lang="ko-KR" altLang="en-US" sz="3400" dirty="0"/>
              <a:t>문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88138"/>
            <a:ext cx="11156518" cy="11794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다음은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부터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까지의 합을 출력하는 프로그램을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for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while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문으로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작성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2-5.py)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 것이며 실행결과는 동일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E66298-6431-4D16-877E-42FB04AD3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0" y="2869982"/>
            <a:ext cx="10002941" cy="304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115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400" dirty="0"/>
              <a:t>&lt;</a:t>
            </a:r>
            <a:r>
              <a:rPr lang="ko-KR" altLang="en-US" sz="3400" dirty="0"/>
              <a:t>예제 </a:t>
            </a:r>
            <a:r>
              <a:rPr lang="en-US" altLang="ko-KR" sz="3400" dirty="0"/>
              <a:t>2-5&gt; </a:t>
            </a:r>
            <a:r>
              <a:rPr lang="ko-KR" altLang="en-US" sz="3400" dirty="0"/>
              <a:t>조건이 참인 경우에 반복하는 </a:t>
            </a:r>
            <a:r>
              <a:rPr lang="en-US" altLang="ko-KR" sz="3400" dirty="0"/>
              <a:t>while </a:t>
            </a:r>
            <a:r>
              <a:rPr lang="ko-KR" altLang="en-US" sz="3400" dirty="0"/>
              <a:t>문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23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12982"/>
            <a:ext cx="11156518" cy="21213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for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문의 경우 변수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값이 함수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range()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의해 반복과정에서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부터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까지 자동으로 변하지만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while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문에서는 주어진 조건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&lt; 11)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즉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값이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될 때까지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씩 증가하도록 누적 연산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=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+ 1)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해 주어야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For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문을 사용한 왼쪽의 프로그램에서 변수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sum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값이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부터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까지 변하는 과정에서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값을 다음과 같이 누적한다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16BE89-9951-4CCA-A378-F84406309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067" y="3459901"/>
            <a:ext cx="7776491" cy="327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76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400" dirty="0"/>
              <a:t>&lt;</a:t>
            </a:r>
            <a:r>
              <a:rPr lang="ko-KR" altLang="en-US" sz="3400" dirty="0"/>
              <a:t>예제 </a:t>
            </a:r>
            <a:r>
              <a:rPr lang="en-US" altLang="ko-KR" sz="3400" dirty="0"/>
              <a:t>2-5&gt; </a:t>
            </a:r>
            <a:r>
              <a:rPr lang="ko-KR" altLang="en-US" sz="3400" dirty="0"/>
              <a:t>조건이 참인 경우에 반복하는 </a:t>
            </a:r>
            <a:r>
              <a:rPr lang="en-US" altLang="ko-KR" sz="3400" dirty="0"/>
              <a:t>while </a:t>
            </a:r>
            <a:r>
              <a:rPr lang="ko-KR" altLang="en-US" sz="3400" dirty="0"/>
              <a:t>문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12983"/>
            <a:ext cx="11156518" cy="16429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여기서 중요한 것은 반복을 시작하기 전에 변수 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sum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에 </a:t>
            </a:r>
            <a:r>
              <a:rPr lang="en-US" altLang="ko-KR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2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을 저장한 다음에 반복을 시작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한다는 것이다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이 부분을 생략하고 프로그램을 작성하여 실행하면 다음과 같은 </a:t>
            </a:r>
            <a:r>
              <a:rPr lang="ko-KR" altLang="en-US" sz="2200" b="0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오류가 발생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C6B9FC-29D8-41EF-BA9C-30822BE67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496" y="2261607"/>
            <a:ext cx="3082816" cy="18620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B7BF472-C582-468F-A8C9-70CBB5429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409" y="4172297"/>
            <a:ext cx="8678605" cy="194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63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400" dirty="0"/>
              <a:t>&lt;</a:t>
            </a:r>
            <a:r>
              <a:rPr lang="ko-KR" altLang="en-US" sz="3400" dirty="0"/>
              <a:t>예제 </a:t>
            </a:r>
            <a:r>
              <a:rPr lang="en-US" altLang="ko-KR" sz="3400" dirty="0"/>
              <a:t>2-5&gt; </a:t>
            </a:r>
            <a:r>
              <a:rPr lang="ko-KR" altLang="en-US" sz="3400" dirty="0"/>
              <a:t>조건이 참인 경우에 반복하는 </a:t>
            </a:r>
            <a:r>
              <a:rPr lang="en-US" altLang="ko-KR" sz="3400" dirty="0"/>
              <a:t>while </a:t>
            </a:r>
            <a:r>
              <a:rPr lang="ko-KR" altLang="en-US" sz="3400" dirty="0"/>
              <a:t>문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3832578" y="1086506"/>
            <a:ext cx="7765061" cy="52457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이러한 이유는 첫 번째 반복에서 마주치는 다음의 연산에서 ②번 위치의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sum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때문에 발생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변수의 데이터 형은 그 변수에 저장된 값의 유형에 따라 결정되는데 </a:t>
            </a:r>
            <a:r>
              <a:rPr lang="ko-KR" altLang="en-US" sz="20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②번 위치의 변수 </a:t>
            </a:r>
            <a:r>
              <a:rPr lang="en-US" altLang="ko-KR" sz="20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sum</a:t>
            </a:r>
            <a:r>
              <a:rPr lang="ko-KR" altLang="en-US" sz="2000" b="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 어떤 값이 저장되지 않은 상태에서 연산에 사용되므로 오류가 발생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따라서 이러한 오류가 발생되지 않도록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&lt;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5&gt;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sum = 0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라는 문장이 먼저 실행되어야 하고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최초에 변수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sum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이라는 초기값을 사용한다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이 프로그램을 이용하여  계산하는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계승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(factorial)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프로그램을 작성한다면 변수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sum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초기값으로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사용해야 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E5EDC2-9CC1-483E-98E5-763D16CDC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93571"/>
            <a:ext cx="2012105" cy="12455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950DCE-2055-BF26-F8FA-B03DCCC16891}"/>
              </a:ext>
            </a:extLst>
          </p:cNvPr>
          <p:cNvSpPr txBox="1"/>
          <p:nvPr/>
        </p:nvSpPr>
        <p:spPr>
          <a:xfrm>
            <a:off x="291598" y="2439160"/>
            <a:ext cx="3124969" cy="373304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fontAlgn="base" latinLnBrk="1"/>
            <a:r>
              <a:rPr lang="en-US" altLang="ko-KR" dirty="0">
                <a:solidFill>
                  <a:schemeClr val="bg1"/>
                </a:solidFill>
              </a:rPr>
              <a:t>Factorial </a:t>
            </a:r>
            <a:r>
              <a:rPr lang="ko-KR" altLang="en-US" dirty="0">
                <a:solidFill>
                  <a:schemeClr val="bg1"/>
                </a:solidFill>
              </a:rPr>
              <a:t>은 다음과 같이 정의</a:t>
            </a:r>
          </a:p>
          <a:p>
            <a:pPr fontAlgn="base" latinLnBrk="1"/>
            <a:r>
              <a:rPr lang="ko-KR" altLang="en-US" dirty="0">
                <a:solidFill>
                  <a:schemeClr val="bg1"/>
                </a:solidFill>
              </a:rPr>
              <a:t>𝑛</a:t>
            </a:r>
            <a:r>
              <a:rPr lang="en-US" altLang="ko-KR" dirty="0">
                <a:solidFill>
                  <a:schemeClr val="bg1"/>
                </a:solidFill>
              </a:rPr>
              <a:t>!=1×2×3×...×</a:t>
            </a:r>
            <a:r>
              <a:rPr lang="ko-KR" altLang="en-US" dirty="0">
                <a:solidFill>
                  <a:schemeClr val="bg1"/>
                </a:solidFill>
              </a:rPr>
              <a:t>𝑛</a:t>
            </a:r>
          </a:p>
          <a:p>
            <a:pPr fontAlgn="base" latinLnBrk="1"/>
            <a:r>
              <a:rPr lang="en-US" altLang="ko-KR" dirty="0">
                <a:solidFill>
                  <a:schemeClr val="bg1"/>
                </a:solidFill>
              </a:rPr>
              <a:t>n!=1×2×3×...×n</a:t>
            </a:r>
            <a:endParaRPr lang="ko-KR" altLang="en-US" dirty="0">
              <a:solidFill>
                <a:schemeClr val="bg1"/>
              </a:solidFill>
            </a:endParaRPr>
          </a:p>
          <a:p>
            <a:pPr fontAlgn="base" latinLnBrk="1"/>
            <a:endParaRPr lang="en-US" altLang="ko-KR" dirty="0">
              <a:solidFill>
                <a:schemeClr val="bg1"/>
              </a:solidFill>
            </a:endParaRPr>
          </a:p>
          <a:p>
            <a:pPr fontAlgn="base" latinLnBrk="1"/>
            <a:r>
              <a:rPr lang="ko-KR" altLang="en-US" dirty="0">
                <a:solidFill>
                  <a:schemeClr val="bg1"/>
                </a:solidFill>
              </a:rPr>
              <a:t>예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endParaRPr lang="ko-KR" altLang="en-US" dirty="0">
              <a:solidFill>
                <a:schemeClr val="bg1"/>
              </a:solidFill>
            </a:endParaRPr>
          </a:p>
          <a:p>
            <a:pPr fontAlgn="base" latinLnBrk="1"/>
            <a:r>
              <a:rPr lang="en-US" altLang="ko-KR" dirty="0">
                <a:solidFill>
                  <a:schemeClr val="bg1"/>
                </a:solidFill>
              </a:rPr>
              <a:t>3! = 1 × 2 × 3 = 6</a:t>
            </a:r>
            <a:endParaRPr lang="ko-KR" altLang="en-US" dirty="0">
              <a:solidFill>
                <a:schemeClr val="bg1"/>
              </a:solidFill>
            </a:endParaRPr>
          </a:p>
          <a:p>
            <a:pPr fontAlgn="base" latinLnBrk="1"/>
            <a:r>
              <a:rPr lang="en-US" altLang="ko-KR" dirty="0">
                <a:solidFill>
                  <a:schemeClr val="bg1"/>
                </a:solidFill>
              </a:rPr>
              <a:t>5! = 1 × 2 × 3 × 4 × 5 = 120</a:t>
            </a:r>
            <a:endParaRPr lang="ko-KR" altLang="en-US" dirty="0">
              <a:solidFill>
                <a:schemeClr val="bg1"/>
              </a:solidFill>
            </a:endParaRPr>
          </a:p>
          <a:p>
            <a:pPr fontAlgn="base" latinLnBrk="1"/>
            <a:endParaRPr lang="en-US" altLang="ko-KR" dirty="0">
              <a:solidFill>
                <a:schemeClr val="bg1"/>
              </a:solidFill>
            </a:endParaRPr>
          </a:p>
          <a:p>
            <a:pPr fontAlgn="base" latinLnBrk="1"/>
            <a:r>
              <a:rPr lang="ko-KR" altLang="en-US" dirty="0" err="1">
                <a:solidFill>
                  <a:schemeClr val="bg1"/>
                </a:solidFill>
              </a:rPr>
              <a:t>팩토리얼은</a:t>
            </a:r>
            <a:r>
              <a:rPr lang="ko-KR" altLang="en-US" dirty="0">
                <a:solidFill>
                  <a:schemeClr val="bg1"/>
                </a:solidFill>
              </a:rPr>
              <a:t> 계속 곱하는 계산 </a:t>
            </a:r>
          </a:p>
          <a:p>
            <a:pPr fontAlgn="base" latinLnBrk="1"/>
            <a:r>
              <a:rPr lang="ko-KR" altLang="en-US" dirty="0">
                <a:solidFill>
                  <a:schemeClr val="bg1"/>
                </a:solidFill>
              </a:rPr>
              <a:t>만약 초기값을 </a:t>
            </a:r>
            <a:r>
              <a:rPr lang="en-US" altLang="ko-KR" dirty="0">
                <a:solidFill>
                  <a:schemeClr val="bg1"/>
                </a:solidFill>
              </a:rPr>
              <a:t>0</a:t>
            </a:r>
            <a:r>
              <a:rPr lang="ko-KR" altLang="en-US" dirty="0">
                <a:solidFill>
                  <a:schemeClr val="bg1"/>
                </a:solidFill>
              </a:rPr>
              <a:t>으로 하면</a:t>
            </a:r>
            <a:r>
              <a:rPr lang="en-US" altLang="ko-KR" dirty="0">
                <a:solidFill>
                  <a:schemeClr val="bg1"/>
                </a:solidFill>
              </a:rPr>
              <a:t>:</a:t>
            </a:r>
            <a:endParaRPr lang="ko-KR" altLang="en-US" dirty="0">
              <a:solidFill>
                <a:schemeClr val="bg1"/>
              </a:solidFill>
            </a:endParaRPr>
          </a:p>
          <a:p>
            <a:pPr fontAlgn="base" latinLnBrk="1"/>
            <a:r>
              <a:rPr lang="en-US" altLang="ko-KR" dirty="0">
                <a:solidFill>
                  <a:schemeClr val="bg1"/>
                </a:solidFill>
              </a:rPr>
              <a:t>0 × 1 × 2 × 3 × 4 ...</a:t>
            </a:r>
            <a:endParaRPr lang="ko-KR" altLang="en-US" dirty="0">
              <a:solidFill>
                <a:schemeClr val="bg1"/>
              </a:solidFill>
            </a:endParaRPr>
          </a:p>
          <a:p>
            <a:pPr fontAlgn="base" latinLnBrk="1"/>
            <a:r>
              <a:rPr lang="ko-KR" altLang="en-US" dirty="0">
                <a:solidFill>
                  <a:schemeClr val="bg1"/>
                </a:solidFill>
              </a:rPr>
              <a:t>➡ 결과는 항상 </a:t>
            </a:r>
            <a:r>
              <a:rPr lang="en-US" altLang="ko-KR" dirty="0">
                <a:solidFill>
                  <a:schemeClr val="bg1"/>
                </a:solidFill>
              </a:rPr>
              <a:t>0</a:t>
            </a:r>
            <a:r>
              <a:rPr lang="ko-KR" altLang="en-US" dirty="0">
                <a:solidFill>
                  <a:schemeClr val="bg1"/>
                </a:solidFill>
              </a:rPr>
              <a:t>이 된다</a:t>
            </a:r>
            <a:endParaRPr lang="en-US" altLang="ko-KR" dirty="0">
              <a:solidFill>
                <a:schemeClr val="bg1"/>
              </a:solidFill>
            </a:endParaRPr>
          </a:p>
          <a:p>
            <a:pPr fontAlgn="base" latinLnBrk="1"/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곱셈의 </a:t>
            </a:r>
            <a:r>
              <a:rPr lang="ko-KR" altLang="en-US" dirty="0" err="1">
                <a:solidFill>
                  <a:schemeClr val="bg1"/>
                </a:solidFill>
              </a:rPr>
              <a:t>시작값은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r>
              <a:rPr lang="ko-KR" altLang="en-US" dirty="0">
                <a:solidFill>
                  <a:schemeClr val="bg1"/>
                </a:solidFill>
              </a:rPr>
              <a:t>로 설정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sz="2800" b="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0471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4] </a:t>
            </a:r>
            <a:r>
              <a:rPr lang="ko-KR" altLang="en-US" dirty="0" err="1"/>
              <a:t>파이썬에서의</a:t>
            </a:r>
            <a:r>
              <a:rPr lang="ko-KR" altLang="en-US" dirty="0"/>
              <a:t> 들여쓰기와 블록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26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12982"/>
            <a:ext cx="11156518" cy="43982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조건문에서 주어진 조건이 참일 경우 또는 거짓일 경우 처리해야 할 문장이 두 개 이상이라면 대부분의 프로그램 언어에서는 블록이라는 것을 이용하여 하나의 단위로 묶어서 처리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입력한 점수가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점 이상일 경우 “점수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   ⃞ ”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“합격을 축하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!”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라는 두 개의 문장을 출력하는 프로그램을 비교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왼쪽의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언어의 경우에는 조건이 참일 경우에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처리해야 할 두 개의 문장을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{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}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묶어서 블록으로 처리됨을 명시해 주어야 하지만 오른쪽의 파이썬 언어에서는 들여쓰기를 맞춘 모든 문장을 블록으로 처리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36401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[</a:t>
            </a:r>
            <a:r>
              <a:rPr lang="ko-KR" altLang="en-US" sz="4000" dirty="0"/>
              <a:t>참고 </a:t>
            </a:r>
            <a:r>
              <a:rPr lang="en-US" altLang="ko-KR" sz="4000" dirty="0"/>
              <a:t>4] </a:t>
            </a:r>
            <a:r>
              <a:rPr lang="ko-KR" altLang="en-US" sz="4000" dirty="0" err="1"/>
              <a:t>파이썬에서의</a:t>
            </a:r>
            <a:r>
              <a:rPr lang="ko-KR" altLang="en-US" sz="4000" dirty="0"/>
              <a:t> 들여쓰기와 블록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27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CBDCF0-283F-4A4F-AD0E-0780BE78F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220" y="1396914"/>
            <a:ext cx="8426020" cy="465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51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참고 </a:t>
            </a:r>
            <a:r>
              <a:rPr lang="en-US" altLang="ko-KR" dirty="0"/>
              <a:t>4] </a:t>
            </a:r>
            <a:r>
              <a:rPr lang="ko-KR" altLang="en-US" dirty="0" err="1"/>
              <a:t>파이썬에서의</a:t>
            </a:r>
            <a:r>
              <a:rPr lang="ko-KR" altLang="en-US" dirty="0"/>
              <a:t> 들여쓰기와 블록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28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12983"/>
            <a:ext cx="11156518" cy="11312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앞의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while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문에서도 주어진 조건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&lt; 11)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참일 경우에 처리해야 할 문장은 들여쓰기를 맞춘 다음 두 개의 문장을 블록으로 묶어서 처리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D8E8FF-1AD9-4385-800A-61B93731A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36" y="2516962"/>
            <a:ext cx="3016217" cy="300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22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2.2.4 </a:t>
            </a:r>
            <a:r>
              <a:rPr lang="ko-KR" altLang="en-US" dirty="0"/>
              <a:t>특별한 기능을 처리하는 단위</a:t>
            </a:r>
            <a:r>
              <a:rPr lang="en-US" altLang="ko-KR" dirty="0"/>
              <a:t>, </a:t>
            </a:r>
            <a:r>
              <a:rPr lang="ko-KR" altLang="en-US" dirty="0"/>
              <a:t>함수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29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12982"/>
            <a:ext cx="11156518" cy="48397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MS Excel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평균을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계산할때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=AVERAGE(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범위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이용하며 이러한 일을 하는 프로그램 단위를 함수라 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파이썬에서도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함수는 같은 용도로 활용하며 앞서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for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문에서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range()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함수라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함수는 이미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만들어져있는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라이브러리 함수를 이용할 수도 있고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사용자의 필요에 의해 만들어서 사용하기도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MS Excel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주어진 문자를 주어진 숫자만큼 반복하는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rept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라는 함수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2-34]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있는데 이를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함수로 만들어본다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61059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2400" dirty="0"/>
              <a:t>&lt;</a:t>
            </a:r>
            <a:r>
              <a:rPr lang="ko-KR" altLang="en-US" sz="2400" dirty="0"/>
              <a:t>예제 </a:t>
            </a:r>
            <a:r>
              <a:rPr lang="en-US" altLang="ko-KR" sz="2400" dirty="0"/>
              <a:t>2-6&gt; </a:t>
            </a:r>
            <a:r>
              <a:rPr lang="ko-KR" altLang="en-US" sz="2400" dirty="0"/>
              <a:t>주어진 숫자만큼 문자를 반복하는 함수 </a:t>
            </a:r>
            <a:r>
              <a:rPr lang="en-US" altLang="ko-KR" sz="2400" dirty="0" err="1"/>
              <a:t>rept</a:t>
            </a:r>
            <a:r>
              <a:rPr lang="en-US" altLang="ko-KR" sz="2400" dirty="0"/>
              <a:t>()</a:t>
            </a:r>
            <a:r>
              <a:rPr lang="ko-KR" altLang="en-US" sz="2400" dirty="0"/>
              <a:t>를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30</a:t>
            </a:fld>
            <a:endParaRPr lang="en-US" dirty="0">
              <a:latin typeface="+mn-lt"/>
            </a:endParaRP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DCD0983C-C55D-468B-BE3D-8107753A7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98621"/>
            <a:ext cx="3942929" cy="135117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5E64519-CDAA-454C-A290-0CBB5979A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284" y="2674663"/>
            <a:ext cx="8254448" cy="390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21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1095284" cy="773425"/>
          </a:xfrm>
        </p:spPr>
        <p:txBody>
          <a:bodyPr/>
          <a:lstStyle/>
          <a:p>
            <a:pPr fontAlgn="base" latinLnBrk="1"/>
            <a:r>
              <a:rPr lang="en-US" altLang="ko-KR" sz="2800" dirty="0"/>
              <a:t>&lt;</a:t>
            </a:r>
            <a:r>
              <a:rPr lang="ko-KR" altLang="en-US" sz="2800" dirty="0"/>
              <a:t>예제 </a:t>
            </a:r>
            <a:r>
              <a:rPr lang="en-US" altLang="ko-KR" sz="2800" dirty="0"/>
              <a:t>2-6&gt; </a:t>
            </a:r>
            <a:r>
              <a:rPr lang="ko-KR" altLang="en-US" sz="2800" dirty="0"/>
              <a:t>주어진 숫자만큼 문자를 반복하는 함수 </a:t>
            </a:r>
            <a:r>
              <a:rPr lang="en-US" altLang="ko-KR" sz="2800" dirty="0" err="1"/>
              <a:t>rept</a:t>
            </a:r>
            <a:r>
              <a:rPr lang="en-US" altLang="ko-KR" sz="2800" dirty="0"/>
              <a:t>()</a:t>
            </a:r>
            <a:r>
              <a:rPr lang="ko-KR" altLang="en-US" sz="2800" dirty="0"/>
              <a:t>를 작성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31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12983"/>
            <a:ext cx="11156518" cy="2093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파이썬에서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변수의 데이터 형은 입력된 값에 의해 결정되므로 문자를 누적하기 위한 변수로 문자형 변수를 사용한다는 것을 나타내야 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반복이 일어나기 전 최초의 값으로 공백을 사용한 것이다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이것은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&lt;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2-5&gt;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변수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i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값을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누적시키기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위한 변수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sum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초기값으로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저장하여 사용하는 것과 같은 이치이다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F9A96F-F6C6-4B30-A8C5-28AC22812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827" y="3306871"/>
            <a:ext cx="8231761" cy="302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224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&lt;</a:t>
            </a:r>
            <a:r>
              <a:rPr lang="ko-KR" altLang="en-US" sz="3000" dirty="0"/>
              <a:t>예제 </a:t>
            </a:r>
            <a:r>
              <a:rPr lang="en-US" altLang="ko-KR" sz="3000" dirty="0"/>
              <a:t>2-7&gt; </a:t>
            </a:r>
            <a:r>
              <a:rPr lang="ko-KR" altLang="en-US" sz="3000" dirty="0"/>
              <a:t>결과값이 있는 함수의 예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32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A9A86FF-17F7-497D-9D89-E244C4D5E1A7}"/>
              </a:ext>
            </a:extLst>
          </p:cNvPr>
          <p:cNvSpPr txBox="1">
            <a:spLocks/>
          </p:cNvSpPr>
          <p:nvPr/>
        </p:nvSpPr>
        <p:spPr>
          <a:xfrm>
            <a:off x="594360" y="1212983"/>
            <a:ext cx="11156518" cy="189083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avr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두 개의 정수에 대한 평균을 반환하므로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print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문을 이용하여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print(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avr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a,b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))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결과를 출력할 수도 있고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result = </a:t>
            </a:r>
            <a:r>
              <a:rPr lang="en-US" altLang="ko-KR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avr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(a, b)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결과값을 변수에 저장하여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사용할 수도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결과값이 있는 함수로 만들기위해서 함수의 마지막 부분에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return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문을 사용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C02ED3-04A3-4243-AACE-2C15A4607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435" y="3103815"/>
            <a:ext cx="7953126" cy="347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727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print </a:t>
            </a:r>
            <a:r>
              <a:rPr lang="ko-KR" altLang="en-US" dirty="0"/>
              <a:t>함수와 연산자의 사용법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33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4990A2-7FE8-4D0B-BCB8-F882670ED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142" y="1213484"/>
            <a:ext cx="6887998" cy="551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50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print </a:t>
            </a:r>
            <a:r>
              <a:rPr lang="ko-KR" altLang="en-US" dirty="0"/>
              <a:t>함수와 연산자의 사용법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34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1F062A-B9EF-42A0-869D-55733499F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321" y="1858223"/>
            <a:ext cx="9364342" cy="38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12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데이터 입력과 변수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35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53886"/>
            <a:ext cx="11359411" cy="45830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변수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 안에서 특정 문자나 숫자를 저장하는 공간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변수이름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프로그래머가 정하며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프로그램의 가독성을 위하여 변수에 어떤 값이 저장될지를 나타내는 이름으로 정하며 다음과 같은 규칙이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①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변수 이름에 사용할 수 있는 문자는 영문 소문자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영문 대문자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한글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숫자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(0~9),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언더바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(_)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이며 변수 이름의 첫 글자는 문자를 사용해야 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②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프로그램에서 특정한 용도로 사용되는 단어를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예약어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(reserved word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keyword)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라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하는데 이 단어들은 변수 이름으로 사용하지 않는다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6403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조건에 의한 판단과 선택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36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53886"/>
            <a:ext cx="11359411" cy="103816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비교 연산의 결과는 참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(True)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거짓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(False)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둘 중의 하나이며 참인 경우와 거짓인 경우를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구분하여 어떤 판단을 내릴지를 결정한다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70FAFF-C89E-4466-81F7-ED2AFF00D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238" y="2469640"/>
            <a:ext cx="8522580" cy="323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53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조건에 의한 판단과 선택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37</a:t>
            </a:fld>
            <a:endParaRPr lang="en-US" dirty="0"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8450BA3-919F-4603-A650-0EBDEDDD5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238380"/>
            <a:ext cx="8102938" cy="27950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30796B6-05BD-4B63-8732-EDF713EC0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483" y="4545708"/>
            <a:ext cx="8431308" cy="17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06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조건에 의한 판단과 선택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38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E201B1-0738-4BEA-8429-3354761C9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81149"/>
            <a:ext cx="9190910" cy="251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362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순환과 반복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39</a:t>
            </a:fld>
            <a:endParaRPr lang="en-US" dirty="0"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EF7FDD3-E15A-4100-9E18-479F3828D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54" y="1464371"/>
            <a:ext cx="5133913" cy="20679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A12CCE-C556-427F-B1F4-FBE17EAD7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767" y="1464371"/>
            <a:ext cx="5379399" cy="19145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C09E381-FF68-4331-B0BC-727BC542B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695" y="4120410"/>
            <a:ext cx="7311237" cy="23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099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for</a:t>
            </a:r>
            <a:r>
              <a:rPr lang="ko-KR" altLang="en-US" dirty="0"/>
              <a:t>문과 </a:t>
            </a:r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40</a:t>
            </a:fld>
            <a:endParaRPr lang="en-US" dirty="0"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860CFCA-70FE-4908-B089-167935524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790" y="1616013"/>
            <a:ext cx="9364419" cy="329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316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들여쓰기와 블록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41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53886"/>
            <a:ext cx="11359411" cy="103816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조건문에서 주어진 조건이 참일 경우 또는 거짓일 경우 처리해야 할 문장이 두 개 </a:t>
            </a:r>
            <a:r>
              <a:rPr lang="ko-KR" altLang="en-US" sz="2100" b="0">
                <a:latin typeface="한컴 고딕" panose="02000500000000000000" pitchFamily="2" charset="-127"/>
                <a:ea typeface="한컴 고딕" panose="02000500000000000000" pitchFamily="2" charset="-127"/>
              </a:rPr>
              <a:t>이상이라면 대부분의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프로그램 언어에서는 블록이라는 것을 이용하여 하나의 단위로 묶어서 처리한다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0C6D2F-061E-4A2D-B639-67AA9114C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150" y="2690512"/>
            <a:ext cx="4834820" cy="206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061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[</a:t>
            </a:r>
            <a:r>
              <a:rPr lang="ko-KR" altLang="en-US" sz="4000" dirty="0"/>
              <a:t>단원정리</a:t>
            </a:r>
            <a:r>
              <a:rPr lang="en-US" altLang="ko-KR" sz="4000" dirty="0"/>
              <a:t>] </a:t>
            </a:r>
            <a:r>
              <a:rPr lang="ko-KR" altLang="en-US" sz="4000" dirty="0"/>
              <a:t>특별한 기능을 처리하는 단위</a:t>
            </a:r>
            <a:r>
              <a:rPr lang="en-US" altLang="ko-KR" sz="4000" dirty="0"/>
              <a:t>, </a:t>
            </a:r>
            <a:r>
              <a:rPr lang="ko-KR" altLang="en-US" sz="4000" dirty="0"/>
              <a:t>함수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42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07707"/>
            <a:ext cx="11059609" cy="22520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함수란 특정한 기능을 처리하기 위한 프로그램 단위로서 이미 </a:t>
            </a:r>
            <a:r>
              <a:rPr lang="ko-KR" altLang="en-US" sz="19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만들어져있는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라이브러리 함수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예로 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print(), input()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등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이용할 수도 있고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사용자의 필요에 의해 만들어서 사용하기도 한다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엑셀에서 데이터의 평균을 계산하기 위한 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=AVERAGE(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셀 범위 또는 값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함수의 예이며 평균을 </a:t>
            </a:r>
            <a:endParaRPr lang="en-US" altLang="ko-KR" sz="19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계산할 때 별도의 공식을 사용하지 않고 단지 함수 이름을 불러서 사용하지만 내부적으로는 입력된 데이터에 대해 평균값을 계산하는 과정이 포함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정의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되어 있다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F8AAC6-83EE-4D64-8C61-8D1E68127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604" y="3359783"/>
            <a:ext cx="8746365" cy="309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85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[</a:t>
            </a:r>
            <a:r>
              <a:rPr lang="ko-KR" altLang="en-US" sz="4000" dirty="0"/>
              <a:t>단원정리</a:t>
            </a:r>
            <a:r>
              <a:rPr lang="en-US" altLang="ko-KR" sz="4000" dirty="0"/>
              <a:t>] </a:t>
            </a:r>
            <a:r>
              <a:rPr lang="ko-KR" altLang="en-US" sz="4000" dirty="0"/>
              <a:t>특별한 기능을 </a:t>
            </a:r>
            <a:r>
              <a:rPr lang="ko-KR" altLang="en-US" sz="3600" dirty="0"/>
              <a:t>처리하는</a:t>
            </a:r>
            <a:r>
              <a:rPr lang="ko-KR" altLang="en-US" sz="4000" dirty="0"/>
              <a:t> 단위</a:t>
            </a:r>
            <a:r>
              <a:rPr lang="en-US" altLang="ko-KR" sz="4000" dirty="0"/>
              <a:t>, </a:t>
            </a:r>
            <a:r>
              <a:rPr lang="ko-KR" altLang="en-US" sz="4000" dirty="0"/>
              <a:t>함수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2026-03-10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43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1" y="1153886"/>
            <a:ext cx="10873740" cy="31425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다음의 함수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avr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두 개의 정수에 대한 평균을 반환하므로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print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문을 이용하여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print(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avr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a,b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))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결과를 출력할 수도 있고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result = </a:t>
            </a:r>
            <a:r>
              <a:rPr lang="en-US" altLang="ko-KR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avr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(a, b)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같이 결과값을 </a:t>
            </a: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변수에 저장하여 사용할 수도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20CE566-6A15-414E-BECD-6A78823DD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828" y="2890046"/>
            <a:ext cx="8514040" cy="336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0931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 anchorCtr="0">
        <a:noAutofit/>
      </a:bodyPr>
      <a:lstStyle>
        <a:defPPr algn="l" fontAlgn="base" latinLnBrk="1">
          <a:lnSpc>
            <a:spcPct val="100000"/>
          </a:lnSpc>
          <a:defRPr sz="2800" b="0" dirty="0" smtClean="0">
            <a:latin typeface="한컴 고딕" panose="02000500000000000000" pitchFamily="2" charset="-127"/>
            <a:ea typeface="한컴 고딕" panose="02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0FE134-9032-4C7F-BC57-C7DE3F833363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230e9df3-be65-4c73-a93b-d1236ebd677e"/>
    <ds:schemaRef ds:uri="http://purl.org/dc/terms/"/>
    <ds:schemaRef ds:uri="http://purl.org/dc/elements/1.1/"/>
    <ds:schemaRef ds:uri="16c05727-aa75-4e4a-9b5f-8a80a1165891"/>
    <ds:schemaRef ds:uri="71af3243-3dd4-4a8d-8c0d-dd76da1f02a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2317</Words>
  <Application>Microsoft Office PowerPoint</Application>
  <PresentationFormat>와이드스크린</PresentationFormat>
  <Paragraphs>348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2" baseType="lpstr">
      <vt:lpstr>(한글 글꼴 사용)</vt:lpstr>
      <vt:lpstr>나눔바른고딕</vt:lpstr>
      <vt:lpstr>나눔스퀘어 네오 Regular</vt:lpstr>
      <vt:lpstr>한컴 고딕</vt:lpstr>
      <vt:lpstr>Arial</vt:lpstr>
      <vt:lpstr>Calibri</vt:lpstr>
      <vt:lpstr>Franklin Gothic Book</vt:lpstr>
      <vt:lpstr>Franklin Gothic Demi</vt:lpstr>
      <vt:lpstr>Custom</vt:lpstr>
      <vt:lpstr>빅데이터 분석 개론</vt:lpstr>
      <vt:lpstr>강의내용</vt:lpstr>
      <vt:lpstr>2.2 기초문법</vt:lpstr>
      <vt:lpstr>2.2.1 print 함수와 연산자의 사용법 </vt:lpstr>
      <vt:lpstr>2.2.1 print 함수와 연산자의 사용법 </vt:lpstr>
      <vt:lpstr>2.2.2 데이터의 입력과 변수</vt:lpstr>
      <vt:lpstr>2.2.2 데이터의 입력과 변수</vt:lpstr>
      <vt:lpstr>[참고 3] 변수의 이름</vt:lpstr>
      <vt:lpstr>[참고 4] 변수 형(data type)</vt:lpstr>
      <vt:lpstr>2.2.3 프로그램의 제어</vt:lpstr>
      <vt:lpstr>2.2.3 프로그램의 제어</vt:lpstr>
      <vt:lpstr>2.2.3 프로그램의 제어</vt:lpstr>
      <vt:lpstr>&lt;예제 2-3&gt; 나이에 따른 버스 요금의 출력</vt:lpstr>
      <vt:lpstr>&lt;예제 2-3&gt; 나이에 따른 버스 요금의 출력</vt:lpstr>
      <vt:lpstr>2.2.3 프로그램의 제어</vt:lpstr>
      <vt:lpstr>2.2.3 프로그램의 제어</vt:lpstr>
      <vt:lpstr>&lt;예제 2-4&gt; 일정한 횟수를 반복하는 for 문의 사용법</vt:lpstr>
      <vt:lpstr>&lt;예제 2-4&gt; 일정한 횟수를 반복하는 for 문의 사용법</vt:lpstr>
      <vt:lpstr>&lt;예제 2-4&gt; 일정한 횟수를 반복하는 for 문의 사용법</vt:lpstr>
      <vt:lpstr>&lt;예제 2-4&gt; 일정한 횟수를 반복하는 for 문의 사용법</vt:lpstr>
      <vt:lpstr>for문과 while문</vt:lpstr>
      <vt:lpstr>&lt;예제 2-5&gt; 조건이 참인 경우에 반복하는 while 문</vt:lpstr>
      <vt:lpstr>&lt;예제 2-5&gt; 조건이 참인 경우에 반복하는 while 문</vt:lpstr>
      <vt:lpstr>&lt;예제 2-5&gt; 조건이 참인 경우에 반복하는 while 문</vt:lpstr>
      <vt:lpstr>&lt;예제 2-5&gt; 조건이 참인 경우에 반복하는 while 문</vt:lpstr>
      <vt:lpstr>[참고 4] 파이썬에서의 들여쓰기와 블록</vt:lpstr>
      <vt:lpstr>[참고 4] 파이썬에서의 들여쓰기와 블록</vt:lpstr>
      <vt:lpstr>[참고 4] 파이썬에서의 들여쓰기와 블록</vt:lpstr>
      <vt:lpstr>2.2.4 특별한 기능을 처리하는 단위, 함수</vt:lpstr>
      <vt:lpstr>&lt;예제 2-6&gt; 주어진 숫자만큼 문자를 반복하는 함수 rept()를 작성</vt:lpstr>
      <vt:lpstr>&lt;예제 2-6&gt; 주어진 숫자만큼 문자를 반복하는 함수 rept()를 작성</vt:lpstr>
      <vt:lpstr>&lt;예제 2-7&gt; 결과값이 있는 함수의 예</vt:lpstr>
      <vt:lpstr>[단원정리] print 함수와 연산자의 사용법 </vt:lpstr>
      <vt:lpstr>[단원정리] print 함수와 연산자의 사용법 </vt:lpstr>
      <vt:lpstr>[단원정리] 데이터 입력과 변수</vt:lpstr>
      <vt:lpstr>[단원정리] 조건에 의한 판단과 선택</vt:lpstr>
      <vt:lpstr>[단원정리] 조건에 의한 판단과 선택</vt:lpstr>
      <vt:lpstr>[단원정리] 조건에 의한 판단과 선택</vt:lpstr>
      <vt:lpstr>[단원정리] 순환과 반복</vt:lpstr>
      <vt:lpstr>[단원정리] for문과 while문</vt:lpstr>
      <vt:lpstr>[단원정리] 들여쓰기와 블록</vt:lpstr>
      <vt:lpstr>[단원정리] 특별한 기능을 처리하는 단위, 함수</vt:lpstr>
      <vt:lpstr>[단원정리] 특별한 기능을 처리하는 단위, 함수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2026-03-10T00:23:45Z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