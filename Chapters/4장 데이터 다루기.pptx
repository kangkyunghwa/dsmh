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70"/>
  </p:notesMasterIdLst>
  <p:handoutMasterIdLst>
    <p:handoutMasterId r:id="rId71"/>
  </p:handoutMasterIdLst>
  <p:sldIdLst>
    <p:sldId id="410" r:id="rId5"/>
    <p:sldId id="546" r:id="rId6"/>
    <p:sldId id="413" r:id="rId7"/>
    <p:sldId id="547" r:id="rId8"/>
    <p:sldId id="545" r:id="rId9"/>
    <p:sldId id="466" r:id="rId10"/>
    <p:sldId id="416" r:id="rId11"/>
    <p:sldId id="425" r:id="rId12"/>
    <p:sldId id="518" r:id="rId13"/>
    <p:sldId id="467" r:id="rId14"/>
    <p:sldId id="469" r:id="rId15"/>
    <p:sldId id="468" r:id="rId16"/>
    <p:sldId id="519" r:id="rId17"/>
    <p:sldId id="427" r:id="rId18"/>
    <p:sldId id="521" r:id="rId19"/>
    <p:sldId id="522" r:id="rId20"/>
    <p:sldId id="523" r:id="rId21"/>
    <p:sldId id="524" r:id="rId22"/>
    <p:sldId id="428" r:id="rId23"/>
    <p:sldId id="548" r:id="rId24"/>
    <p:sldId id="549" r:id="rId25"/>
    <p:sldId id="550" r:id="rId26"/>
    <p:sldId id="552" r:id="rId27"/>
    <p:sldId id="551" r:id="rId28"/>
    <p:sldId id="475" r:id="rId29"/>
    <p:sldId id="525" r:id="rId30"/>
    <p:sldId id="526" r:id="rId31"/>
    <p:sldId id="476" r:id="rId32"/>
    <p:sldId id="527" r:id="rId33"/>
    <p:sldId id="477" r:id="rId34"/>
    <p:sldId id="478" r:id="rId35"/>
    <p:sldId id="479" r:id="rId36"/>
    <p:sldId id="480" r:id="rId37"/>
    <p:sldId id="528" r:id="rId38"/>
    <p:sldId id="481" r:id="rId39"/>
    <p:sldId id="529" r:id="rId40"/>
    <p:sldId id="530" r:id="rId41"/>
    <p:sldId id="488" r:id="rId42"/>
    <p:sldId id="491" r:id="rId43"/>
    <p:sldId id="531" r:id="rId44"/>
    <p:sldId id="430" r:id="rId45"/>
    <p:sldId id="506" r:id="rId46"/>
    <p:sldId id="507" r:id="rId47"/>
    <p:sldId id="510" r:id="rId48"/>
    <p:sldId id="532" r:id="rId49"/>
    <p:sldId id="533" r:id="rId50"/>
    <p:sldId id="511" r:id="rId51"/>
    <p:sldId id="512" r:id="rId52"/>
    <p:sldId id="513" r:id="rId53"/>
    <p:sldId id="534" r:id="rId54"/>
    <p:sldId id="535" r:id="rId55"/>
    <p:sldId id="536" r:id="rId56"/>
    <p:sldId id="537" r:id="rId57"/>
    <p:sldId id="538" r:id="rId58"/>
    <p:sldId id="539" r:id="rId59"/>
    <p:sldId id="540" r:id="rId60"/>
    <p:sldId id="541" r:id="rId61"/>
    <p:sldId id="542" r:id="rId62"/>
    <p:sldId id="543" r:id="rId63"/>
    <p:sldId id="461" r:id="rId64"/>
    <p:sldId id="514" r:id="rId65"/>
    <p:sldId id="544" r:id="rId66"/>
    <p:sldId id="515" r:id="rId67"/>
    <p:sldId id="516" r:id="rId68"/>
    <p:sldId id="517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6238" autoAdjust="0"/>
  </p:normalViewPr>
  <p:slideViewPr>
    <p:cSldViewPr snapToGrid="0">
      <p:cViewPr varScale="1">
        <p:scale>
          <a:sx n="70" d="100"/>
          <a:sy n="70" d="100"/>
        </p:scale>
        <p:origin x="432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33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pPr/>
              <a:t>‹#›</a:t>
            </a:fld>
            <a:r>
              <a:rPr lang="en-US" dirty="0"/>
              <a:t>/60</a:t>
            </a: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BCA7E5-BC47-4B82-81BC-931F6059DA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A51F-8993-4C5E-A46B-A38B68D203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5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67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998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61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45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100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040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0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083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36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6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457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669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339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384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31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22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065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6562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4131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7895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2002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2214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7752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16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87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461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914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4081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9268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3371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919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4732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2372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318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722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3127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8956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2671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3746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241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1058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3525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7669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5914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7370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943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935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87363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5533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9456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212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648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1083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3016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07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0" y="411479"/>
            <a:ext cx="6513104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83200" y="4005626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58" y="910627"/>
            <a:ext cx="6787747" cy="75854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FD97A6B-37B9-4B45-8753-2537594BD9E7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59" y="2065713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049714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77378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baseline="0">
                <a:latin typeface="(한글 글꼴 사용)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 baseline="0">
                <a:latin typeface="(한글 글꼴 사용)"/>
                <a:ea typeface="한컴 고딕" panose="02000500000000000000" pitchFamily="2" charset="-127"/>
              </a:defRPr>
            </a:lvl1pPr>
            <a:lvl2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2pPr>
            <a:lvl3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3pPr>
            <a:lvl4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4pPr>
            <a:lvl5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72464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943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77F9F-A58C-4808-8074-96E40A336903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1882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EDFA48-5BD9-4DF2-8D71-CED9532EBB8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7883C47-1A2A-4F57-A0D5-1FFCF1E9D1A7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1AB338-7267-4940-8A5B-18AADA9CD191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993E2C-76D2-4EC0-8F76-FCD99F85403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142A697-CF5B-4AE4-BC7B-718A66428128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173018"/>
            <a:ext cx="10382250" cy="5003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604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06299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6DE19D1-2384-4B4C-ADE9-983849E25309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3CEA9A-D793-4A5A-80EE-73C0E2D9A518}"/>
              </a:ext>
            </a:extLst>
          </p:cNvPr>
          <p:cNvSpPr txBox="1"/>
          <p:nvPr userDrawn="1"/>
        </p:nvSpPr>
        <p:spPr>
          <a:xfrm>
            <a:off x="822037" y="6295276"/>
            <a:ext cx="452581" cy="24765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l" fontAlgn="base" latinLnBrk="1">
              <a:lnSpc>
                <a:spcPct val="100000"/>
              </a:lnSpc>
            </a:pPr>
            <a:r>
              <a:rPr lang="en-US" altLang="ko-KR" sz="1100" b="0" dirty="0">
                <a:solidFill>
                  <a:srgbClr val="FF0000"/>
                </a:solidFill>
                <a:latin typeface="+mj-lt"/>
                <a:ea typeface="한컴 고딕" panose="02000500000000000000" pitchFamily="2" charset="-127"/>
              </a:rPr>
              <a:t>/57</a:t>
            </a:r>
            <a:endParaRPr lang="ko-KR" altLang="en-US" sz="1100" b="0" dirty="0">
              <a:solidFill>
                <a:srgbClr val="FF0000"/>
              </a:solidFill>
              <a:latin typeface="+mj-lt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300" y="629481"/>
            <a:ext cx="6792685" cy="3291840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분석 개론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2F7D71-7570-0446-A705-65B127F4949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r>
              <a:rPr lang="en-US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DEA749-351B-9D38-2948-BBFBC2BF46E4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7115C2E-B0AB-D67D-6069-5A6B484A5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66" y="1027674"/>
            <a:ext cx="10920761" cy="5170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ko-KR" altLang="ko-KR" sz="2100" b="1" dirty="0">
                <a:solidFill>
                  <a:srgbClr val="0A0A0A"/>
                </a:solidFill>
                <a:cs typeface="Arial" panose="020B0604020202020204" pitchFamily="34" charset="0"/>
              </a:rPr>
              <a:t>목적:</a:t>
            </a:r>
            <a:r>
              <a:rPr lang="ko-KR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 데이터의 전반적인 모양새 파악, </a:t>
            </a:r>
            <a:r>
              <a:rPr lang="ko-KR" altLang="ko-KR" sz="2100" dirty="0">
                <a:solidFill>
                  <a:srgbClr val="FF0000"/>
                </a:solidFill>
                <a:cs typeface="Arial" panose="020B0604020202020204" pitchFamily="34" charset="0"/>
              </a:rPr>
              <a:t>이상치(</a:t>
            </a:r>
            <a:r>
              <a:rPr lang="ko-KR" altLang="ko-KR" sz="2100" dirty="0" err="1">
                <a:solidFill>
                  <a:srgbClr val="FF0000"/>
                </a:solidFill>
                <a:cs typeface="Arial" panose="020B0604020202020204" pitchFamily="34" charset="0"/>
              </a:rPr>
              <a:t>Outlier</a:t>
            </a:r>
            <a:r>
              <a:rPr lang="ko-KR" altLang="ko-KR" sz="2100" dirty="0">
                <a:solidFill>
                  <a:srgbClr val="FF0000"/>
                </a:solidFill>
                <a:cs typeface="Arial" panose="020B0604020202020204" pitchFamily="34" charset="0"/>
              </a:rPr>
              <a:t>) 발견</a:t>
            </a:r>
            <a:r>
              <a:rPr lang="ko-KR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, 데이터 </a:t>
            </a:r>
            <a:r>
              <a:rPr lang="ko-KR" altLang="ko-KR" sz="2100" dirty="0" err="1">
                <a:solidFill>
                  <a:srgbClr val="FF0000"/>
                </a:solidFill>
                <a:cs typeface="Arial" panose="020B0604020202020204" pitchFamily="34" charset="0"/>
              </a:rPr>
              <a:t>전처리</a:t>
            </a:r>
            <a:r>
              <a:rPr lang="ko-KR" altLang="ko-KR" sz="2100" dirty="0">
                <a:solidFill>
                  <a:srgbClr val="FF0000"/>
                </a:solidFill>
                <a:cs typeface="Arial" panose="020B0604020202020204" pitchFamily="34" charset="0"/>
              </a:rPr>
              <a:t> 및 데이터 요약</a:t>
            </a:r>
            <a:endParaRPr lang="ko-KR" altLang="ko-KR" sz="2100" dirty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1. 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수집된 데이터의 특성을 요약, 묘사, 설명하는 통계 기법</a:t>
            </a:r>
            <a:endParaRPr kumimoji="0" lang="en-US" altLang="ko-KR" sz="21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 2.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데이터의 분포와 특성을 파악하는 기초 분석</a:t>
            </a:r>
            <a:endParaRPr kumimoji="0" lang="en-US" altLang="ko-KR" sz="21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 3. 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cs typeface="Arial" panose="020B0604020202020204" pitchFamily="34" charset="0"/>
              </a:rPr>
              <a:t>평균, 중앙값, 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cs typeface="Arial" panose="020B0604020202020204" pitchFamily="34" charset="0"/>
              </a:rPr>
              <a:t>최빈값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cs typeface="Arial" panose="020B0604020202020204" pitchFamily="34" charset="0"/>
              </a:rPr>
              <a:t>, 표준편차, 분산, 최댓값, 최솟값, 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cs typeface="Arial" panose="020B0604020202020204" pitchFamily="34" charset="0"/>
              </a:rPr>
              <a:t>왜도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cs typeface="Arial" panose="020B0604020202020204" pitchFamily="34" charset="0"/>
              </a:rPr>
              <a:t>, 첨도 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등을 사용하여 데이터 </a:t>
            </a:r>
            <a:endParaRPr kumimoji="0" lang="en-US" altLang="ko-KR" sz="21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     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전체의 형태와 중심 경향, 퍼짐 정도를 정확히 </a:t>
            </a:r>
            <a:endParaRPr kumimoji="0" lang="ko-KR" altLang="ko-KR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4.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핵심 요약</a:t>
            </a:r>
            <a:endParaRPr kumimoji="0" lang="ko-KR" altLang="ko-KR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>
              <a:buFontTx/>
              <a:buChar char="•"/>
            </a:pP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주요 지표:</a:t>
            </a:r>
            <a:endParaRPr kumimoji="0" lang="ko-KR" altLang="ko-KR" sz="21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집중화 경향</a:t>
            </a: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: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 평균(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Mean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), 중앙값(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Median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), 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최빈값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(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Mode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분산도(산포):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 표준편차(Standard 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Deviation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), 분산(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Variance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), </a:t>
            </a:r>
            <a:endParaRPr kumimoji="0" lang="en-US" altLang="ko-KR" sz="21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                        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범위(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Range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), 사분위수(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Quartile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분포의 모양</a:t>
            </a: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:</a:t>
            </a: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왜도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(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Skewness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), 첨도(</a:t>
            </a:r>
            <a:r>
              <a:rPr kumimoji="0" lang="ko-KR" altLang="ko-KR" sz="21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Kurtosis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).</a:t>
            </a:r>
          </a:p>
          <a:p>
            <a:pPr lvl="1">
              <a:buFontTx/>
              <a:buChar char="•"/>
            </a:pP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활용 데이터: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 주로 연속형 변수(연령, 점수 등)에 사용.</a:t>
            </a:r>
          </a:p>
          <a:p>
            <a:pPr lvl="1">
              <a:buFontTx/>
              <a:buChar char="•"/>
            </a:pP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분석 과정</a:t>
            </a:r>
            <a:r>
              <a:rPr kumimoji="0" lang="en-US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ko-KR" sz="21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: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 데이터 수집 -&gt; 데이터 정제(이상치 확인) </a:t>
            </a:r>
            <a:endParaRPr kumimoji="0" lang="en-US" altLang="ko-KR" sz="21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cs typeface="Arial" panose="020B0604020202020204" pitchFamily="34" charset="0"/>
            </a:endParaRPr>
          </a:p>
          <a:p>
            <a:pPr lvl="1"/>
            <a:r>
              <a:rPr lang="en-US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                         </a:t>
            </a:r>
            <a:r>
              <a:rPr lang="ko-KR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-&gt;</a:t>
            </a:r>
            <a:r>
              <a:rPr lang="en-US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 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기술 통계량 계산(평균, 표준편차 등) -&gt; 분포 확인(그래프, 표)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5. 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기술 통계는 분석의 첫 단계로, 표본 자체의 특성을 기술하여 추리 통계(가설 검정)를 위한 </a:t>
            </a:r>
            <a:endParaRPr kumimoji="0" lang="en-US" altLang="ko-KR" sz="21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100" dirty="0">
                <a:solidFill>
                  <a:srgbClr val="0A0A0A"/>
                </a:solidFill>
                <a:cs typeface="Arial" panose="020B0604020202020204" pitchFamily="34" charset="0"/>
              </a:rPr>
              <a:t>     </a:t>
            </a:r>
            <a:r>
              <a:rPr kumimoji="0" lang="ko-KR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기초 자료로 필수적으로 </a:t>
            </a:r>
            <a:r>
              <a:rPr kumimoji="0" lang="en-US" altLang="ko-KR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ko-KR" altLang="en-US" sz="21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cs typeface="Arial" panose="020B0604020202020204" pitchFamily="34" charset="0"/>
              </a:rPr>
              <a:t>활용</a:t>
            </a:r>
            <a:endParaRPr kumimoji="0" lang="ko-KR" altLang="ko-KR" sz="21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F7AD1AA5-9DE2-BA98-373D-FD779F19EE89}"/>
              </a:ext>
            </a:extLst>
          </p:cNvPr>
          <p:cNvSpPr txBox="1">
            <a:spLocks/>
          </p:cNvSpPr>
          <p:nvPr/>
        </p:nvSpPr>
        <p:spPr>
          <a:xfrm>
            <a:off x="594359" y="280561"/>
            <a:ext cx="11014282" cy="6132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2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 : </a:t>
            </a:r>
            <a:r>
              <a:rPr lang="ko-KR" altLang="ko-KR" sz="32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기술 통계 분석(</a:t>
            </a:r>
            <a:r>
              <a:rPr lang="ko-KR" altLang="ko-KR" sz="3200" dirty="0" err="1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ko-KR" altLang="ko-KR" sz="32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3200" dirty="0" err="1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lang="ko-KR" altLang="ko-KR" sz="32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ko-KR" sz="32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32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개념 알기</a:t>
            </a:r>
            <a:r>
              <a:rPr lang="ko-KR" altLang="ko-KR" sz="32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sz="3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785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2883" y="3900132"/>
            <a:ext cx="6718265" cy="2188599"/>
          </a:xfrm>
        </p:spPr>
        <p:txBody>
          <a:bodyPr>
            <a:normAutofit/>
          </a:bodyPr>
          <a:lstStyle/>
          <a:p>
            <a:pPr fontAlgn="base" latinLnBrk="1"/>
            <a:r>
              <a:rPr lang="ko-KR" altLang="en-US" dirty="0">
                <a:latin typeface="한컴 고딕" panose="02000500000000000000" pitchFamily="2" charset="-127"/>
              </a:rPr>
              <a:t>리스트와 배열의 사용 방법</a:t>
            </a:r>
          </a:p>
          <a:p>
            <a:pPr fontAlgn="base" latinLnBrk="1"/>
            <a:r>
              <a:rPr lang="ko-KR" altLang="en-US" dirty="0">
                <a:latin typeface="한컴 고딕" panose="02000500000000000000" pitchFamily="2" charset="-127"/>
              </a:rPr>
              <a:t>데이터의 구조를 변환하는 방법들</a:t>
            </a:r>
          </a:p>
          <a:p>
            <a:pPr fontAlgn="base" latinLnBrk="1"/>
            <a:r>
              <a:rPr lang="ko-KR" altLang="en-US" dirty="0">
                <a:latin typeface="한컴 고딕" panose="02000500000000000000" pitchFamily="2" charset="-127"/>
              </a:rPr>
              <a:t>데이터 파일 불러오기와 생성하기  </a:t>
            </a:r>
          </a:p>
          <a:p>
            <a:pPr fontAlgn="base" latinLnBrk="1"/>
            <a:r>
              <a:rPr lang="ko-KR" altLang="en-US" dirty="0" err="1">
                <a:latin typeface="한컴 고딕" panose="02000500000000000000" pitchFamily="2" charset="-127"/>
              </a:rPr>
              <a:t>결측값을</a:t>
            </a:r>
            <a:r>
              <a:rPr lang="ko-KR" altLang="en-US" dirty="0">
                <a:latin typeface="한컴 고딕" panose="02000500000000000000" pitchFamily="2" charset="-127"/>
              </a:rPr>
              <a:t> 확인</a:t>
            </a:r>
            <a:r>
              <a:rPr lang="en-US" altLang="ko-KR" dirty="0"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latin typeface="한컴 고딕" panose="02000500000000000000" pitchFamily="2" charset="-127"/>
              </a:rPr>
              <a:t>대체</a:t>
            </a:r>
            <a:r>
              <a:rPr lang="en-US" altLang="ko-KR" dirty="0"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latin typeface="한컴 고딕" panose="02000500000000000000" pitchFamily="2" charset="-127"/>
              </a:rPr>
              <a:t>삭제하는 방법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5016B78D-D0BA-4B78-9E6A-BD29AFA51C75}"/>
              </a:ext>
            </a:extLst>
          </p:cNvPr>
          <p:cNvSpPr txBox="1">
            <a:spLocks/>
          </p:cNvSpPr>
          <p:nvPr/>
        </p:nvSpPr>
        <p:spPr>
          <a:xfrm>
            <a:off x="753034" y="278129"/>
            <a:ext cx="4263610" cy="6132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3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장 데이터 다루기 </a:t>
            </a:r>
            <a:endParaRPr lang="en-US" sz="3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EC111D-2696-43E1-BF67-2E25035E38D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B1FDBE1-9B40-4F1C-A5A1-5AB40B13B3A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7D134-0280-41ED-A147-9DF1CC9B2A6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1442BE-D279-47B8-BEC6-40EFEBE2A1F1}"/>
              </a:ext>
            </a:extLst>
          </p:cNvPr>
          <p:cNvSpPr txBox="1">
            <a:spLocks/>
          </p:cNvSpPr>
          <p:nvPr/>
        </p:nvSpPr>
        <p:spPr>
          <a:xfrm>
            <a:off x="855980" y="1586102"/>
            <a:ext cx="10015820" cy="2314030"/>
          </a:xfrm>
          <a:prstGeom prst="rect">
            <a:avLst/>
          </a:prstGeom>
        </p:spPr>
        <p:txBody>
          <a:bodyPr vert="horz" lIns="0" tIns="457200" rIns="0" bIns="0" rtlCol="0" anchor="t">
            <a:normAutofit lnSpcReduction="1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구조는 컴퓨터 또는 프로그램 언어에서 데이터를 효율적으로 저장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처리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관리하는 방법을 의미합니다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수집한 자료를 </a:t>
            </a:r>
            <a:r>
              <a:rPr lang="ko-KR" altLang="en-US" sz="2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파이썬으로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불러들일 때 적절한 데이터 구조를 사용하는 방법과 필요에 따라 데이터 구조를 변환하는 방법을 설명합니다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그리고 통계처리를 위하여 </a:t>
            </a:r>
            <a:r>
              <a:rPr lang="ko-KR" altLang="en-US" sz="2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다루는 방법에 대해서 알아봅니다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endParaRPr lang="en-US" sz="2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633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08D09-CE1F-9051-0E41-94DCD2A5B3B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r>
              <a:rPr lang="en-US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6A043E-D708-BAAC-EDB7-FBF20F6C05F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C8B4176-8FAE-449C-3488-2B35E65F4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583" y="3020766"/>
            <a:ext cx="5364834" cy="217083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4DBB942-6853-2FEA-D51D-C5399A8F1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5315935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참고 </a:t>
            </a:r>
            <a:r>
              <a:rPr lang="en-US" altLang="ko-KR" sz="4000" dirty="0"/>
              <a:t>1] </a:t>
            </a:r>
            <a:r>
              <a:rPr lang="ko-KR" altLang="en-US" sz="4000" dirty="0"/>
              <a:t>스칼라 개념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4B165C-8E20-52EA-FA23-0A810E19FD98}"/>
              </a:ext>
            </a:extLst>
          </p:cNvPr>
          <p:cNvSpPr txBox="1"/>
          <p:nvPr/>
        </p:nvSpPr>
        <p:spPr>
          <a:xfrm>
            <a:off x="996486" y="1315847"/>
            <a:ext cx="993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chemeClr val="bg1"/>
                </a:solidFill>
                <a:effectLst/>
                <a:latin typeface="Noto Sans Light"/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  <a:effectLst/>
                <a:latin typeface="Noto Sans Light"/>
              </a:rPr>
              <a:t>스칼라 </a:t>
            </a:r>
            <a:r>
              <a:rPr lang="en-US" altLang="ko-KR" sz="2000" b="1" dirty="0">
                <a:solidFill>
                  <a:schemeClr val="bg1"/>
                </a:solidFill>
                <a:effectLst/>
                <a:latin typeface="Noto Sans Light"/>
              </a:rPr>
              <a:t>scalar</a:t>
            </a:r>
            <a:endParaRPr lang="ko-KR" altLang="en-US" sz="2000" b="1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ko-KR" altLang="en-US" sz="20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ko-KR" altLang="en-US" sz="2000" dirty="0">
                <a:solidFill>
                  <a:schemeClr val="bg1"/>
                </a:solidFill>
                <a:effectLst/>
                <a:latin typeface="Noto Sans Light"/>
              </a:rPr>
              <a:t>스칼라 </a:t>
            </a:r>
            <a:r>
              <a:rPr lang="en-US" altLang="ko-KR" sz="2000" dirty="0">
                <a:solidFill>
                  <a:schemeClr val="bg1"/>
                </a:solidFill>
                <a:effectLst/>
                <a:latin typeface="Noto Sans Light"/>
              </a:rPr>
              <a:t>(scalar)</a:t>
            </a:r>
            <a:r>
              <a:rPr lang="ko-KR" altLang="en-US" sz="2000" dirty="0">
                <a:solidFill>
                  <a:schemeClr val="bg1"/>
                </a:solidFill>
                <a:latin typeface="Noto Sans Light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Noto Sans Light"/>
              </a:rPr>
              <a:t>:</a:t>
            </a:r>
            <a:r>
              <a:rPr lang="ko-KR" altLang="en-US" sz="2000" dirty="0">
                <a:solidFill>
                  <a:schemeClr val="bg1"/>
                </a:solidFill>
                <a:effectLst/>
                <a:latin typeface="Noto Sans Light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effectLst/>
                <a:latin typeface="Noto Sans Light"/>
              </a:rPr>
              <a:t>1, 2, 3.6, -4, a </a:t>
            </a:r>
            <a:r>
              <a:rPr lang="ko-KR" altLang="en-US" sz="2000" dirty="0">
                <a:solidFill>
                  <a:schemeClr val="bg1"/>
                </a:solidFill>
                <a:effectLst/>
                <a:latin typeface="Noto Sans Light"/>
              </a:rPr>
              <a:t>같은  보통의 수치</a:t>
            </a:r>
            <a:r>
              <a:rPr lang="en-US" altLang="ko-KR" sz="2000" dirty="0">
                <a:solidFill>
                  <a:schemeClr val="bg1"/>
                </a:solidFill>
                <a:latin typeface="Noto Sans Light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Noto Sans Light"/>
              </a:rPr>
              <a:t>즉</a:t>
            </a:r>
            <a:r>
              <a:rPr lang="en-US" altLang="ko-KR" sz="2000" dirty="0">
                <a:solidFill>
                  <a:schemeClr val="bg1"/>
                </a:solidFill>
                <a:latin typeface="Noto Sans Light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effectLst/>
                <a:latin typeface="Noto Sans Light"/>
              </a:rPr>
              <a:t>한 개의 숫자형</a:t>
            </a:r>
            <a:r>
              <a:rPr lang="en-US" altLang="ko-KR" sz="2000" dirty="0">
                <a:solidFill>
                  <a:schemeClr val="bg1"/>
                </a:solidFill>
                <a:effectLst/>
                <a:latin typeface="Noto Sans Light"/>
              </a:rPr>
              <a:t>,</a:t>
            </a:r>
            <a:r>
              <a:rPr lang="ko-KR" altLang="en-US" sz="2000" dirty="0">
                <a:solidFill>
                  <a:schemeClr val="bg1"/>
                </a:solidFill>
                <a:effectLst/>
                <a:latin typeface="Noto Sans Light"/>
              </a:rPr>
              <a:t>알파벳과 개별적인</a:t>
            </a:r>
            <a:endParaRPr lang="en-US" altLang="ko-KR" sz="2000" dirty="0">
              <a:solidFill>
                <a:schemeClr val="bg1"/>
              </a:solidFill>
              <a:effectLst/>
              <a:latin typeface="Noto Sans Light"/>
            </a:endParaRPr>
          </a:p>
          <a:p>
            <a:pPr>
              <a:buNone/>
            </a:pPr>
            <a:r>
              <a:rPr lang="ko-KR" altLang="en-US" sz="2000" dirty="0">
                <a:solidFill>
                  <a:schemeClr val="bg1"/>
                </a:solidFill>
                <a:effectLst/>
                <a:latin typeface="Noto Sans Light"/>
              </a:rPr>
              <a:t>실수와 정수</a:t>
            </a:r>
            <a:r>
              <a:rPr lang="en-US" altLang="ko-KR" sz="2000" dirty="0">
                <a:solidFill>
                  <a:schemeClr val="bg1"/>
                </a:solidFill>
                <a:effectLst/>
                <a:latin typeface="Noto Sans Light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effectLst/>
                <a:latin typeface="Noto Sans Light"/>
              </a:rPr>
              <a:t>그리스 문자의 소문자 등</a:t>
            </a:r>
            <a:r>
              <a:rPr lang="en-US" altLang="ko-KR" sz="2000" dirty="0">
                <a:solidFill>
                  <a:schemeClr val="bg1"/>
                </a:solidFill>
                <a:effectLst/>
                <a:latin typeface="Noto Sans Light"/>
              </a:rPr>
              <a:t> (</a:t>
            </a:r>
            <a:r>
              <a:rPr lang="ko-KR" altLang="en-US" sz="2000" dirty="0">
                <a:solidFill>
                  <a:schemeClr val="bg1"/>
                </a:solidFill>
                <a:effectLst/>
                <a:latin typeface="Noto Sans Light"/>
              </a:rPr>
              <a:t> </a:t>
            </a:r>
            <a:r>
              <a:rPr lang="en-US" altLang="ko-KR" sz="2000" dirty="0">
                <a:solidFill>
                  <a:schemeClr val="bg1"/>
                </a:solidFill>
                <a:effectLst/>
                <a:latin typeface="Noto Sans Light"/>
              </a:rPr>
              <a:t>a, p, α. β </a:t>
            </a:r>
            <a:r>
              <a:rPr lang="ko-KR" altLang="en-US" sz="2000" dirty="0">
                <a:solidFill>
                  <a:schemeClr val="bg1"/>
                </a:solidFill>
                <a:effectLst/>
                <a:latin typeface="Noto Sans Light"/>
              </a:rPr>
              <a:t>등</a:t>
            </a:r>
            <a:r>
              <a:rPr lang="en-US" altLang="ko-KR" sz="2000" dirty="0">
                <a:solidFill>
                  <a:schemeClr val="bg1"/>
                </a:solidFill>
                <a:effectLst/>
                <a:latin typeface="Noto Sans Light"/>
              </a:rPr>
              <a:t>... )</a:t>
            </a:r>
            <a:endParaRPr lang="ko-KR" altLang="en-US" sz="20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17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7FF80C-5E5E-CE88-259E-27C7E41362D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r>
              <a:rPr lang="en-US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778C10-9844-3D2B-77D8-236927789644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A3FC267-074A-1D4A-5C2C-6B8FC9ECB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5315935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참고 </a:t>
            </a:r>
            <a:r>
              <a:rPr lang="en-US" altLang="ko-KR" sz="4000" dirty="0"/>
              <a:t>2] </a:t>
            </a:r>
            <a:r>
              <a:rPr lang="ko-KR" altLang="en-US" sz="4000" dirty="0"/>
              <a:t>벡터 개념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8E6730-DBAB-396E-42C9-BB9DCB095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207" y="1602646"/>
            <a:ext cx="6725589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6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0608555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참고 </a:t>
            </a:r>
            <a:r>
              <a:rPr lang="en-US" altLang="ko-KR" sz="4000" dirty="0"/>
              <a:t>3] </a:t>
            </a:r>
            <a:r>
              <a:rPr lang="ko-KR" altLang="en-US" sz="4000" dirty="0"/>
              <a:t>함수</a:t>
            </a:r>
            <a:r>
              <a:rPr lang="en-US" altLang="ko-KR" sz="4000" dirty="0"/>
              <a:t>(function)</a:t>
            </a:r>
            <a:r>
              <a:rPr lang="ko-KR" altLang="en-US" sz="4000" dirty="0"/>
              <a:t>와 메소드</a:t>
            </a:r>
            <a:r>
              <a:rPr lang="en-US" altLang="ko-KR" sz="4000" dirty="0"/>
              <a:t>(method) </a:t>
            </a:r>
            <a:endParaRPr lang="ko-KR" altLang="en-US" sz="4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484177" y="1565753"/>
            <a:ext cx="11432088" cy="4275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함수는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print()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단독적으로 사용한다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그러나 메소드는 객체가 가지고 있는 어떤 기능을 말하는데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&lt;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4-2&gt;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Lst1.index()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Lst1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클래쓰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(Class)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 리스트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(list)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의해 생성된 객체 즉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인스턴스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instnance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index()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Lst1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가지고 있는 메소드라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즉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메소드는 객체가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가지고 있는 함수라고 생각할 수 있지만 사용할 때 반드시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self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Lst1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필요하다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함수와 메소드를 구별하지 않아도 프로그램 작성에 문제가 되지 않고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함수가 메소드 보다는 포괄적인 개념이므로 메소드를 함수로 칭하는 경우가 많이 있습니다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이 책에서는 메소드와 함수를 엄격하게 구별하지 않고 사용하고자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8333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600" dirty="0"/>
              <a:t>4.1 </a:t>
            </a:r>
            <a:r>
              <a:rPr lang="ko-KR" altLang="en-US" sz="3600" dirty="0"/>
              <a:t>데이터 구조인 리스트와 배열의 사용 방법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484177" y="1565753"/>
            <a:ext cx="11432088" cy="44869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4.1.1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리스트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(list)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데이터를 저장하는 방식에 차이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있으므로 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 목적에 따라 데이터 구조를 구분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하여 사용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행렬과 벡터 연산을 목적으로 한다면 배열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(array)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사용하는 것이 좋고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다양한 자료형이 포함된 연속적인 데이터를 이용하려면 리스트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(list)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리스트는 데이터를 추가해 나갈 수 있지만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배열은 선언과 동시에 고정된 크기를 갖는 차이가 있고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파이썬에서는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리스트 역시 배열과 마찬가지로 인덱스를 사용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 접근이 가능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배열을 사용하려면 라이브러리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필요하지만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리스트는 별도의 라이브러리가 필요 없이 기본적으로 사용할 수 있는 데이터 구조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6690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4.1.1 </a:t>
            </a:r>
            <a:r>
              <a:rPr lang="ko-KR" altLang="en-US" dirty="0"/>
              <a:t>리스트</a:t>
            </a:r>
            <a:r>
              <a:rPr lang="en-US" altLang="ko-KR" dirty="0"/>
              <a:t>(list)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594359" y="1295621"/>
            <a:ext cx="11074837" cy="1259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4-1]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IDLE Shell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프로그램을 한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줄씩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입력하고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Enter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하면서 결과를 확인할 수도 있고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4-1.py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전체를 실행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(Run)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하면 글 상자 부분에 나타난 내용이 순서대로 화면에 출력된다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84ABD09F-8410-4A4E-99B8-E1C233B7B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704" y="2764470"/>
            <a:ext cx="7013052" cy="251756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233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4.1.1 </a:t>
            </a:r>
            <a:r>
              <a:rPr lang="ko-KR" altLang="en-US" dirty="0"/>
              <a:t>리스트</a:t>
            </a:r>
            <a:r>
              <a:rPr lang="en-US" altLang="ko-KR" dirty="0"/>
              <a:t>(list)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594360" y="1206357"/>
            <a:ext cx="4654045" cy="29757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리스트에 대한 생성과 요소에 대한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접근은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&lt;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4-1&gt;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&lt;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4-1&gt;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대한 실행 결과는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글 상자 부분에 나타나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B43975-B925-4D2F-B99D-17ED969F0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405" y="876300"/>
            <a:ext cx="6723034" cy="545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88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4-2&gt; </a:t>
            </a:r>
            <a:r>
              <a:rPr lang="ko-KR" altLang="en-US" sz="3000" dirty="0"/>
              <a:t>리스트의 메소드 사용법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858E1A-43AC-437C-AA86-ABE135346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17788"/>
            <a:ext cx="5286375" cy="48768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F41195-F94C-470C-A81E-7A3499265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16897"/>
            <a:ext cx="57816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60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4]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프로그램의 오류들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8A88E2-C339-4F76-B983-BDC9E5CAB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85" y="1980351"/>
            <a:ext cx="9535627" cy="334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9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4.1.2 </a:t>
            </a:r>
            <a:r>
              <a:rPr lang="ko-KR" altLang="en-US" dirty="0"/>
              <a:t>배열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CE6A59-65B9-41E4-86AB-FE4F92749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762" y="278129"/>
            <a:ext cx="6522798" cy="631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56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4.1.2 </a:t>
            </a:r>
            <a:r>
              <a:rPr lang="ko-KR" altLang="en-US" dirty="0"/>
              <a:t>배열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142A80-7E06-485F-A53E-20143777A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31" y="1210066"/>
            <a:ext cx="6758430" cy="23339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BE4CCF-25C3-477D-95AA-2ECCA6D99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3606605"/>
            <a:ext cx="3515451" cy="1991644"/>
          </a:xfrm>
          <a:prstGeom prst="rect">
            <a:avLst/>
          </a:prstGeom>
        </p:spPr>
      </p:pic>
      <p:sp>
        <p:nvSpPr>
          <p:cNvPr id="13" name="Title 8">
            <a:extLst>
              <a:ext uri="{FF2B5EF4-FFF2-40B4-BE49-F238E27FC236}">
                <a16:creationId xmlns:a16="http://schemas.microsoft.com/office/drawing/2014/main" id="{F92832C1-1CDA-41FD-A76C-2E8C1CDA69F2}"/>
              </a:ext>
            </a:extLst>
          </p:cNvPr>
          <p:cNvSpPr txBox="1">
            <a:spLocks/>
          </p:cNvSpPr>
          <p:nvPr/>
        </p:nvSpPr>
        <p:spPr>
          <a:xfrm>
            <a:off x="4779799" y="3431231"/>
            <a:ext cx="6817842" cy="337529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import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as np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외부 라이브러리인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파이썬 프로그램 안으로 불러오되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np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라는 이름으로 사용하겠다는 의미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앞에서 배열을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사용하는 데 필요한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ndarray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라는 객체가 라이브러리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NumPy(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프로그램에서는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사용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있으므로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프로그램으로 불러들이기 위해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import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그리고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import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사용할 때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import A as B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사용하는데 라이브러리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B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라는 이름으로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줄여서 사용하는 방법이다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23216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4-5&gt; 1</a:t>
            </a:r>
            <a:r>
              <a:rPr lang="ko-KR" altLang="en-US" sz="3000" dirty="0"/>
              <a:t>차원 배열의 연산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EBB2A-4111-407C-9838-0DF29478E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067" y="975920"/>
            <a:ext cx="8173971" cy="577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36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4-6&gt; 2</a:t>
            </a:r>
            <a:r>
              <a:rPr lang="ko-KR" altLang="en-US" sz="3000" dirty="0"/>
              <a:t>차원 배열의 합과 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F09B26-382D-4A0F-A1AF-DACD69DF0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225" y="1025763"/>
            <a:ext cx="8427505" cy="48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18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4-7&gt; </a:t>
            </a:r>
            <a:r>
              <a:rPr lang="ko-KR" altLang="en-US" sz="3000" dirty="0"/>
              <a:t>배열에서 메소드를 사용한 기술통계 </a:t>
            </a:r>
            <a:r>
              <a:rPr lang="ko-KR" altLang="en-US" sz="3000" dirty="0" err="1"/>
              <a:t>사용예</a:t>
            </a:r>
            <a:endParaRPr lang="ko-KR" altLang="en-US" sz="3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363E8A-7D93-4FFF-88A1-AF30CC216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238" y="1531511"/>
            <a:ext cx="9096588" cy="45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61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4-8&gt; </a:t>
            </a:r>
            <a:r>
              <a:rPr lang="ko-KR" altLang="en-US" sz="3000" dirty="0"/>
              <a:t>배열 초기화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68F2AF-FE2A-4258-8F41-993B77A8C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261" y="426721"/>
            <a:ext cx="6200775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48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4-9&gt; </a:t>
            </a:r>
            <a:r>
              <a:rPr lang="ko-KR" altLang="en-US" sz="3000" dirty="0"/>
              <a:t>특정 조건의 배열 요소로 초기화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173F63-3486-442A-93EC-9F502CE16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371" y="1555325"/>
            <a:ext cx="7551488" cy="393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32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4.2 </a:t>
            </a:r>
            <a:r>
              <a:rPr lang="ko-KR" altLang="en-US" dirty="0"/>
              <a:t>데이터 구조의 변환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>
              <a:latin typeface="+mn-lt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55E17F96-79C8-4944-BD78-DB2CB97FE10A}"/>
              </a:ext>
            </a:extLst>
          </p:cNvPr>
          <p:cNvSpPr txBox="1">
            <a:spLocks/>
          </p:cNvSpPr>
          <p:nvPr/>
        </p:nvSpPr>
        <p:spPr>
          <a:xfrm>
            <a:off x="484177" y="1240407"/>
            <a:ext cx="11432088" cy="3882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경우에 따라 데이터의 구조를 변환하는 것이 필요한데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이때 라이브러리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주로 이용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기술통계와 같이 비교적 간단한 통계량을 계산한다면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리스트나 배열을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이용할 수 있지만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다양한 통계처리를 위해서는 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데이터프레임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DataFrame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을 </a:t>
            </a:r>
            <a:endParaRPr lang="en-US" altLang="ko-KR" sz="2200" b="0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사용하는 것이 편리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다음의 내용은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Cheat Sheet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내용을 참고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https://pandas.pydata.org/Pandas_Cheat_Sheet.pdf</a:t>
            </a:r>
          </a:p>
        </p:txBody>
      </p:sp>
    </p:spTree>
    <p:extLst>
      <p:ext uri="{BB962C8B-B14F-4D97-AF65-F5344CB8AC3E}">
        <p14:creationId xmlns:p14="http://schemas.microsoft.com/office/powerpoint/2010/main" val="711641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169CE-F49B-36A8-F929-77F8F1222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4.2.1</a:t>
            </a:r>
            <a:endParaRPr lang="ko-KR" altLang="en-US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18C250-ECDC-1258-B744-D1A72C1FD49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r>
              <a:rPr lang="en-US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15EA92-A768-E62C-6F00-153F9686F82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68A61-A217-A29B-508D-30F298638CF5}"/>
              </a:ext>
            </a:extLst>
          </p:cNvPr>
          <p:cNvSpPr txBox="1"/>
          <p:nvPr/>
        </p:nvSpPr>
        <p:spPr>
          <a:xfrm>
            <a:off x="1627576" y="1148884"/>
            <a:ext cx="9708562" cy="48946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L="457200" indent="-457200" algn="l" fontAlgn="base" latinLnBrk="1">
              <a:lnSpc>
                <a:spcPct val="100000"/>
              </a:lnSpc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데이터프레임 생성 방법 </a:t>
            </a:r>
            <a:r>
              <a:rPr lang="en-US" altLang="ko-KR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en-US" altLang="ko-KR" sz="24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pd.DataFrame</a:t>
            </a:r>
            <a:r>
              <a:rPr lang="en-US" altLang="ko-KR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(data</a:t>
            </a:r>
            <a:r>
              <a:rPr lang="ko-KR" altLang="en-US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명</a:t>
            </a:r>
            <a:r>
              <a:rPr lang="en-US" altLang="ko-KR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marL="457200" indent="-457200" algn="l" fontAlgn="base" latinLnBrk="1">
              <a:lnSpc>
                <a:spcPct val="100000"/>
              </a:lnSpc>
              <a:buAutoNum type="arabicPeriod"/>
            </a:pPr>
            <a:endParaRPr lang="en-US" altLang="ko-KR" sz="11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l" fontAlgn="base" latinLnBrk="1"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1) </a:t>
            </a:r>
            <a:r>
              <a:rPr lang="ko-KR" altLang="en-US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리스트를 이용한 생성 방법</a:t>
            </a:r>
            <a:endParaRPr lang="en-US" altLang="ko-KR" sz="24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l" fontAlgn="base" latinLnBrk="1">
              <a:lnSpc>
                <a:spcPct val="100000"/>
              </a:lnSpc>
            </a:pPr>
            <a:endParaRPr lang="en-US" altLang="ko-KR" sz="14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</a:t>
            </a:r>
            <a:r>
              <a:rPr lang="ko-KR" altLang="en-US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예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df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=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pd.DataFrame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([’13.42%’, ’-0.01%’], ([’11.56%’, ’-1.57%’],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			      [’10.80%’, ’-0.79%’], ([’10.50%’, ’-0.09%’] ],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			       </a:t>
            </a:r>
            <a:r>
              <a:rPr lang="en-US" altLang="ko-KR" sz="2000" dirty="0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index</a:t>
            </a:r>
            <a:r>
              <a:rPr lang="ko-KR" altLang="en-US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=</a:t>
            </a:r>
            <a:r>
              <a:rPr lang="ko-KR" altLang="en-US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[‘python’, ‘c’, ‘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c++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’, ‘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jave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’],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			       </a:t>
            </a:r>
            <a:r>
              <a:rPr lang="en-US" altLang="ko-KR" sz="20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columns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= [‘</a:t>
            </a:r>
            <a:r>
              <a:rPr lang="en-US" altLang="ko-KR" sz="2000" dirty="0">
                <a:solidFill>
                  <a:schemeClr val="accent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Ratings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’, </a:t>
            </a:r>
            <a:r>
              <a:rPr lang="en-US" altLang="ko-KR" sz="2000" dirty="0">
                <a:solidFill>
                  <a:schemeClr val="accent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‘Change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’]</a:t>
            </a:r>
          </a:p>
          <a:p>
            <a:pPr fontAlgn="base" latinLnBrk="1"/>
            <a:endParaRPr lang="en-US" altLang="ko-KR" sz="16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l" fontAlgn="base" latinLnBrk="1"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2) </a:t>
            </a:r>
            <a:r>
              <a:rPr lang="ko-KR" altLang="en-US" sz="24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딕셔너리를</a:t>
            </a:r>
            <a:r>
              <a:rPr lang="ko-KR" altLang="en-US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이용한 생성 방법</a:t>
            </a:r>
            <a:endParaRPr lang="en-US" altLang="ko-KR" sz="24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/>
            <a:r>
              <a:rPr lang="en-US" altLang="ko-KR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</a:t>
            </a:r>
            <a:r>
              <a:rPr lang="ko-KR" altLang="en-US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예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df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pd.DataFrame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({ '</a:t>
            </a:r>
            <a:r>
              <a:rPr lang="en-US" altLang="ko-KR" sz="2000" dirty="0">
                <a:solidFill>
                  <a:schemeClr val="accent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Ratings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': ['17.18%', '15.08%', '11.98%', '1.14%' ],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			       '</a:t>
            </a:r>
            <a:r>
              <a:rPr lang="en-US" altLang="ko-KR" sz="2000" dirty="0">
                <a:solidFill>
                  <a:schemeClr val="accent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Change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': ['+5.14%', '4.35%', '1.26%', '-0.14%'] },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			        </a:t>
            </a:r>
            <a:r>
              <a:rPr lang="en-US" altLang="ko-KR" sz="2000" dirty="0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index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= ['python', 'c', 'java', 'r’] )</a:t>
            </a:r>
          </a:p>
          <a:p>
            <a:pPr fontAlgn="base" latinLnBrk="1"/>
            <a:r>
              <a:rPr lang="en-US" altLang="ko-KR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algn="l" fontAlgn="base" latinLnBrk="1">
              <a:lnSpc>
                <a:spcPct val="100000"/>
              </a:lnSpc>
            </a:pPr>
            <a:endParaRPr lang="ko-KR" altLang="en-US" sz="2400" b="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563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52F6C-FAFE-086A-82D0-35D60D81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7E9F0-0303-FCCD-F560-8CB885A0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7877465" cy="773789"/>
          </a:xfrm>
        </p:spPr>
        <p:txBody>
          <a:bodyPr/>
          <a:lstStyle/>
          <a:p>
            <a:r>
              <a:rPr lang="en-US" altLang="ko-KR" sz="3600" dirty="0"/>
              <a:t>4.2.2</a:t>
            </a:r>
            <a:endParaRPr lang="ko-KR" altLang="en-US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C1D012-938F-5E25-7A49-DE400ABE8F0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r>
              <a:rPr lang="en-US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65F7DB-7395-8D27-56D4-4C787E4438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97733-60A1-CCBF-330E-DC93A5090E3E}"/>
              </a:ext>
            </a:extLst>
          </p:cNvPr>
          <p:cNvSpPr txBox="1"/>
          <p:nvPr/>
        </p:nvSpPr>
        <p:spPr>
          <a:xfrm>
            <a:off x="990433" y="1417017"/>
            <a:ext cx="10854378" cy="369998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l" fontAlgn="base" latinLnBrk="1">
              <a:lnSpc>
                <a:spcPct val="100000"/>
              </a:lnSpc>
            </a:pPr>
            <a:endParaRPr lang="en-US" altLang="ko-KR" sz="11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/>
            <a:r>
              <a:rPr lang="en-US" altLang="ko-KR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3) </a:t>
            </a:r>
            <a:r>
              <a:rPr lang="ko-KR" altLang="en-US" sz="24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시리즈를 이용한 생성 방법 </a:t>
            </a:r>
            <a:endParaRPr lang="en-US" altLang="ko-KR" sz="24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l" fontAlgn="base" latinLnBrk="1">
              <a:lnSpc>
                <a:spcPct val="100000"/>
              </a:lnSpc>
            </a:pPr>
            <a:endParaRPr lang="en-US" altLang="ko-KR" sz="14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</a:t>
            </a:r>
            <a:r>
              <a:rPr lang="ko-KR" altLang="en-US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예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df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= 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pd.DataFrame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([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pd.Series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 ['17.18%’, '+5.14%'], index = ['</a:t>
            </a:r>
            <a:r>
              <a:rPr lang="en-US" altLang="ko-KR" sz="2000" dirty="0">
                <a:solidFill>
                  <a:srgbClr val="00B0F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Ratings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', </a:t>
            </a:r>
            <a:r>
              <a:rPr lang="en-US" altLang="ko-KR" sz="2000" dirty="0">
                <a:solidFill>
                  <a:srgbClr val="00B0F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'</a:t>
            </a:r>
            <a:r>
              <a:rPr lang="en-US" altLang="ko-KR" sz="2000" dirty="0" err="1">
                <a:solidFill>
                  <a:srgbClr val="00B0F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Cahnge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’] ),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                               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pd.Series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 ['15.08%', '4.35%’],   index = ['</a:t>
            </a:r>
            <a:r>
              <a:rPr lang="en-US" altLang="ko-KR" sz="2000" dirty="0">
                <a:solidFill>
                  <a:srgbClr val="00B0F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Ratings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', '</a:t>
            </a:r>
            <a:r>
              <a:rPr lang="en-US" altLang="ko-KR" sz="2000" dirty="0" err="1">
                <a:solidFill>
                  <a:srgbClr val="00B0F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Cahnge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’] ),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			       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pd.Series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 ['11.98%', '1.26%' ],  index = ['</a:t>
            </a:r>
            <a:r>
              <a:rPr lang="en-US" altLang="ko-KR" sz="2000" dirty="0">
                <a:solidFill>
                  <a:srgbClr val="00B0F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Ratings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', '</a:t>
            </a:r>
            <a:r>
              <a:rPr lang="en-US" altLang="ko-KR" sz="2000" dirty="0" err="1">
                <a:solidFill>
                  <a:srgbClr val="00B0F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Cahnge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’] ),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			       </a:t>
            </a:r>
            <a:r>
              <a:rPr lang="en-US" altLang="ko-KR" sz="2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pd.Series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 ['1.14%', '-0.14%' ],  index = ['</a:t>
            </a:r>
            <a:r>
              <a:rPr lang="en-US" altLang="ko-KR" sz="2000" dirty="0">
                <a:solidFill>
                  <a:srgbClr val="00B0F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Ratings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', '</a:t>
            </a:r>
            <a:r>
              <a:rPr lang="en-US" altLang="ko-KR" sz="2000" dirty="0" err="1">
                <a:solidFill>
                  <a:srgbClr val="00B0F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Cahnge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’] ) ],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                                 </a:t>
            </a:r>
            <a:r>
              <a:rPr lang="en-US" altLang="ko-KR" sz="2000" dirty="0">
                <a:solidFill>
                  <a:srgbClr val="FFC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index</a:t>
            </a:r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=  ['python', 'c', 'java', 'r’])</a:t>
            </a:r>
          </a:p>
          <a:p>
            <a:pPr fontAlgn="base" latinLnBrk="1"/>
            <a:r>
              <a:rPr lang="en-US" altLang="ko-KR" sz="2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2400" b="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322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9EE4B-9E1C-3738-FF38-0214B2F20B7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r>
              <a:rPr lang="en-US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66189F-5E48-0291-3483-AA89BB7156F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B2A600-0A54-5EC3-6510-9441A8A0493A}"/>
              </a:ext>
            </a:extLst>
          </p:cNvPr>
          <p:cNvSpPr txBox="1"/>
          <p:nvPr/>
        </p:nvSpPr>
        <p:spPr>
          <a:xfrm>
            <a:off x="1295904" y="1249951"/>
            <a:ext cx="954972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count(): </a:t>
            </a:r>
            <a:r>
              <a:rPr lang="en-US" altLang="ko-KR" sz="2500" b="0" i="0" dirty="0">
                <a:solidFill>
                  <a:srgbClr val="212529"/>
                </a:solidFill>
                <a:effectLst/>
                <a:latin typeface="-apple-system"/>
              </a:rPr>
              <a:t>NA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를 제외한 수를 반환</a:t>
            </a:r>
            <a:r>
              <a:rPr lang="en-US" altLang="ko-KR" sz="2500" b="0" i="0" dirty="0">
                <a:solidFill>
                  <a:srgbClr val="212529"/>
                </a:solidFill>
                <a:effectLst/>
                <a:latin typeface="-apple-system"/>
              </a:rPr>
              <a:t>	</a:t>
            </a:r>
            <a:endParaRPr lang="ko-KR" altLang="en-US" sz="25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describe():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요약 통계를 계산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min(), max():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최소</a:t>
            </a:r>
            <a:r>
              <a:rPr lang="en-US" altLang="ko-KR" sz="2500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최댓값을 계산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sum():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합을 계산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mean():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평균을 계산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median():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중앙값을 계산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var():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분산을 계산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std():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표준편차를 계산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argmin</a:t>
            </a: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(), argmax():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최소</a:t>
            </a:r>
            <a:r>
              <a:rPr lang="en-US" altLang="ko-KR" sz="2500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최댓값을 </a:t>
            </a:r>
            <a:r>
              <a:rPr lang="en-US" altLang="ko-KR" sz="25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가지고 있는 값을 반환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idxmin</a:t>
            </a: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(), </a:t>
            </a: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idxmax</a:t>
            </a: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최소</a:t>
            </a:r>
            <a:r>
              <a:rPr lang="en-US" altLang="ko-KR" sz="2500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최댓값을 가지고 있는 인덱스를 반환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cumsum</a:t>
            </a: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누적 합을 계산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pct_change</a:t>
            </a: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(): </a:t>
            </a:r>
            <a:r>
              <a:rPr lang="ko-KR" altLang="en-US" sz="2500" b="0" i="0" dirty="0">
                <a:solidFill>
                  <a:srgbClr val="212529"/>
                </a:solidFill>
                <a:effectLst/>
                <a:latin typeface="-apple-system"/>
              </a:rPr>
              <a:t>퍼센트 변화율을 계산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7B12C921-DECD-08B0-2709-25B7AA6F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033269" cy="773789"/>
          </a:xfrm>
        </p:spPr>
        <p:txBody>
          <a:bodyPr/>
          <a:lstStyle/>
          <a:p>
            <a:r>
              <a:rPr lang="en-US" altLang="ko-KR" sz="3600" dirty="0"/>
              <a:t>4.2.3  Pandas </a:t>
            </a:r>
            <a:r>
              <a:rPr lang="ko-KR" altLang="en-US" sz="3600" dirty="0">
                <a:solidFill>
                  <a:srgbClr val="212529"/>
                </a:solidFill>
                <a:latin typeface="-apple-system"/>
              </a:rPr>
              <a:t>유용한 메소드 정리 </a:t>
            </a:r>
            <a:r>
              <a:rPr lang="en-US" altLang="ko-KR" sz="3600" dirty="0">
                <a:solidFill>
                  <a:srgbClr val="212529"/>
                </a:solidFill>
                <a:latin typeface="-apple-system"/>
              </a:rPr>
              <a:t>(1)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878403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5F1863-F149-559A-D15A-9BB9B5EF22F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23</a:t>
            </a:fld>
            <a:r>
              <a:rPr lang="en-US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BD121D-E1B1-019A-D550-8FA1FDC0722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E8F814-E668-6046-C992-F2272E40BCA2}"/>
              </a:ext>
            </a:extLst>
          </p:cNvPr>
          <p:cNvSpPr txBox="1"/>
          <p:nvPr/>
        </p:nvSpPr>
        <p:spPr>
          <a:xfrm>
            <a:off x="1394308" y="1494393"/>
            <a:ext cx="8470312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1. </a:t>
            </a: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data.head</a:t>
            </a: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(), </a:t>
            </a: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data.tail</a:t>
            </a: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()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각각 첫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5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행과 마지막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5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행을 보여준다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endParaRPr lang="en-US" altLang="ko-KR" sz="2000" dirty="0">
              <a:solidFill>
                <a:srgbClr val="212529"/>
              </a:solidFill>
              <a:latin typeface="-apple-system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2000" b="0" i="0" dirty="0" err="1">
                <a:solidFill>
                  <a:srgbClr val="212529"/>
                </a:solidFill>
                <a:effectLst/>
                <a:latin typeface="-apple-system"/>
              </a:rPr>
              <a:t>패러미터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 값을 주면 몇 행을 출력할 지 지정할 수 있다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algn="l"/>
            <a:endParaRPr lang="en-US" altLang="ko-KR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2. </a:t>
            </a: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data.columns</a:t>
            </a:r>
            <a:endParaRPr lang="en-US" altLang="ko-KR" sz="2500" b="1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ko-KR" sz="2000" b="0" i="0" dirty="0" err="1">
                <a:solidFill>
                  <a:srgbClr val="212529"/>
                </a:solidFill>
                <a:effectLst/>
                <a:latin typeface="-apple-system"/>
              </a:rPr>
              <a:t>DataFrame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의 컬럼명을 출력한다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sz="25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3. data.info()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각 컬럼별로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null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값과 자료형을 출력한다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12529"/>
              </a:solidFill>
              <a:latin typeface="-apple-system"/>
            </a:endParaRPr>
          </a:p>
          <a:p>
            <a:r>
              <a:rPr lang="en-US" altLang="ko-KR" sz="2500" b="1" dirty="0">
                <a:solidFill>
                  <a:srgbClr val="212529"/>
                </a:solidFill>
                <a:latin typeface="-apple-system"/>
              </a:rPr>
              <a:t>4.describe()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12529"/>
                </a:solidFill>
                <a:latin typeface="-apple-system"/>
              </a:rPr>
              <a:t>각 컬럼별 기본적인 통계 수치들을 출력한다</a:t>
            </a:r>
            <a:r>
              <a:rPr lang="en-US" altLang="ko-KR" sz="2000" dirty="0">
                <a:solidFill>
                  <a:srgbClr val="212529"/>
                </a:solidFill>
                <a:latin typeface="-apple-system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212529"/>
                </a:solidFill>
                <a:latin typeface="-apple-system"/>
              </a:rPr>
              <a:t>개수</a:t>
            </a:r>
            <a:r>
              <a:rPr lang="en-US" altLang="ko-KR" sz="2000" dirty="0">
                <a:solidFill>
                  <a:srgbClr val="212529"/>
                </a:solidFill>
                <a:latin typeface="-apple-system"/>
              </a:rPr>
              <a:t>(Count), </a:t>
            </a:r>
            <a:r>
              <a:rPr lang="ko-KR" altLang="en-US" sz="2000" dirty="0">
                <a:solidFill>
                  <a:srgbClr val="212529"/>
                </a:solidFill>
                <a:latin typeface="-apple-system"/>
              </a:rPr>
              <a:t>평균</a:t>
            </a:r>
            <a:r>
              <a:rPr lang="en-US" altLang="ko-KR" sz="2000" dirty="0">
                <a:solidFill>
                  <a:srgbClr val="212529"/>
                </a:solidFill>
                <a:latin typeface="-apple-system"/>
              </a:rPr>
              <a:t>(mean), </a:t>
            </a:r>
            <a:r>
              <a:rPr lang="ko-KR" altLang="en-US" sz="2000" dirty="0">
                <a:solidFill>
                  <a:srgbClr val="212529"/>
                </a:solidFill>
                <a:latin typeface="-apple-system"/>
              </a:rPr>
              <a:t>표준편차</a:t>
            </a:r>
            <a:r>
              <a:rPr lang="en-US" altLang="ko-KR" sz="2000" dirty="0">
                <a:solidFill>
                  <a:srgbClr val="212529"/>
                </a:solidFill>
                <a:latin typeface="-apple-system"/>
              </a:rPr>
              <a:t>(std), </a:t>
            </a:r>
            <a:r>
              <a:rPr lang="ko-KR" altLang="en-US" sz="2000" dirty="0">
                <a:solidFill>
                  <a:srgbClr val="212529"/>
                </a:solidFill>
                <a:latin typeface="-apple-system"/>
              </a:rPr>
              <a:t>최솟값</a:t>
            </a:r>
            <a:r>
              <a:rPr lang="en-US" altLang="ko-KR" sz="2000" dirty="0">
                <a:solidFill>
                  <a:srgbClr val="212529"/>
                </a:solidFill>
                <a:latin typeface="-apple-system"/>
              </a:rPr>
              <a:t>(min), </a:t>
            </a:r>
            <a:r>
              <a:rPr lang="ko-KR" altLang="en-US" sz="2000" dirty="0">
                <a:solidFill>
                  <a:srgbClr val="212529"/>
                </a:solidFill>
                <a:latin typeface="-apple-system"/>
              </a:rPr>
              <a:t>최댓값</a:t>
            </a:r>
            <a:r>
              <a:rPr lang="en-US" altLang="ko-KR" sz="2000" dirty="0">
                <a:solidFill>
                  <a:srgbClr val="212529"/>
                </a:solidFill>
                <a:latin typeface="-apple-system"/>
              </a:rPr>
              <a:t>(max)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12529"/>
                </a:solidFill>
                <a:latin typeface="-apple-system"/>
              </a:rPr>
              <a:t>4</a:t>
            </a:r>
            <a:r>
              <a:rPr lang="ko-KR" altLang="en-US" sz="2000" dirty="0" err="1">
                <a:solidFill>
                  <a:srgbClr val="212529"/>
                </a:solidFill>
                <a:latin typeface="-apple-system"/>
              </a:rPr>
              <a:t>분위수</a:t>
            </a:r>
            <a:r>
              <a:rPr lang="en-US" altLang="ko-KR" sz="2000" dirty="0">
                <a:solidFill>
                  <a:srgbClr val="212529"/>
                </a:solidFill>
                <a:latin typeface="-apple-system"/>
              </a:rPr>
              <a:t>(25%, 50%, 75%)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ko-KR" sz="2000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713E2C4-1B05-B983-BE93-CCD1046D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033269" cy="773789"/>
          </a:xfrm>
        </p:spPr>
        <p:txBody>
          <a:bodyPr/>
          <a:lstStyle/>
          <a:p>
            <a:r>
              <a:rPr lang="en-US" altLang="ko-KR" sz="3600" dirty="0"/>
              <a:t>4.2.3  Pandas </a:t>
            </a:r>
            <a:r>
              <a:rPr lang="ko-KR" altLang="en-US" sz="3600" dirty="0">
                <a:solidFill>
                  <a:srgbClr val="212529"/>
                </a:solidFill>
                <a:latin typeface="-apple-system"/>
              </a:rPr>
              <a:t>유용한 메소드 정리 </a:t>
            </a:r>
            <a:r>
              <a:rPr lang="en-US" altLang="ko-KR" sz="3600" dirty="0">
                <a:solidFill>
                  <a:srgbClr val="212529"/>
                </a:solidFill>
                <a:latin typeface="-apple-system"/>
              </a:rPr>
              <a:t>(2)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38210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3BE56-B05A-C36A-0974-6100E4E7203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r>
              <a:rPr lang="en-US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9F489E-F6E6-6384-2D64-1457B7A1846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004E2-E13B-565B-8C3F-670397AE75C3}"/>
              </a:ext>
            </a:extLst>
          </p:cNvPr>
          <p:cNvSpPr txBox="1"/>
          <p:nvPr/>
        </p:nvSpPr>
        <p:spPr>
          <a:xfrm>
            <a:off x="1138122" y="1026325"/>
            <a:ext cx="991575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12529"/>
              </a:solidFill>
              <a:latin typeface="-apple-system"/>
            </a:endParaRPr>
          </a:p>
          <a:p>
            <a:pPr algn="l"/>
            <a:r>
              <a:rPr lang="en-US" altLang="ko-KR" sz="2500" b="1" dirty="0">
                <a:solidFill>
                  <a:srgbClr val="212529"/>
                </a:solidFill>
                <a:latin typeface="-apple-system"/>
              </a:rPr>
              <a:t>2. </a:t>
            </a: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isnull</a:t>
            </a: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 err="1">
                <a:solidFill>
                  <a:srgbClr val="212529"/>
                </a:solidFill>
                <a:effectLst/>
                <a:latin typeface="Fira Mono" panose="020B0509050000020004" pitchFamily="49" charset="0"/>
              </a:rPr>
              <a:t>isnull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509050000020004" pitchFamily="49" charset="0"/>
              </a:rPr>
              <a:t>()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은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-apple-system"/>
              </a:rPr>
              <a:t>결측치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 여부를 판별한다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. 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있으면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509050000020004" pitchFamily="49" charset="0"/>
              </a:rPr>
              <a:t>True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없으면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509050000020004" pitchFamily="49" charset="0"/>
              </a:rPr>
              <a:t>False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3. </a:t>
            </a:r>
            <a:r>
              <a:rPr lang="en-US" altLang="ko-KR" sz="2500" b="1" i="0" dirty="0" err="1">
                <a:solidFill>
                  <a:srgbClr val="212529"/>
                </a:solidFill>
                <a:effectLst/>
                <a:latin typeface="-apple-system"/>
              </a:rPr>
              <a:t>value_counts</a:t>
            </a: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범주형 데이터 컬럼에서 범주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(category)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별로 데이터 수를 출력한다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4.sum()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컬럼의 데이터 숫자를 확인할 때 사용한다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b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-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Fira Mono" panose="020B0509050000020004" pitchFamily="49" charset="0"/>
              </a:rPr>
              <a:t>isnull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509050000020004" pitchFamily="49" charset="0"/>
              </a:rPr>
              <a:t>()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, </a:t>
            </a:r>
            <a:r>
              <a:rPr lang="en-US" altLang="ko-KR" b="0" i="0" dirty="0" err="1">
                <a:solidFill>
                  <a:srgbClr val="212529"/>
                </a:solidFill>
                <a:effectLst/>
                <a:latin typeface="Fira Mono" panose="020B0509050000020004" pitchFamily="49" charset="0"/>
              </a:rPr>
              <a:t>value_counts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Fira Mono" panose="020B0509050000020004" pitchFamily="49" charset="0"/>
              </a:rPr>
              <a:t>()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 등의 다른 메소드와 함께 사용할 수 있다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en-US" altLang="ko-KR" sz="2500" b="1" i="0" dirty="0">
                <a:solidFill>
                  <a:srgbClr val="212529"/>
                </a:solidFill>
                <a:effectLst/>
                <a:latin typeface="-apple-system"/>
              </a:rPr>
              <a:t>5.drop()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데이터를 삭제할 때 사용한다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. </a:t>
            </a:r>
            <a:b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보통 다음과 같이 특정 컬럼이나 데이터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또는 조건을 지정해서 사용한다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. </a:t>
            </a:r>
            <a:endParaRPr lang="ko-KR" altLang="en-US" b="0" i="0" dirty="0">
              <a:solidFill>
                <a:srgbClr val="212529"/>
              </a:solidFill>
              <a:effectLst/>
              <a:latin typeface="Fira Mono" panose="020B0509050000020004" pitchFamily="49" charset="0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C2643DD-406E-DFE8-BFAD-E6DE7ED4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8428527" cy="773789"/>
          </a:xfrm>
        </p:spPr>
        <p:txBody>
          <a:bodyPr/>
          <a:lstStyle/>
          <a:p>
            <a:r>
              <a:rPr lang="en-US" altLang="ko-KR" sz="3600" dirty="0"/>
              <a:t>4.2.3  Pandas </a:t>
            </a:r>
            <a:r>
              <a:rPr lang="ko-KR" altLang="en-US" sz="3600" dirty="0">
                <a:solidFill>
                  <a:srgbClr val="212529"/>
                </a:solidFill>
                <a:latin typeface="-apple-system"/>
              </a:rPr>
              <a:t>유용한 메소드 정리 </a:t>
            </a:r>
            <a:r>
              <a:rPr lang="en-US" altLang="ko-KR" sz="3600" dirty="0">
                <a:solidFill>
                  <a:srgbClr val="212529"/>
                </a:solidFill>
                <a:latin typeface="-apple-system"/>
              </a:rPr>
              <a:t>(3)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41679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71630"/>
            <a:ext cx="10130159" cy="773425"/>
          </a:xfrm>
        </p:spPr>
        <p:txBody>
          <a:bodyPr/>
          <a:lstStyle/>
          <a:p>
            <a:pPr fontAlgn="base" latinLnBrk="1"/>
            <a:r>
              <a:rPr lang="en-US" altLang="ko-KR" sz="2800" dirty="0"/>
              <a:t>&lt;</a:t>
            </a:r>
            <a:r>
              <a:rPr lang="ko-KR" altLang="en-US" sz="2800" dirty="0"/>
              <a:t>예제 </a:t>
            </a:r>
            <a:r>
              <a:rPr lang="en-US" altLang="ko-KR" sz="2800" dirty="0"/>
              <a:t>4-10&gt; </a:t>
            </a:r>
            <a:r>
              <a:rPr lang="ko-KR" altLang="en-US" sz="2800" dirty="0"/>
              <a:t>데이터프레임의 생성과 함수 </a:t>
            </a:r>
            <a:r>
              <a:rPr lang="en-US" altLang="ko-KR" sz="2800" dirty="0"/>
              <a:t>melt()</a:t>
            </a:r>
            <a:r>
              <a:rPr lang="ko-KR" altLang="en-US" sz="2800" dirty="0"/>
              <a:t>를 이용한 </a:t>
            </a:r>
            <a:br>
              <a:rPr lang="en-US" altLang="ko-KR" sz="2800" dirty="0"/>
            </a:br>
            <a:r>
              <a:rPr lang="en-US" altLang="ko-KR" sz="2800" dirty="0"/>
              <a:t>                 </a:t>
            </a:r>
            <a:r>
              <a:rPr lang="ko-KR" altLang="en-US" sz="2800" dirty="0"/>
              <a:t>데이터 재구조화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13040A1-0AE8-419C-8917-383A4E165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577" y="969646"/>
            <a:ext cx="616267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48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4-11&gt; </a:t>
            </a:r>
            <a:r>
              <a:rPr lang="ko-KR" altLang="en-US" sz="3000" dirty="0"/>
              <a:t>함수 </a:t>
            </a:r>
            <a:r>
              <a:rPr lang="en-US" altLang="ko-KR" sz="3000" dirty="0" err="1"/>
              <a:t>concat</a:t>
            </a:r>
            <a:r>
              <a:rPr lang="en-US" altLang="ko-KR" sz="3000" dirty="0"/>
              <a:t>()</a:t>
            </a:r>
            <a:r>
              <a:rPr lang="ko-KR" altLang="en-US" sz="3000" dirty="0"/>
              <a:t>를 이용한 데이터 재구조화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D3A7DB-9A69-4BA9-B6FF-AB67A265B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13" y="1167168"/>
            <a:ext cx="5191125" cy="1790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1F11DFE-FF7B-42A6-95CB-2ED1C9E3B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987" y="2827020"/>
            <a:ext cx="60198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3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4-11&gt; </a:t>
            </a:r>
            <a:r>
              <a:rPr lang="ko-KR" altLang="en-US" sz="3000" dirty="0"/>
              <a:t>함수 </a:t>
            </a:r>
            <a:r>
              <a:rPr lang="en-US" altLang="ko-KR" sz="3000" dirty="0" err="1"/>
              <a:t>concat</a:t>
            </a:r>
            <a:r>
              <a:rPr lang="en-US" altLang="ko-KR" sz="3000" dirty="0"/>
              <a:t>()</a:t>
            </a:r>
            <a:r>
              <a:rPr lang="ko-KR" altLang="en-US" sz="3000" dirty="0"/>
              <a:t>를 이용한 데이터 재구조화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27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D55B4D-4902-49C8-8E33-DA311FDF1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51" y="3223857"/>
            <a:ext cx="5162550" cy="13525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E3D9A9-92AA-44E1-A586-C035D6873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1" y="1408567"/>
            <a:ext cx="5191125" cy="1790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0A5958-7F4F-499F-BB04-885AA16DA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799" y="2799358"/>
            <a:ext cx="619125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7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4-12&gt; </a:t>
            </a:r>
            <a:r>
              <a:rPr lang="ko-KR" altLang="en-US" sz="3000" dirty="0"/>
              <a:t>함수 </a:t>
            </a:r>
            <a:r>
              <a:rPr lang="en-US" altLang="ko-KR" sz="3000" dirty="0"/>
              <a:t>merge()</a:t>
            </a:r>
            <a:r>
              <a:rPr lang="ko-KR" altLang="en-US" sz="3000" dirty="0"/>
              <a:t>를 이용한 결합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A555FF-FE6C-482A-A05A-CFB7BBA2C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90" y="1410889"/>
            <a:ext cx="5086350" cy="31337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0314CA0-AB0A-4B4A-9E3E-5E11915D9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331" y="2354894"/>
            <a:ext cx="5969420" cy="42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6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4-13&gt; </a:t>
            </a:r>
            <a:r>
              <a:rPr lang="ko-KR" altLang="en-US" sz="3000" dirty="0"/>
              <a:t>함수 </a:t>
            </a:r>
            <a:r>
              <a:rPr lang="en-US" altLang="ko-KR" sz="3000" dirty="0"/>
              <a:t>pivot()</a:t>
            </a:r>
            <a:r>
              <a:rPr lang="ko-KR" altLang="en-US" sz="3000" dirty="0"/>
              <a:t>을 이용한 행렬 전환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9DE443-2096-421C-9A8A-8BC747445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171" y="926741"/>
            <a:ext cx="6440010" cy="578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48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4-14&gt; </a:t>
            </a:r>
            <a:r>
              <a:rPr lang="ko-KR" altLang="en-US" sz="3000" dirty="0"/>
              <a:t>함수 </a:t>
            </a:r>
            <a:r>
              <a:rPr lang="en-US" altLang="ko-KR" sz="3000" dirty="0" err="1"/>
              <a:t>groupby</a:t>
            </a:r>
            <a:r>
              <a:rPr lang="en-US" altLang="ko-KR" sz="3000" dirty="0"/>
              <a:t>()</a:t>
            </a:r>
            <a:r>
              <a:rPr lang="ko-KR" altLang="en-US" sz="3000" dirty="0"/>
              <a:t>를 이용한 그룹화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30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01BEFC-EA57-48EF-AAC7-002765205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226" y="1615223"/>
            <a:ext cx="7382188" cy="444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92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5976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추가</a:t>
            </a:r>
            <a:r>
              <a:rPr lang="en-US" altLang="ko-KR" sz="3000" dirty="0"/>
              <a:t>&gt; </a:t>
            </a:r>
            <a:r>
              <a:rPr lang="ko-KR" altLang="en-US" sz="3000" dirty="0"/>
              <a:t>함수 </a:t>
            </a:r>
            <a:r>
              <a:rPr lang="en-US" altLang="ko-KR" sz="3000" dirty="0" err="1"/>
              <a:t>pivot_table</a:t>
            </a:r>
            <a:r>
              <a:rPr lang="en-US" altLang="ko-KR" sz="3000" dirty="0"/>
              <a:t>()</a:t>
            </a:r>
            <a:endParaRPr lang="ko-KR" altLang="en-US" sz="3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CC1C95-C09C-4212-9103-8057BFE0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5691"/>
            <a:ext cx="6210300" cy="23050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9E6AAF0-2DC5-4D20-8B42-CED7BB061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420" y="3457073"/>
            <a:ext cx="5820700" cy="329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85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894817"/>
            <a:ext cx="4890896" cy="1543582"/>
          </a:xfrm>
        </p:spPr>
        <p:txBody>
          <a:bodyPr/>
          <a:lstStyle/>
          <a:p>
            <a:pPr fontAlgn="base" latinLnBrk="1">
              <a:lnSpc>
                <a:spcPct val="150000"/>
              </a:lnSpc>
            </a:pPr>
            <a:r>
              <a:rPr lang="en-US" altLang="ko-KR" sz="3200" dirty="0"/>
              <a:t>&lt;</a:t>
            </a:r>
            <a:r>
              <a:rPr lang="ko-KR" altLang="en-US" sz="3200" dirty="0"/>
              <a:t>예제 </a:t>
            </a:r>
            <a:r>
              <a:rPr lang="en-US" altLang="ko-KR" sz="3200" dirty="0"/>
              <a:t>4-15&gt; </a:t>
            </a:r>
            <a:br>
              <a:rPr lang="en-US" altLang="ko-KR" sz="3200" dirty="0"/>
            </a:br>
            <a:r>
              <a:rPr lang="ko-KR" altLang="en-US" sz="3200" dirty="0"/>
              <a:t>메소드 </a:t>
            </a:r>
            <a:r>
              <a:rPr lang="en-US" altLang="ko-KR" sz="3200" dirty="0" err="1"/>
              <a:t>sort_value</a:t>
            </a:r>
            <a:r>
              <a:rPr lang="ko-KR" altLang="en-US" sz="3200" dirty="0"/>
              <a:t>를 </a:t>
            </a:r>
            <a:br>
              <a:rPr lang="en-US" altLang="ko-KR" sz="3200" dirty="0"/>
            </a:br>
            <a:r>
              <a:rPr lang="ko-KR" altLang="en-US" sz="3200" dirty="0"/>
              <a:t>이용한 데이터 정렬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32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16A995-C330-4B01-854B-7B9B8EFF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6" y="2815256"/>
            <a:ext cx="4457700" cy="2438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3AB399A-15FF-4F80-84A7-A7BA328D9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748" y="295275"/>
            <a:ext cx="621030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5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4.3 </a:t>
            </a:r>
            <a:r>
              <a:rPr lang="ko-KR" altLang="en-US" dirty="0"/>
              <a:t>데이터 파일 다루기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379956" y="1782158"/>
            <a:ext cx="11432088" cy="268005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적은 분량의 데이터라면 배열 또는 리스트를 이용하여 프로그램에서 직접 입력할 수도 있지만 대부분 이미 만들어진 데이터 파일을 이용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여러 형식으로 작성된 파일을 읽어 들이거나 불러온 다음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적절한 데이터 구조로 변환하거나 다른 형식으로 저장하는 기능들을 제공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여기에서는 텍스트 형식으로 작성된 파일과 엑셀로 작성된 파일을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처리하는 방법을 설명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3137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4.3 </a:t>
            </a:r>
            <a:r>
              <a:rPr lang="ko-KR" altLang="en-US" dirty="0"/>
              <a:t>데이터 파일 다루기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34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484177" y="1220073"/>
            <a:ext cx="11432088" cy="14912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성별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점수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출석점수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있고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총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행으로 구성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점수 열은 객관식 문제에 대해 맞은 개수를 의미하며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출석은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점 만점의 출석점수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객관식 문제를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80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점 만점으로 계산하기 위해 점수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×5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계산하여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100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점 만점으로 계산할 총점은 다음의 식으로 계산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76E6EE-BEDE-40EA-A492-80D1E239A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103" y="2638898"/>
            <a:ext cx="3688459" cy="40277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40FF622-3D23-4F37-9196-9D34A276F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440" y="2875200"/>
            <a:ext cx="4382323" cy="86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98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4.3.1 </a:t>
            </a:r>
            <a:r>
              <a:rPr lang="ko-KR" altLang="en-US" dirty="0"/>
              <a:t>데이터 파일 불러오기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35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484177" y="1220072"/>
            <a:ext cx="11432088" cy="20993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CSV(Comma </a:t>
            </a:r>
            <a:r>
              <a:rPr lang="en-US" altLang="ko-KR" sz="2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Seperated</a:t>
            </a:r>
            <a:r>
              <a:rPr lang="en-US" altLang="ko-KR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Values)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CSV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형식의 파일의 데이터는 콤마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(comma)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분리된 텍스트 형식의 파일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CSV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형식의 파일은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Excel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불러올 수도 있고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메모장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(notepad)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으로도 불러올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CVS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파일은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Excel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다른 이름으로 저장할 때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4-2]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파일 형식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[CSV UTF-8 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쉼표로 분리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선택하여 저장할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54547A50-750C-4E29-B423-56BB04042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59682"/>
            <a:ext cx="6395163" cy="199781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1EFA9B1-D4A4-455B-87C4-A9E5D06C7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714" y="3236595"/>
            <a:ext cx="3417433" cy="347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80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4.3.1 </a:t>
            </a:r>
            <a:r>
              <a:rPr lang="ko-KR" altLang="en-US" dirty="0"/>
              <a:t>데이터 파일 불러오기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484177" y="1220072"/>
            <a:ext cx="11432088" cy="20993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두 번째와 세 번째는 모두 파일 확장자가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txt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 텍스트 파일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sample2.txt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데이터가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CSV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형식과 같이 콤마로 구분된 파일이고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sample3.txt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탭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(tab)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구분된 파일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마지막으로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sample4.xlsx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Excel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프로그램으로 저장된 엑셀 형식의 파일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36C15D-0091-4DDE-A57A-7DDAAE18D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7" y="2776874"/>
            <a:ext cx="2828925" cy="31337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24EA31D-0F89-46C8-B5CF-D6844AEC7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935" y="2776874"/>
            <a:ext cx="3048000" cy="34099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3355141-59D7-45CF-A0CF-97DBE4484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644" y="2776874"/>
            <a:ext cx="2527860" cy="391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532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4.3.1 </a:t>
            </a:r>
            <a:r>
              <a:rPr lang="ko-KR" altLang="en-US" dirty="0"/>
              <a:t>데이터 파일 불러오기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37</a:t>
            </a:fld>
            <a:endParaRPr lang="en-US" dirty="0">
              <a:latin typeface="+mn-l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48CC46-9420-4199-89E3-106A9EB6B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584" y="1602437"/>
            <a:ext cx="7441477" cy="445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637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4-16&gt; CSV </a:t>
            </a:r>
            <a:r>
              <a:rPr lang="ko-KR" altLang="en-US" sz="3000" dirty="0"/>
              <a:t>파일 불러오기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38</a:t>
            </a:fld>
            <a:endParaRPr lang="en-US" dirty="0">
              <a:latin typeface="+mn-lt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C3651EA-FD68-4397-A3D0-40EC386D5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23" y="1256208"/>
            <a:ext cx="3417433" cy="34708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C2558F-FB48-4E54-94F5-505D5609B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226" y="3212367"/>
            <a:ext cx="8873179" cy="30276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59757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06" y="167159"/>
            <a:ext cx="11655059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[</a:t>
            </a:r>
            <a:r>
              <a:rPr lang="ko-KR" altLang="en-US" sz="3000" dirty="0"/>
              <a:t>참고 </a:t>
            </a:r>
            <a:r>
              <a:rPr lang="en-US" altLang="ko-KR" sz="3000" dirty="0"/>
              <a:t>3] </a:t>
            </a:r>
            <a:r>
              <a:rPr lang="ko-KR" altLang="en-US" sz="3000" dirty="0"/>
              <a:t>이스케이프 시퀀스</a:t>
            </a:r>
            <a:r>
              <a:rPr lang="en-US" altLang="ko-KR" sz="3000" dirty="0"/>
              <a:t>(escape sequence) </a:t>
            </a:r>
            <a:r>
              <a:rPr lang="ko-KR" altLang="en-US" sz="3000" dirty="0"/>
              <a:t>사용시 오류 해결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484177" y="1220072"/>
            <a:ext cx="11432088" cy="448606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프로그램을 작성할 때 이스케이프 시퀀스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>
                <a:latin typeface="나눔스퀘어 네오 OTF Light" panose="00000400000000000000" pitchFamily="50" charset="-127"/>
                <a:ea typeface="나눔스퀘어 네오 OTF Light" panose="00000400000000000000" pitchFamily="50" charset="-127"/>
              </a:rPr>
              <a:t>\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n, </a:t>
            </a:r>
            <a:r>
              <a:rPr lang="en-US" altLang="ko-KR" sz="2200" b="0" dirty="0">
                <a:latin typeface="나눔스퀘어 네오 OTF Light" panose="00000400000000000000" pitchFamily="50" charset="-127"/>
                <a:ea typeface="나눔스퀘어 네오 OTF Light" panose="00000400000000000000" pitchFamily="50" charset="-127"/>
              </a:rPr>
              <a:t>\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t, </a:t>
            </a:r>
            <a:r>
              <a:rPr lang="en-US" altLang="ko-KR" sz="2200" b="0" dirty="0">
                <a:latin typeface="나눔스퀘어 네오 OTF Light" panose="00000400000000000000" pitchFamily="50" charset="-127"/>
                <a:ea typeface="나눔스퀘어 네오 OTF Light" panose="00000400000000000000" pitchFamily="50" charset="-127"/>
              </a:rPr>
              <a:t>\\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아닌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백슬러시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문자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>
                <a:latin typeface="나눔스퀘어 네오 OTF Light" panose="00000400000000000000" pitchFamily="50" charset="-127"/>
                <a:ea typeface="나눔스퀘어 네오 OTF Light" panose="00000400000000000000" pitchFamily="50" charset="-127"/>
              </a:rPr>
              <a:t>\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￦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사용하면 프로그램을 실행할 때 경고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(Warning)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나타내며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특히 파일을 불러오기 위하여 파일 경로에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백슬러시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문자를 사용하면 파일을 불러오지 못하는 경우가 발생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프로그램과 프로그램에서 사용할 데이터 파일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엑셀파일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같은 폴더에 있지 않을 경우에 다음과 같이 작성할 수 있으나 아래와 같은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SyntaxWarning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나타난다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  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df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=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pd.read_excel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('..</a:t>
            </a:r>
            <a:r>
              <a:rPr lang="en-US" altLang="ko-KR" sz="2200" b="0" dirty="0">
                <a:latin typeface="나눔스퀘어 네오 OTF Light" panose="00000400000000000000" pitchFamily="50" charset="-127"/>
                <a:ea typeface="나눔스퀘어 네오 OTF Light" panose="00000400000000000000" pitchFamily="50" charset="-127"/>
              </a:rPr>
              <a:t> \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data</a:t>
            </a:r>
            <a:r>
              <a:rPr lang="en-US" altLang="ko-KR" sz="2200" b="0" dirty="0">
                <a:latin typeface="나눔스퀘어 네오 OTF Light" panose="00000400000000000000" pitchFamily="50" charset="-127"/>
                <a:ea typeface="나눔스퀘어 네오 OTF Light" panose="00000400000000000000" pitchFamily="50" charset="-127"/>
              </a:rPr>
              <a:t>\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sample.xlsx’)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  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SyntaxWarning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invalid escape sequence '</a:t>
            </a:r>
            <a:r>
              <a:rPr lang="en-US" altLang="ko-KR" sz="2200" b="0" dirty="0">
                <a:latin typeface="나눔스퀘어 네오 OTF Light" panose="00000400000000000000" pitchFamily="50" charset="-127"/>
                <a:ea typeface="나눔스퀘어 네오 OTF Light" panose="00000400000000000000" pitchFamily="50" charset="-127"/>
              </a:rPr>
              <a:t>\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d'</a:t>
            </a:r>
          </a:p>
        </p:txBody>
      </p:sp>
    </p:spTree>
    <p:extLst>
      <p:ext uri="{BB962C8B-B14F-4D97-AF65-F5344CB8AC3E}">
        <p14:creationId xmlns:p14="http://schemas.microsoft.com/office/powerpoint/2010/main" val="2813929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167157"/>
            <a:ext cx="11360493" cy="773425"/>
          </a:xfrm>
        </p:spPr>
        <p:txBody>
          <a:bodyPr/>
          <a:lstStyle/>
          <a:p>
            <a:pPr fontAlgn="base" latinLnBrk="1"/>
            <a:r>
              <a:rPr lang="en-US" altLang="ko-KR" sz="2800" dirty="0"/>
              <a:t>[</a:t>
            </a:r>
            <a:r>
              <a:rPr lang="ko-KR" altLang="en-US" sz="2800" dirty="0"/>
              <a:t>참고 </a:t>
            </a:r>
            <a:r>
              <a:rPr lang="en-US" altLang="ko-KR" sz="2800" dirty="0"/>
              <a:t>3] </a:t>
            </a:r>
            <a:r>
              <a:rPr lang="ko-KR" altLang="en-US" sz="2800" dirty="0"/>
              <a:t>이스케이프 시퀀스</a:t>
            </a:r>
            <a:r>
              <a:rPr lang="en-US" altLang="ko-KR" sz="2800" dirty="0"/>
              <a:t>(escape sequence) </a:t>
            </a:r>
            <a:r>
              <a:rPr lang="ko-KR" altLang="en-US" sz="2800" dirty="0"/>
              <a:t>사용시 오류 해결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40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484177" y="1220071"/>
            <a:ext cx="11432088" cy="38685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파이썬에는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특수한 문자를 사용할 수 있도록 하므로 파일 경로나 정규 표현식 등을 표현할 때 원시 문자열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(raw string)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이용한 표기법을 사용하여 문제를 해결할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예로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파이썬에서는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문자열을 표시하는 큰따옴표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(")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나 작은따옴표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(')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앞에 인코딩을 표시하는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u, b, 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등의 접두사가 붙이는 것인데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기본은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u(UTF-8)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바이너리는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b(binary),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원시 문자열은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r(raw)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위의 프로그램은 다음과 같이 수정하여 사용한다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df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=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pd.read_excel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(r'..</a:t>
            </a:r>
            <a:r>
              <a:rPr lang="en-US" altLang="ko-KR" sz="2200" b="0" dirty="0">
                <a:latin typeface="나눔스퀘어 네오 OTF Light" panose="00000400000000000000" pitchFamily="50" charset="-127"/>
                <a:ea typeface="나눔스퀘어 네오 OTF Light" panose="00000400000000000000" pitchFamily="50" charset="-127"/>
              </a:rPr>
              <a:t> \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data</a:t>
            </a:r>
            <a:r>
              <a:rPr lang="en-US" altLang="ko-KR" sz="2200" b="0" dirty="0">
                <a:latin typeface="나눔스퀘어 네오 OTF Light" panose="00000400000000000000" pitchFamily="50" charset="-127"/>
                <a:ea typeface="나눔스퀘어 네오 OTF Light" panose="00000400000000000000" pitchFamily="50" charset="-127"/>
              </a:rPr>
              <a:t>\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sample.xlsx')</a:t>
            </a:r>
          </a:p>
        </p:txBody>
      </p:sp>
    </p:spTree>
    <p:extLst>
      <p:ext uri="{BB962C8B-B14F-4D97-AF65-F5344CB8AC3E}">
        <p14:creationId xmlns:p14="http://schemas.microsoft.com/office/powerpoint/2010/main" val="3711343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4.3.2 </a:t>
            </a:r>
            <a:r>
              <a:rPr lang="ko-KR" altLang="en-US" dirty="0"/>
              <a:t>데이터 파일 생성하기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41</a:t>
            </a:fld>
            <a:endParaRPr lang="en-US" dirty="0">
              <a:latin typeface="+mn-lt"/>
            </a:endParaRP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E018A372-DDEB-D985-4D73-DEEDE0736D79}"/>
              </a:ext>
            </a:extLst>
          </p:cNvPr>
          <p:cNvSpPr txBox="1">
            <a:spLocks/>
          </p:cNvSpPr>
          <p:nvPr/>
        </p:nvSpPr>
        <p:spPr>
          <a:xfrm>
            <a:off x="484177" y="1125414"/>
            <a:ext cx="11432088" cy="1667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앞에서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4-2]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대해서 점수는 객관식 문제의 맞은 개수이므로 객관식 문제를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80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점 만점으로 계산하기 위해 점수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×5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계산하고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20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점 만점의 출석점수를 합하여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점 만점으로 계산하기 위해서 다음의 식을 이용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CB34F9-CC95-4FE7-91BE-04FE3EEF8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723" y="3042418"/>
            <a:ext cx="4527236" cy="102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67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4-17&gt; </a:t>
            </a:r>
            <a:r>
              <a:rPr lang="ko-KR" altLang="en-US" sz="3000" dirty="0"/>
              <a:t>데이터 파일의 생성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42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5EF588-4C51-4861-9234-83FAF7D44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337603"/>
            <a:ext cx="7206737" cy="3619384"/>
          </a:xfrm>
          <a:prstGeom prst="rect">
            <a:avLst/>
          </a:prstGeom>
        </p:spPr>
      </p:pic>
      <p:sp>
        <p:nvSpPr>
          <p:cNvPr id="12" name="Title 8">
            <a:extLst>
              <a:ext uri="{FF2B5EF4-FFF2-40B4-BE49-F238E27FC236}">
                <a16:creationId xmlns:a16="http://schemas.microsoft.com/office/drawing/2014/main" id="{6BC554B1-90D6-4510-B787-186560DCBCA4}"/>
              </a:ext>
            </a:extLst>
          </p:cNvPr>
          <p:cNvSpPr txBox="1">
            <a:spLocks/>
          </p:cNvSpPr>
          <p:nvPr/>
        </p:nvSpPr>
        <p:spPr>
          <a:xfrm>
            <a:off x="594359" y="1422120"/>
            <a:ext cx="10864404" cy="7734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concat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데이터를 연결할 때 사용하며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데이터를 수직 방향의 위아래로 연결할 때는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axis=0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수평 방향의 오른쪽으로 연결할 때는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axis=1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88AF82-9A70-4F44-BBA0-7CA1BC696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416" y="2217465"/>
            <a:ext cx="2937016" cy="29557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3C22897-1E77-4AD4-A023-00298C7B1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2312" y="3154215"/>
            <a:ext cx="2250096" cy="342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192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ko-KR" altLang="en-US" sz="3000" dirty="0"/>
              <a:t>그래프에 대한 이미지 파일 생성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1"/>
            <a:ext cx="6303679" cy="2721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앞에서 새로 만든 변수인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total_score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히스토그램을 작성하고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작성한 히스토그램 이미지를 파일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histogram of score.png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저장하려면 예제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4-17.py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마지막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부분에 다음의 내용을 추가하여 실행한다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A5F440-C981-491D-994D-F4453A59B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070" y="3212651"/>
            <a:ext cx="4883886" cy="29888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23F4470-4926-49E4-B18C-0AEC7A219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384" y="619261"/>
            <a:ext cx="3990975" cy="1600200"/>
          </a:xfrm>
          <a:prstGeom prst="rect">
            <a:avLst/>
          </a:prstGeom>
        </p:spPr>
      </p:pic>
      <p:sp>
        <p:nvSpPr>
          <p:cNvPr id="8" name="화살표: 왼쪽 7">
            <a:extLst>
              <a:ext uri="{FF2B5EF4-FFF2-40B4-BE49-F238E27FC236}">
                <a16:creationId xmlns:a16="http://schemas.microsoft.com/office/drawing/2014/main" id="{722DC89D-09B3-470D-94C9-A92011BE6087}"/>
              </a:ext>
            </a:extLst>
          </p:cNvPr>
          <p:cNvSpPr/>
          <p:nvPr/>
        </p:nvSpPr>
        <p:spPr>
          <a:xfrm rot="17974231">
            <a:off x="5268441" y="3582420"/>
            <a:ext cx="3242078" cy="1853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932D7B-A68D-4B1D-97DD-EA3C4848D5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522" y="3511783"/>
            <a:ext cx="3876117" cy="295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75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4.4 </a:t>
            </a:r>
            <a:r>
              <a:rPr lang="ko-KR" altLang="en-US" dirty="0" err="1"/>
              <a:t>결측값</a:t>
            </a:r>
            <a:r>
              <a:rPr lang="ko-KR" altLang="en-US" dirty="0"/>
              <a:t> 다루기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44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484177" y="1220071"/>
            <a:ext cx="11432088" cy="49928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데이터를 수집하는 과정에서 측정값을 실수로 빠트리거나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측정 자체가 불가능하여 누락시키는 경우가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또한 기존의 데이터 파일을 이용할 때 군데군데 값이 없는 상태인 공백으로 처리된 부분들이 있는데 이런 사례들을 모두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(missing value)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이라 하고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python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None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NaN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(Not a Number)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나타낸다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대부분의 통계처리 프로그램들의 분석 도구들은 기본적으로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제외하고 처리하며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pandas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통계 관련 함수들도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제외하고 처리한다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포함된 사례가 적다면 큰 문제가 되지는 않지만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포함된 사례가 많을 경우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해당 사례들을 모두 제외하면 표본 수가 감소하고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설문 문항에 대한 무응답 또는 왜곡된 정보가 다수 포함된다면 해당 표본이 모집단을 대표한다고 볼 수 없다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865771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4.4 </a:t>
            </a:r>
            <a:r>
              <a:rPr lang="ko-KR" altLang="en-US" dirty="0" err="1"/>
              <a:t>결측값</a:t>
            </a:r>
            <a:r>
              <a:rPr lang="ko-KR" altLang="en-US" dirty="0"/>
              <a:t> 다루기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45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484177" y="1220072"/>
            <a:ext cx="11432088" cy="6203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처리하거나 다루는 메소드들은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Pandas.DataFrame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이용하며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요약내용은 다음과 같다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BBC6F8-EAA7-4F8B-B679-4378A8019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17" y="2206138"/>
            <a:ext cx="8794054" cy="340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695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4.4 </a:t>
            </a:r>
            <a:r>
              <a:rPr lang="ko-KR" altLang="en-US" dirty="0" err="1"/>
              <a:t>결측값</a:t>
            </a:r>
            <a:r>
              <a:rPr lang="ko-KR" altLang="en-US" dirty="0"/>
              <a:t> 다루기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484177" y="1220072"/>
            <a:ext cx="11432088" cy="6203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공백 부분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포함된 가상의 데이터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5EA09A-D4E3-4FB6-8331-A7F743C58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731118"/>
            <a:ext cx="9237282" cy="3548468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8800133A-CD18-4826-B747-C733CFA2A7DF}"/>
              </a:ext>
            </a:extLst>
          </p:cNvPr>
          <p:cNvSpPr/>
          <p:nvPr/>
        </p:nvSpPr>
        <p:spPr>
          <a:xfrm>
            <a:off x="6096000" y="4168930"/>
            <a:ext cx="651353" cy="5761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FDF97D5-F560-456A-928C-0AD2BB308296}"/>
              </a:ext>
            </a:extLst>
          </p:cNvPr>
          <p:cNvSpPr/>
          <p:nvPr/>
        </p:nvSpPr>
        <p:spPr>
          <a:xfrm>
            <a:off x="8378197" y="2949735"/>
            <a:ext cx="651353" cy="5761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6926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4-18&gt; </a:t>
            </a:r>
            <a:r>
              <a:rPr lang="ko-KR" altLang="en-US" sz="3000" dirty="0" err="1"/>
              <a:t>결측값이</a:t>
            </a:r>
            <a:r>
              <a:rPr lang="ko-KR" altLang="en-US" sz="3000" dirty="0"/>
              <a:t> 포함된 데이터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47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206419"/>
            <a:ext cx="11451487" cy="1491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4-4]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id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12204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키자료가 누락되어 있고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id 11027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대해서 몸무게가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잘못 기재되어 있는 경우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엑셀로 저장된 파일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(missing.xlsx)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python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불러온 후에 출력하면 공백 부분이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4-18.py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실행결과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NaN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표시된다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74FDAE1-85C8-4127-BDC8-4127F8102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02" y="2660214"/>
            <a:ext cx="5190113" cy="19937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3DC4151-FFAE-4E35-A19E-39DECA978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503" y="4245955"/>
            <a:ext cx="7621393" cy="221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21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4.4.1 </a:t>
            </a:r>
            <a:r>
              <a:rPr lang="ko-KR" altLang="en-US" dirty="0" err="1"/>
              <a:t>결측값</a:t>
            </a:r>
            <a:r>
              <a:rPr lang="ko-KR" altLang="en-US" dirty="0"/>
              <a:t> 확인하기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2"/>
            <a:ext cx="11679243" cy="12961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사례수가 자체가 적다면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눈으로 확인할 수 있지만 사례수가 많은 경우는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바로 확인하기 어려우므로 함수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info()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isnull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8535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4-19&gt; </a:t>
            </a:r>
            <a:r>
              <a:rPr lang="ko-KR" altLang="en-US" sz="3000" dirty="0"/>
              <a:t>사례수가 많은 경우에 </a:t>
            </a:r>
            <a:r>
              <a:rPr lang="ko-KR" altLang="en-US" sz="3000" dirty="0" err="1"/>
              <a:t>결측값의</a:t>
            </a:r>
            <a:r>
              <a:rPr lang="ko-KR" altLang="en-US" sz="3000" dirty="0"/>
              <a:t> 확인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1"/>
            <a:ext cx="11321905" cy="1491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 예제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4-19.py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함수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info()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경우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Non-Null Count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부분에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아닌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(Non-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Nul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사례수가 표시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info()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대신에 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(column)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대한 사례 수를 표시하는 함수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count()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이용하여 정상적인 값의 사례 수를 확인할 수도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8207B8-3D31-44B3-A0E1-0CD4C2A64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66" y="3037719"/>
            <a:ext cx="8771543" cy="257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80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4-20&gt; </a:t>
            </a:r>
            <a:r>
              <a:rPr lang="ko-KR" altLang="en-US" sz="3000" dirty="0"/>
              <a:t>함수 </a:t>
            </a:r>
            <a:r>
              <a:rPr lang="en-US" altLang="ko-KR" sz="3000" dirty="0" err="1"/>
              <a:t>isnull</a:t>
            </a:r>
            <a:r>
              <a:rPr lang="en-US" altLang="ko-KR" sz="3000" dirty="0"/>
              <a:t>()</a:t>
            </a:r>
            <a:r>
              <a:rPr lang="ko-KR" altLang="en-US" sz="3000" dirty="0"/>
              <a:t>을 이용한 </a:t>
            </a:r>
            <a:r>
              <a:rPr lang="ko-KR" altLang="en-US" sz="3000" dirty="0" err="1"/>
              <a:t>결측값의</a:t>
            </a:r>
            <a:r>
              <a:rPr lang="ko-KR" altLang="en-US" sz="3000" dirty="0"/>
              <a:t> 확인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50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1"/>
            <a:ext cx="11321905" cy="1491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isnull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isna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ko-KR" altLang="en-US" sz="2100" b="0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정상적인 </a:t>
            </a:r>
            <a:r>
              <a:rPr lang="ko-KR" altLang="en-US" sz="2100" b="0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데이터값에</a:t>
            </a:r>
            <a:r>
              <a:rPr lang="ko-KR" altLang="en-US" sz="2100" b="0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대해서는</a:t>
            </a:r>
            <a:r>
              <a:rPr lang="ko-KR" altLang="en-US" sz="21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1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False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결측값은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1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True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실행결과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열이름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height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한 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(True)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있음을 알 수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BADCB4-9236-4098-9538-91C33CF5F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0" y="3059782"/>
            <a:ext cx="8211491" cy="225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732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4-21&gt; </a:t>
            </a:r>
            <a:r>
              <a:rPr lang="ko-KR" altLang="en-US" sz="3000" dirty="0" err="1"/>
              <a:t>결측값의</a:t>
            </a:r>
            <a:r>
              <a:rPr lang="ko-KR" altLang="en-US" sz="3000" dirty="0"/>
              <a:t> 개수 확인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51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1"/>
            <a:ext cx="11321905" cy="1491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isnull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isna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정상적인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데이터값에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대부분의 컴퓨터 언어에서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False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True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처리하기 때문에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DataFrame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(column)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합을 계산하는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sum()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함수를 사용하면 예제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4-21.py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실행결과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결측값의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개수를 확인할 수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F610BF-00C8-4AF3-B577-75705BF18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99" y="3022301"/>
            <a:ext cx="6964215" cy="218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084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4-22&gt; </a:t>
            </a:r>
            <a:r>
              <a:rPr lang="ko-KR" altLang="en-US" sz="3000" dirty="0"/>
              <a:t>함수 </a:t>
            </a:r>
            <a:r>
              <a:rPr lang="en-US" altLang="ko-KR" sz="3000" dirty="0" err="1"/>
              <a:t>notnull</a:t>
            </a:r>
            <a:r>
              <a:rPr lang="en-US" altLang="ko-KR" sz="3000" dirty="0"/>
              <a:t>()</a:t>
            </a:r>
            <a:r>
              <a:rPr lang="ko-KR" altLang="en-US" sz="3000" dirty="0"/>
              <a:t>를 이용한 </a:t>
            </a:r>
            <a:r>
              <a:rPr lang="ko-KR" altLang="en-US" sz="3000" dirty="0" err="1"/>
              <a:t>결측값의</a:t>
            </a:r>
            <a:r>
              <a:rPr lang="ko-KR" altLang="en-US" sz="3000" dirty="0"/>
              <a:t> 확인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52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1"/>
            <a:ext cx="11321905" cy="14912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4-22.py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notnull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isnull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반대로 정상적인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데이터값에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대해서는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True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결측값은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False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표시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F890D7-E08A-42D6-875F-5BC601C4A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066" y="2683137"/>
            <a:ext cx="7986956" cy="222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326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4.4.2 </a:t>
            </a:r>
            <a:r>
              <a:rPr lang="ko-KR" altLang="en-US" dirty="0">
                <a:latin typeface="한컴 고딕" panose="02000500000000000000" pitchFamily="2" charset="-127"/>
              </a:rPr>
              <a:t>값을 대체하기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2"/>
            <a:ext cx="11679243" cy="12961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수집한 데이터에 대해 예를 들어 평균을 계산한다고 할 때 대부분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제외하고 계산하지만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적절한 다른 값으로 대체하는 경우도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56456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4-23&gt; </a:t>
            </a:r>
            <a:r>
              <a:rPr lang="ko-KR" altLang="en-US" sz="3000" dirty="0" err="1"/>
              <a:t>결측값이</a:t>
            </a:r>
            <a:r>
              <a:rPr lang="ko-KR" altLang="en-US" sz="3000" dirty="0"/>
              <a:t> 포함된 평균 계산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54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1"/>
            <a:ext cx="11321905" cy="46333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포함된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2-9]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데이터에 대해 열 이름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height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weight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평균을 계산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열이름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height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대해서는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있지만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평균을 계산하는 함수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mean()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결과를 보면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제외한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데이터에 대한 평균으로 계산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그러나 열 이름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weight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입력된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값은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아닌 정상적인 값으로 처리하기 때문에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값을 포함한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개의 사례에 대한 평균을 계산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CEA988-F18D-44BE-8FCE-562C00E26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631" y="2133791"/>
            <a:ext cx="7055671" cy="194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967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4-24&gt; </a:t>
            </a:r>
            <a:r>
              <a:rPr lang="ko-KR" altLang="en-US" sz="3000" dirty="0"/>
              <a:t>함수 </a:t>
            </a:r>
            <a:r>
              <a:rPr lang="en-US" altLang="ko-KR" sz="3000" dirty="0" err="1"/>
              <a:t>fillna</a:t>
            </a:r>
            <a:r>
              <a:rPr lang="en-US" altLang="ko-KR" sz="3000" dirty="0"/>
              <a:t>()</a:t>
            </a:r>
            <a:r>
              <a:rPr lang="ko-KR" altLang="en-US" sz="3000" dirty="0"/>
              <a:t>를 이용한 </a:t>
            </a:r>
            <a:r>
              <a:rPr lang="ko-KR" altLang="en-US" sz="3000" dirty="0" err="1"/>
              <a:t>결측값의</a:t>
            </a:r>
            <a:r>
              <a:rPr lang="ko-KR" altLang="en-US" sz="3000" dirty="0"/>
              <a:t> 대체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55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2"/>
            <a:ext cx="11321905" cy="10005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데이터에 포함된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다른 값으로 대체할 때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fillna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4-24.py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실행결과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height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height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평균값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(161.8)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대체된 것을 확인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AF43C2-31D4-4411-A34D-8592BD6F9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160" y="2386750"/>
            <a:ext cx="7822817" cy="375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096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4-25&gt; </a:t>
            </a:r>
            <a:r>
              <a:rPr lang="ko-KR" altLang="en-US" sz="3000" dirty="0"/>
              <a:t>잘못 입력한 값의 대체</a:t>
            </a:r>
            <a:r>
              <a:rPr lang="en-US" altLang="ko-KR" sz="3000" dirty="0"/>
              <a:t>(</a:t>
            </a:r>
            <a:r>
              <a:rPr lang="ko-KR" altLang="en-US" sz="3000" dirty="0"/>
              <a:t>함수 </a:t>
            </a:r>
            <a:r>
              <a:rPr lang="en-US" altLang="ko-KR" sz="3000" dirty="0"/>
              <a:t>replace()) </a:t>
            </a:r>
            <a:endParaRPr lang="ko-KR" altLang="en-US" sz="3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346502" y="1419362"/>
            <a:ext cx="11321905" cy="10005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잘못 입력한 값이나 특정 값을 다른 값으로 바꾸려면 함수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replace()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4-25.py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입력된 값을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결측값으로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바꿀 때 프로그램에서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결측값은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np.nan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나타내며 라이브러리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필요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FEA3FD-62C8-4F7F-AEC4-A9D42B3DD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102" y="2538057"/>
            <a:ext cx="7723388" cy="348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327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dirty="0">
                <a:latin typeface="한컴 고딕" panose="02000500000000000000" pitchFamily="2" charset="-127"/>
              </a:rPr>
              <a:t>4.4.3 </a:t>
            </a:r>
            <a:r>
              <a:rPr lang="ko-KR" altLang="en-US" dirty="0">
                <a:latin typeface="한컴 고딕" panose="02000500000000000000" pitchFamily="2" charset="-127"/>
              </a:rPr>
              <a:t>결측 사례 삭제하기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57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921788" y="1419362"/>
            <a:ext cx="9905678" cy="12961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수집한 데이터에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포함된 경우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앞에서 값을 대체하기도 하지만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포함된 변수나 사례를 삭제하는 사례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22342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4-26&gt; </a:t>
            </a:r>
            <a:r>
              <a:rPr lang="ko-KR" altLang="en-US" sz="3000" dirty="0" err="1"/>
              <a:t>결측값이</a:t>
            </a:r>
            <a:r>
              <a:rPr lang="ko-KR" altLang="en-US" sz="3000" dirty="0"/>
              <a:t> 포함된 사례</a:t>
            </a:r>
            <a:r>
              <a:rPr lang="en-US" altLang="ko-KR" sz="3000" dirty="0"/>
              <a:t>(</a:t>
            </a:r>
            <a:r>
              <a:rPr lang="ko-KR" altLang="en-US" sz="3000" dirty="0"/>
              <a:t>데이터 행</a:t>
            </a:r>
            <a:r>
              <a:rPr lang="en-US" altLang="ko-KR" sz="3000" dirty="0"/>
              <a:t>)</a:t>
            </a:r>
            <a:r>
              <a:rPr lang="ko-KR" altLang="en-US" sz="3000" dirty="0"/>
              <a:t>의 삭제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1155272" y="1442901"/>
            <a:ext cx="9881456" cy="10005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포함된 사례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행 또는 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삭제할 때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dropna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행을 삭제하려면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axis=0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인자로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열을 삭제하려면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axis=1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2-26.py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실행 결과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id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12204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 사례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행 전체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삭제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D67F87-2B7D-4763-81C9-C03103F74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917" y="2798186"/>
            <a:ext cx="7505074" cy="3179315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91B6B80-6936-40E3-A0E2-4F5EDE73DA77}"/>
              </a:ext>
            </a:extLst>
          </p:cNvPr>
          <p:cNvCxnSpPr/>
          <p:nvPr/>
        </p:nvCxnSpPr>
        <p:spPr>
          <a:xfrm>
            <a:off x="3590693" y="4616605"/>
            <a:ext cx="7917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8671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321905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4-27&gt; </a:t>
            </a:r>
            <a:r>
              <a:rPr lang="ko-KR" altLang="en-US" sz="3000" dirty="0" err="1"/>
              <a:t>결측값이</a:t>
            </a:r>
            <a:r>
              <a:rPr lang="ko-KR" altLang="en-US" sz="3000" dirty="0"/>
              <a:t> 포함된 사례</a:t>
            </a:r>
            <a:r>
              <a:rPr lang="en-US" altLang="ko-KR" sz="3000" dirty="0"/>
              <a:t>(</a:t>
            </a:r>
            <a:r>
              <a:rPr lang="ko-KR" altLang="en-US" sz="3000" dirty="0"/>
              <a:t>데이터 열</a:t>
            </a:r>
            <a:r>
              <a:rPr lang="en-US" altLang="ko-KR" sz="3000" dirty="0"/>
              <a:t>)</a:t>
            </a:r>
            <a:r>
              <a:rPr lang="ko-KR" altLang="en-US" sz="3000" dirty="0"/>
              <a:t>의 삭제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900EA66-C198-48C4-94BD-B873B07019A7}"/>
              </a:ext>
            </a:extLst>
          </p:cNvPr>
          <p:cNvSpPr txBox="1">
            <a:spLocks/>
          </p:cNvSpPr>
          <p:nvPr/>
        </p:nvSpPr>
        <p:spPr>
          <a:xfrm>
            <a:off x="968354" y="1356478"/>
            <a:ext cx="10046835" cy="10005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4-27.py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실행결과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에서는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포함한 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삭제된 것을 확인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9192D8-E841-4552-8FA5-077228599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353" y="2281898"/>
            <a:ext cx="8260279" cy="3773214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AADDC52-50FD-4B1E-8127-DC3530C1C44A}"/>
              </a:ext>
            </a:extLst>
          </p:cNvPr>
          <p:cNvCxnSpPr/>
          <p:nvPr/>
        </p:nvCxnSpPr>
        <p:spPr>
          <a:xfrm>
            <a:off x="4393582" y="4223518"/>
            <a:ext cx="7917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200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리스트</a:t>
            </a:r>
            <a:r>
              <a:rPr lang="en-US" altLang="ko-KR" dirty="0"/>
              <a:t>(list)</a:t>
            </a:r>
            <a:r>
              <a:rPr lang="ko-KR" altLang="en-US" dirty="0"/>
              <a:t>와 배열</a:t>
            </a:r>
            <a:r>
              <a:rPr lang="en-US" altLang="ko-KR" dirty="0"/>
              <a:t>(array)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60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53885"/>
            <a:ext cx="11359411" cy="37087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행렬과 벡터연산을 목적으로 한다면 배열을 사용하는 것이 좋고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다양한 자료형이 포함된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연속적인 데이터를 목적으로 저장하려면 리스트를 사용한다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리스트는 </a:t>
            </a:r>
            <a:r>
              <a:rPr lang="ko-KR" altLang="en-US" sz="21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데이터를 추가해 나갈 수 있지만</a:t>
            </a:r>
            <a:r>
              <a:rPr lang="en-US" altLang="ko-KR" sz="21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배열은 선언과 동시에 고정된 크기를 갖는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차이가 있고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파이썬에서는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리스트 역시 배열과 마찬가지로 인덱스를 사용한 접근이 가능하다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배열을 사용하려면 라이브러리 </a:t>
            </a:r>
            <a:r>
              <a:rPr lang="en-US" altLang="ko-KR" sz="21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1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가 필요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하지만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리스트는 별도의 라이브러리가 필요 없이 기본적으로 사용할 수 있는 데이터 구조이다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64031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 구조의 변환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61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484177" y="1490598"/>
            <a:ext cx="11432088" cy="8536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기술통계와 같이 비교적 간단한 통계량을 계산한다면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리스트나 배열을 이용할 수 있지만 다양한 통계처리를 위해서는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DataFrame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사용하는 것이 편리하다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8D503E-9DD2-45F0-AC96-132419105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553" y="2559773"/>
            <a:ext cx="89154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10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 구조의 변환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62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484177" y="1490598"/>
            <a:ext cx="11432088" cy="8536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기술통계와 같이 비교적 간단한 통계량을 계산한다면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numpy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리스트나 배열을 이용할 수 있지만 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다양한 통계처리를 위해서는 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200" b="0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DataFrame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을 사용하는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것이 편리하다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79E843-B6E2-42A0-939F-C2BF8DAE9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073" y="2426970"/>
            <a:ext cx="89820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442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 파일 다루기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63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350EC1-F8BB-400D-99EE-B835FD290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827" y="1585447"/>
            <a:ext cx="7821007" cy="428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079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500" dirty="0"/>
              <a:t>[</a:t>
            </a:r>
            <a:r>
              <a:rPr lang="ko-KR" altLang="en-US" sz="3500" dirty="0"/>
              <a:t>단원정리</a:t>
            </a:r>
            <a:r>
              <a:rPr lang="en-US" altLang="ko-KR" sz="3500" dirty="0"/>
              <a:t>] </a:t>
            </a:r>
            <a:r>
              <a:rPr lang="ko-KR" altLang="en-US" sz="3500" dirty="0"/>
              <a:t>데이터를 엑셀 파일로 저장하는 방법</a:t>
            </a:r>
            <a:r>
              <a:rPr lang="ko-KR" altLang="en-US" dirty="0"/>
              <a:t>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64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555329"/>
            <a:ext cx="11359411" cy="96484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 안에서 데이터를 엑셀 파일로 저장하려면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pandas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DataFrame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변환한 다음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to_excel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endParaRPr lang="ko-KR" altLang="en-US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A7D1D0-3F58-451F-B8CE-FB1F2A434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38" y="2680092"/>
            <a:ext cx="9273136" cy="137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254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 err="1"/>
              <a:t>결측값</a:t>
            </a:r>
            <a:r>
              <a:rPr lang="ko-KR" altLang="en-US" dirty="0"/>
              <a:t> 다루기</a:t>
            </a:r>
            <a:endParaRPr lang="ko-KR" altLang="en-US" sz="30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2026-04-07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65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555329"/>
            <a:ext cx="11359411" cy="4184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처리하거나 다루는 메소드들은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Pandas.DataFrame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C8EF99-F405-4CBE-AA8D-7151E8E57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37" y="2092446"/>
            <a:ext cx="7646855" cy="344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437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 anchorCtr="0">
        <a:noAutofit/>
      </a:bodyPr>
      <a:lstStyle>
        <a:defPPr algn="l" fontAlgn="base" latinLnBrk="1">
          <a:lnSpc>
            <a:spcPct val="100000"/>
          </a:lnSpc>
          <a:defRPr sz="2800" b="0" dirty="0" smtClean="0">
            <a:latin typeface="한컴 고딕" panose="02000500000000000000" pitchFamily="2" charset="-127"/>
            <a:ea typeface="한컴 고딕" panose="02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purl.org/dc/terms/"/>
    <ds:schemaRef ds:uri="http://schemas.microsoft.com/office/2006/metadata/properties"/>
    <ds:schemaRef ds:uri="71af3243-3dd4-4a8d-8c0d-dd76da1f02a5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schemas.microsoft.com/sharepoint/v3"/>
    <ds:schemaRef ds:uri="230e9df3-be65-4c73-a93b-d1236ebd677e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</TotalTime>
  <Words>3304</Words>
  <Application>Microsoft Office PowerPoint</Application>
  <PresentationFormat>와이드스크린</PresentationFormat>
  <Paragraphs>521</Paragraphs>
  <Slides>65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7" baseType="lpstr">
      <vt:lpstr>(한글 글꼴 사용)</vt:lpstr>
      <vt:lpstr>-apple-system</vt:lpstr>
      <vt:lpstr>Noto Sans Light</vt:lpstr>
      <vt:lpstr>나눔스퀘어 네오 OTF Light</vt:lpstr>
      <vt:lpstr>한컴 고딕</vt:lpstr>
      <vt:lpstr>Arial</vt:lpstr>
      <vt:lpstr>Calibri</vt:lpstr>
      <vt:lpstr>Courier New</vt:lpstr>
      <vt:lpstr>Fira Mono</vt:lpstr>
      <vt:lpstr>Franklin Gothic Book</vt:lpstr>
      <vt:lpstr>Franklin Gothic Demi</vt:lpstr>
      <vt:lpstr>Custom</vt:lpstr>
      <vt:lpstr>빅데이터 분석 개론</vt:lpstr>
      <vt:lpstr>PowerPoint 프레젠테이션</vt:lpstr>
      <vt:lpstr>PowerPoint 프레젠테이션</vt:lpstr>
      <vt:lpstr>[참고 1] 스칼라 개념</vt:lpstr>
      <vt:lpstr>[참고 2] 벡터 개념</vt:lpstr>
      <vt:lpstr>[참고 3] 함수(function)와 메소드(method) </vt:lpstr>
      <vt:lpstr>4.1 데이터 구조인 리스트와 배열의 사용 방법</vt:lpstr>
      <vt:lpstr>4.1.1 리스트(list)</vt:lpstr>
      <vt:lpstr>4.1.1 리스트(list)</vt:lpstr>
      <vt:lpstr>&lt;예제 4-2&gt; 리스트의 메소드 사용법 </vt:lpstr>
      <vt:lpstr>[참고 4] 파이썬 프로그램의 오류들</vt:lpstr>
      <vt:lpstr>4.1.2 배열 </vt:lpstr>
      <vt:lpstr>4.1.2 배열 </vt:lpstr>
      <vt:lpstr>&lt;예제 4-5&gt; 1차원 배열의 연산 </vt:lpstr>
      <vt:lpstr>&lt;예제 4-6&gt; 2차원 배열의 합과 곱</vt:lpstr>
      <vt:lpstr>&lt;예제 4-7&gt; 배열에서 메소드를 사용한 기술통계 사용예</vt:lpstr>
      <vt:lpstr>&lt;예제 4-8&gt; 배열 초기화 </vt:lpstr>
      <vt:lpstr>&lt;예제 4-9&gt; 특정 조건의 배열 요소로 초기화</vt:lpstr>
      <vt:lpstr>4.2 데이터 구조의 변환</vt:lpstr>
      <vt:lpstr>4.2.1</vt:lpstr>
      <vt:lpstr>4.2.2</vt:lpstr>
      <vt:lpstr>4.2.3  Pandas 유용한 메소드 정리 (1)</vt:lpstr>
      <vt:lpstr>4.2.3  Pandas 유용한 메소드 정리 (2)</vt:lpstr>
      <vt:lpstr>4.2.3  Pandas 유용한 메소드 정리 (3)</vt:lpstr>
      <vt:lpstr>&lt;예제 4-10&gt; 데이터프레임의 생성과 함수 melt()를 이용한                   데이터 재구조화</vt:lpstr>
      <vt:lpstr>&lt;예제 4-11&gt; 함수 concat()를 이용한 데이터 재구조화 </vt:lpstr>
      <vt:lpstr>&lt;예제 4-11&gt; 함수 concat()를 이용한 데이터 재구조화 </vt:lpstr>
      <vt:lpstr>&lt;예제 4-12&gt; 함수 merge()를 이용한 결합 </vt:lpstr>
      <vt:lpstr>&lt;예제 4-13&gt; 함수 pivot()을 이용한 행렬 전환 </vt:lpstr>
      <vt:lpstr>&lt;예제 4-14&gt; 함수 groupby()를 이용한 그룹화 </vt:lpstr>
      <vt:lpstr>&lt;예제 추가&gt; 함수 pivot_table()</vt:lpstr>
      <vt:lpstr>&lt;예제 4-15&gt;  메소드 sort_value를  이용한 데이터 정렬</vt:lpstr>
      <vt:lpstr>4.3 데이터 파일 다루기 </vt:lpstr>
      <vt:lpstr>4.3 데이터 파일 다루기 </vt:lpstr>
      <vt:lpstr>4.3.1 데이터 파일 불러오기 </vt:lpstr>
      <vt:lpstr>4.3.1 데이터 파일 불러오기 </vt:lpstr>
      <vt:lpstr>4.3.1 데이터 파일 불러오기 </vt:lpstr>
      <vt:lpstr>&lt;예제 4-16&gt; CSV 파일 불러오기 </vt:lpstr>
      <vt:lpstr>[참고 3] 이스케이프 시퀀스(escape sequence) 사용시 오류 해결</vt:lpstr>
      <vt:lpstr>[참고 3] 이스케이프 시퀀스(escape sequence) 사용시 오류 해결</vt:lpstr>
      <vt:lpstr>4.3.2 데이터 파일 생성하기 </vt:lpstr>
      <vt:lpstr>&lt;예제 4-17&gt; 데이터 파일의 생성</vt:lpstr>
      <vt:lpstr>그래프에 대한 이미지 파일 생성</vt:lpstr>
      <vt:lpstr>4.4 결측값 다루기</vt:lpstr>
      <vt:lpstr>4.4 결측값 다루기</vt:lpstr>
      <vt:lpstr>4.4 결측값 다루기</vt:lpstr>
      <vt:lpstr>&lt;예제 4-18&gt; 결측값이 포함된 데이터 </vt:lpstr>
      <vt:lpstr>4.4.1 결측값 확인하기 </vt:lpstr>
      <vt:lpstr>&lt;예제 4-19&gt; 사례수가 많은 경우에 결측값의 확인 </vt:lpstr>
      <vt:lpstr>&lt;예제 4-20&gt; 함수 isnull()을 이용한 결측값의 확인 </vt:lpstr>
      <vt:lpstr>&lt;예제 4-21&gt; 결측값의 개수 확인</vt:lpstr>
      <vt:lpstr>&lt;예제 4-22&gt; 함수 notnull()를 이용한 결측값의 확인 </vt:lpstr>
      <vt:lpstr>4.4.2 값을 대체하기 </vt:lpstr>
      <vt:lpstr>&lt;예제 4-23&gt; 결측값이 포함된 평균 계산 </vt:lpstr>
      <vt:lpstr>&lt;예제 4-24&gt; 함수 fillna()를 이용한 결측값의 대체</vt:lpstr>
      <vt:lpstr>&lt;예제 4-25&gt; 잘못 입력한 값의 대체(함수 replace()) </vt:lpstr>
      <vt:lpstr>4.4.3 결측 사례 삭제하기 </vt:lpstr>
      <vt:lpstr>&lt;예제 4-26&gt; 결측값이 포함된 사례(데이터 행)의 삭제</vt:lpstr>
      <vt:lpstr>&lt;예제 4-27&gt; 결측값이 포함된 사례(데이터 열)의 삭제 </vt:lpstr>
      <vt:lpstr>[단원정리] 리스트(list)와 배열(array)</vt:lpstr>
      <vt:lpstr>[단원정리] 데이터 구조의 변환</vt:lpstr>
      <vt:lpstr>[단원정리] 데이터 구조의 변환</vt:lpstr>
      <vt:lpstr>[단원정리] 데이터 파일 다루기 </vt:lpstr>
      <vt:lpstr>[단원정리] 데이터를 엑셀 파일로 저장하는 방법 </vt:lpstr>
      <vt:lpstr>[단원정리] 결측값 다루기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경화 강</cp:lastModifiedBy>
  <cp:revision>40</cp:revision>
  <dcterms:created xsi:type="dcterms:W3CDTF">2023-12-20T08:12:12Z</dcterms:created>
  <dcterms:modified xsi:type="dcterms:W3CDTF">2026-04-07T00:56:22Z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