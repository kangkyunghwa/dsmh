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8" r:id="rId4"/>
  </p:sldMasterIdLst>
  <p:notesMasterIdLst>
    <p:notesMasterId r:id="rId65"/>
  </p:notesMasterIdLst>
  <p:handoutMasterIdLst>
    <p:handoutMasterId r:id="rId66"/>
  </p:handoutMasterIdLst>
  <p:sldIdLst>
    <p:sldId id="410" r:id="rId5"/>
    <p:sldId id="546" r:id="rId6"/>
    <p:sldId id="413" r:id="rId7"/>
    <p:sldId id="547" r:id="rId8"/>
    <p:sldId id="545" r:id="rId9"/>
    <p:sldId id="466" r:id="rId10"/>
    <p:sldId id="416" r:id="rId11"/>
    <p:sldId id="425" r:id="rId12"/>
    <p:sldId id="518" r:id="rId13"/>
    <p:sldId id="467" r:id="rId14"/>
    <p:sldId id="469" r:id="rId15"/>
    <p:sldId id="468" r:id="rId16"/>
    <p:sldId id="519" r:id="rId17"/>
    <p:sldId id="427" r:id="rId18"/>
    <p:sldId id="521" r:id="rId19"/>
    <p:sldId id="522" r:id="rId20"/>
    <p:sldId id="523" r:id="rId21"/>
    <p:sldId id="524" r:id="rId22"/>
    <p:sldId id="428" r:id="rId23"/>
    <p:sldId id="475" r:id="rId24"/>
    <p:sldId id="525" r:id="rId25"/>
    <p:sldId id="526" r:id="rId26"/>
    <p:sldId id="476" r:id="rId27"/>
    <p:sldId id="527" r:id="rId28"/>
    <p:sldId id="477" r:id="rId29"/>
    <p:sldId id="478" r:id="rId30"/>
    <p:sldId id="479" r:id="rId31"/>
    <p:sldId id="480" r:id="rId32"/>
    <p:sldId id="528" r:id="rId33"/>
    <p:sldId id="481" r:id="rId34"/>
    <p:sldId id="529" r:id="rId35"/>
    <p:sldId id="530" r:id="rId36"/>
    <p:sldId id="488" r:id="rId37"/>
    <p:sldId id="491" r:id="rId38"/>
    <p:sldId id="531" r:id="rId39"/>
    <p:sldId id="430" r:id="rId40"/>
    <p:sldId id="506" r:id="rId41"/>
    <p:sldId id="507" r:id="rId42"/>
    <p:sldId id="510" r:id="rId43"/>
    <p:sldId id="532" r:id="rId44"/>
    <p:sldId id="533" r:id="rId45"/>
    <p:sldId id="511" r:id="rId46"/>
    <p:sldId id="512" r:id="rId47"/>
    <p:sldId id="513" r:id="rId48"/>
    <p:sldId id="534" r:id="rId49"/>
    <p:sldId id="535" r:id="rId50"/>
    <p:sldId id="536" r:id="rId51"/>
    <p:sldId id="537" r:id="rId52"/>
    <p:sldId id="538" r:id="rId53"/>
    <p:sldId id="539" r:id="rId54"/>
    <p:sldId id="540" r:id="rId55"/>
    <p:sldId id="541" r:id="rId56"/>
    <p:sldId id="542" r:id="rId57"/>
    <p:sldId id="543" r:id="rId58"/>
    <p:sldId id="461" r:id="rId59"/>
    <p:sldId id="514" r:id="rId60"/>
    <p:sldId id="544" r:id="rId61"/>
    <p:sldId id="515" r:id="rId62"/>
    <p:sldId id="516" r:id="rId63"/>
    <p:sldId id="517" r:id="rId6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98" autoAdjust="0"/>
    <p:restoredTop sz="96238" autoAdjust="0"/>
  </p:normalViewPr>
  <p:slideViewPr>
    <p:cSldViewPr snapToGrid="0">
      <p:cViewPr varScale="1">
        <p:scale>
          <a:sx n="70" d="100"/>
          <a:sy n="70" d="100"/>
        </p:scale>
        <p:origin x="432" y="43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84" d="100"/>
          <a:sy n="84" d="100"/>
        </p:scale>
        <p:origin x="2334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presProps" Target="presProps.xml"/><Relationship Id="rId7" Type="http://schemas.openxmlformats.org/officeDocument/2006/relationships/slide" Target="slides/slide3.xml"/><Relationship Id="rId71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microsoft.com/office/2018/10/relationships/authors" Target="author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commentAuthors" Target="commentAuthor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F6756E-81DA-9FAC-70D8-556F658BDD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BEDD12-BCD5-485B-BCBC-34BB01D7923C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1D415-D05A-7067-CCD3-457153D96C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230DF-5933-439D-898F-38E9AC9BA688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97095E3-54D2-CFD2-4F49-7536FC8641D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UNIVERSITY    DEPARTMENT</a:t>
            </a:r>
            <a:endParaRPr lang="en-US" dirty="0"/>
          </a:p>
        </p:txBody>
      </p:sp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521EE01A-C0B5-5ECF-96DD-768F86AA15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3228447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E7A52F-9D89-7442-A8E9-48D1527B5F6B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UNIVERSITY    DEPARTMENT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9C7E07-3C67-C64C-8DA0-0404F6303970}" type="slidenum">
              <a:rPr lang="en-US" smtClean="0"/>
              <a:pPr/>
              <a:t>‹#›</a:t>
            </a:fld>
            <a:r>
              <a:rPr lang="en-US" dirty="0"/>
              <a:t>/60</a:t>
            </a:r>
          </a:p>
        </p:txBody>
      </p:sp>
    </p:spTree>
    <p:extLst>
      <p:ext uri="{BB962C8B-B14F-4D97-AF65-F5344CB8AC3E}">
        <p14:creationId xmlns:p14="http://schemas.microsoft.com/office/powerpoint/2010/main" val="4032528379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BCA7E5-BC47-4B82-81BC-931F6059DA3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4538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3A1A51F-8993-4C5E-A46B-A38B68D203F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15520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6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5675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7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79987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8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6150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9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7451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10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01009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11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40408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12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808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13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90832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14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2363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15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86659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16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94575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17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26690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18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63396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19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3845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20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45318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21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95223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22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70659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23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665624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24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41313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25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278950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26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920020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27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2214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28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27752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29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51167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30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238740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31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574615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32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289141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33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540811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34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092684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35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633714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36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499195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37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847322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38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2372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39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473188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40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47223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41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331271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42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89561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43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626711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44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137466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45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052414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46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010588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47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335251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48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276691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49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59148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50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473708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51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359435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52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49352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53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787363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54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155337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55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894563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56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02127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57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686483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58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551083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59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930161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t>60</a:t>
            </a:fld>
            <a:endParaRPr 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6F85D0-8A1C-43AA-BABE-0852BDD5A7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UNIVERSITY    DEPARTMENT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6078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283200" y="411479"/>
            <a:ext cx="6513104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283200" y="4005626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327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AutoShape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2" name="Title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58" y="910627"/>
            <a:ext cx="6787747" cy="758541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 spc="50" baseline="0"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en-US" sz="2400" b="1" i="0" kern="1200" dirty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indent="-283464">
              <a:spcBef>
                <a:spcPts val="600"/>
              </a:spcBef>
              <a:defRPr sz="2000"/>
            </a:lvl2pPr>
            <a:lvl3pPr indent="-283464">
              <a:spcBef>
                <a:spcPts val="1800"/>
              </a:spcBef>
              <a:defRPr sz="2000"/>
            </a:lvl3pPr>
            <a:lvl4pPr indent="-283464">
              <a:spcBef>
                <a:spcPts val="1800"/>
              </a:spcBef>
              <a:defRPr sz="2000"/>
            </a:lvl4pPr>
            <a:lvl5pPr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3" name="Slide Number Placeholder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42" name="Date Placeholder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BFD97A6B-37B9-4B45-8753-2537594BD9E7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59" y="2065713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089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>
            <a:no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60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9169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 userDrawn="1">
          <p15:clr>
            <a:srgbClr val="FBAE40"/>
          </p15:clr>
        </p15:guide>
        <p15:guide id="4" pos="4560" userDrawn="1">
          <p15:clr>
            <a:srgbClr val="FBAE40"/>
          </p15:clr>
        </p15:guide>
        <p15:guide id="8" orient="horz" pos="184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-11113"/>
            <a:ext cx="5791200" cy="6880226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7914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1049714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Freeform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773789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 baseline="0">
                <a:latin typeface="(한글 글꼴 사용)"/>
                <a:ea typeface="한컴 고딕" panose="02000500000000000000" pitchFamily="2" charset="-127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sz="2000" baseline="0">
                <a:latin typeface="(한글 글꼴 사용)"/>
                <a:ea typeface="한컴 고딕" panose="02000500000000000000" pitchFamily="2" charset="-127"/>
              </a:defRPr>
            </a:lvl1pPr>
            <a:lvl2pPr indent="-283464">
              <a:spcBef>
                <a:spcPts val="1800"/>
              </a:spcBef>
              <a:defRPr sz="2000" baseline="0">
                <a:latin typeface="(한글 글꼴 사용)"/>
                <a:ea typeface="한컴 고딕" panose="02000500000000000000" pitchFamily="2" charset="-127"/>
              </a:defRPr>
            </a:lvl2pPr>
            <a:lvl3pPr indent="-283464">
              <a:spcBef>
                <a:spcPts val="1800"/>
              </a:spcBef>
              <a:defRPr sz="2000" baseline="0">
                <a:latin typeface="(한글 글꼴 사용)"/>
                <a:ea typeface="한컴 고딕" panose="02000500000000000000" pitchFamily="2" charset="-127"/>
              </a:defRPr>
            </a:lvl3pPr>
            <a:lvl4pPr indent="-283464">
              <a:spcBef>
                <a:spcPts val="1800"/>
              </a:spcBef>
              <a:defRPr sz="2000" baseline="0">
                <a:latin typeface="(한글 글꼴 사용)"/>
                <a:ea typeface="한컴 고딕" panose="02000500000000000000" pitchFamily="2" charset="-127"/>
              </a:defRPr>
            </a:lvl4pPr>
            <a:lvl5pPr indent="-283464">
              <a:spcBef>
                <a:spcPts val="1800"/>
              </a:spcBef>
              <a:defRPr sz="2000" baseline="0">
                <a:latin typeface="(한글 글꼴 사용)"/>
                <a:ea typeface="한컴 고딕" panose="02000500000000000000" pitchFamily="2" charset="-127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r>
              <a:rPr lang="en-US" dirty="0"/>
              <a:t> </a:t>
            </a:r>
            <a:endParaRPr lang="en-US" dirty="0">
              <a:latin typeface="+mn-lt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90DDAFA7-FFF2-4A51-B0D4-62CB76833446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02964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한컴 고딕" panose="02000500000000000000" pitchFamily="2" charset="-127"/>
                <a:ea typeface="한컴 고딕" panose="02000500000000000000" pitchFamily="2" charset="-127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chemeClr val="tx2">
                    <a:lumMod val="75000"/>
                  </a:schemeClr>
                </a:solidFill>
                <a:latin typeface="한컴 고딕" panose="02000500000000000000" pitchFamily="2" charset="-127"/>
                <a:ea typeface="한컴 고딕" panose="02000500000000000000" pitchFamily="2" charset="-127"/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027108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e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724643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한컴 고딕" panose="02000500000000000000" pitchFamily="2" charset="-127"/>
                <a:ea typeface="한컴 고딕" panose="02000500000000000000" pitchFamily="2" charset="-127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1638828"/>
            <a:ext cx="4490827" cy="4635167"/>
          </a:xfrm>
        </p:spPr>
        <p:txBody>
          <a:bodyPr lIns="0" tIns="4572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>
                <a:latin typeface="한컴 고딕" panose="02000500000000000000" pitchFamily="2" charset="-127"/>
                <a:ea typeface="한컴 고딕" panose="02000500000000000000" pitchFamily="2" charset="-127"/>
              </a:defRPr>
            </a:lvl1pPr>
            <a:lvl2pPr marL="283464" indent="-283464">
              <a:spcBef>
                <a:spcPts val="1800"/>
              </a:spcBef>
              <a:defRPr sz="2000">
                <a:latin typeface="한컴 고딕" panose="02000500000000000000" pitchFamily="2" charset="-127"/>
                <a:ea typeface="한컴 고딕" panose="02000500000000000000" pitchFamily="2" charset="-127"/>
              </a:defRPr>
            </a:lvl2pPr>
            <a:lvl3pPr marL="594360" indent="-283464">
              <a:spcBef>
                <a:spcPts val="1800"/>
              </a:spcBef>
              <a:defRPr sz="2000">
                <a:latin typeface="한컴 고딕" panose="02000500000000000000" pitchFamily="2" charset="-127"/>
                <a:ea typeface="한컴 고딕" panose="02000500000000000000" pitchFamily="2" charset="-127"/>
              </a:defRPr>
            </a:lvl3pPr>
            <a:lvl4pPr marL="822960" indent="-283464">
              <a:spcBef>
                <a:spcPts val="1800"/>
              </a:spcBef>
              <a:defRPr sz="2000">
                <a:latin typeface="한컴 고딕" panose="02000500000000000000" pitchFamily="2" charset="-127"/>
                <a:ea typeface="한컴 고딕" panose="02000500000000000000" pitchFamily="2" charset="-127"/>
              </a:defRPr>
            </a:lvl4pPr>
            <a:lvl5pPr marL="1005840" indent="-283464">
              <a:spcBef>
                <a:spcPts val="1800"/>
              </a:spcBef>
              <a:defRPr sz="2000">
                <a:latin typeface="한컴 고딕" panose="02000500000000000000" pitchFamily="2" charset="-127"/>
                <a:ea typeface="한컴 고딕" panose="02000500000000000000" pitchFamily="2" charset="-127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1638828"/>
            <a:ext cx="4490827" cy="4635167"/>
          </a:xfrm>
        </p:spPr>
        <p:txBody>
          <a:bodyPr lIns="0" tIns="4572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>
                <a:latin typeface="한컴 고딕" panose="02000500000000000000" pitchFamily="2" charset="-127"/>
                <a:ea typeface="한컴 고딕" panose="02000500000000000000" pitchFamily="2" charset="-127"/>
              </a:defRPr>
            </a:lvl1pPr>
            <a:lvl2pPr marL="283464" indent="-283464">
              <a:spcBef>
                <a:spcPts val="1800"/>
              </a:spcBef>
              <a:defRPr sz="2000">
                <a:latin typeface="한컴 고딕" panose="02000500000000000000" pitchFamily="2" charset="-127"/>
                <a:ea typeface="한컴 고딕" panose="02000500000000000000" pitchFamily="2" charset="-127"/>
              </a:defRPr>
            </a:lvl2pPr>
            <a:lvl3pPr marL="548640" indent="-283464">
              <a:spcBef>
                <a:spcPts val="1800"/>
              </a:spcBef>
              <a:defRPr sz="2000">
                <a:latin typeface="한컴 고딕" panose="02000500000000000000" pitchFamily="2" charset="-127"/>
                <a:ea typeface="한컴 고딕" panose="02000500000000000000" pitchFamily="2" charset="-127"/>
              </a:defRPr>
            </a:lvl3pPr>
            <a:lvl4pPr marL="822960" indent="-283464">
              <a:spcBef>
                <a:spcPts val="1800"/>
              </a:spcBef>
              <a:defRPr sz="2000">
                <a:latin typeface="한컴 고딕" panose="02000500000000000000" pitchFamily="2" charset="-127"/>
                <a:ea typeface="한컴 고딕" panose="02000500000000000000" pitchFamily="2" charset="-127"/>
              </a:defRPr>
            </a:lvl4pPr>
            <a:lvl5pPr marL="1005840" indent="-283464">
              <a:spcBef>
                <a:spcPts val="1800"/>
              </a:spcBef>
              <a:defRPr sz="2000">
                <a:latin typeface="한컴 고딕" panose="02000500000000000000" pitchFamily="2" charset="-127"/>
                <a:ea typeface="한컴 고딕" panose="02000500000000000000" pitchFamily="2" charset="-127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r>
              <a:rPr lang="en-US" dirty="0"/>
              <a:t> </a:t>
            </a:r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BA877F9F-A58C-4808-8074-96E40A336903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11882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056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AutoShape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8" name="Freeform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한컴 고딕" panose="02000500000000000000" pitchFamily="2" charset="-127"/>
                <a:ea typeface="한컴 고딕" panose="02000500000000000000" pitchFamily="2" charset="-127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sz="2000">
                <a:latin typeface="한컴 고딕" panose="02000500000000000000" pitchFamily="2" charset="-127"/>
                <a:ea typeface="한컴 고딕" panose="02000500000000000000" pitchFamily="2" charset="-127"/>
              </a:defRPr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sz="2000">
                <a:latin typeface="한컴 고딕" panose="02000500000000000000" pitchFamily="2" charset="-127"/>
                <a:ea typeface="한컴 고딕" panose="02000500000000000000" pitchFamily="2" charset="-127"/>
              </a:defRPr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sz="2000">
                <a:latin typeface="한컴 고딕" panose="02000500000000000000" pitchFamily="2" charset="-127"/>
                <a:ea typeface="한컴 고딕" panose="02000500000000000000" pitchFamily="2" charset="-127"/>
              </a:defRPr>
            </a:lvl3pPr>
            <a:lvl4pPr marL="1371600" indent="0">
              <a:spcBef>
                <a:spcPts val="1800"/>
              </a:spcBef>
              <a:buFont typeface="+mj-lt"/>
              <a:buNone/>
              <a:defRPr sz="2000">
                <a:latin typeface="한컴 고딕" panose="02000500000000000000" pitchFamily="2" charset="-127"/>
                <a:ea typeface="한컴 고딕" panose="02000500000000000000" pitchFamily="2" charset="-127"/>
              </a:defRPr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endParaRPr lang="en-US" dirty="0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>
                <a:latin typeface="한컴 고딕" panose="02000500000000000000" pitchFamily="2" charset="-127"/>
                <a:ea typeface="한컴 고딕" panose="02000500000000000000" pitchFamily="2" charset="-127"/>
              </a:defRPr>
            </a:lvl1pPr>
            <a:lvl2pPr marL="283464" indent="-283464">
              <a:spcBef>
                <a:spcPts val="1800"/>
              </a:spcBef>
              <a:defRPr sz="2000">
                <a:latin typeface="한컴 고딕" panose="02000500000000000000" pitchFamily="2" charset="-127"/>
                <a:ea typeface="한컴 고딕" panose="02000500000000000000" pitchFamily="2" charset="-127"/>
              </a:defRPr>
            </a:lvl2pPr>
            <a:lvl3pPr marL="548640" indent="-283464">
              <a:spcBef>
                <a:spcPts val="1800"/>
              </a:spcBef>
              <a:defRPr sz="2000">
                <a:latin typeface="한컴 고딕" panose="02000500000000000000" pitchFamily="2" charset="-127"/>
                <a:ea typeface="한컴 고딕" panose="02000500000000000000" pitchFamily="2" charset="-127"/>
              </a:defRPr>
            </a:lvl3pPr>
            <a:lvl4pPr marL="822960" indent="-283464">
              <a:spcBef>
                <a:spcPts val="1800"/>
              </a:spcBef>
              <a:defRPr sz="2000">
                <a:latin typeface="한컴 고딕" panose="02000500000000000000" pitchFamily="2" charset="-127"/>
                <a:ea typeface="한컴 고딕" panose="02000500000000000000" pitchFamily="2" charset="-127"/>
              </a:defRPr>
            </a:lvl4pPr>
            <a:lvl5pPr marL="1005840" indent="-283464">
              <a:spcBef>
                <a:spcPts val="1800"/>
              </a:spcBef>
              <a:defRPr sz="2000">
                <a:latin typeface="한컴 고딕" panose="02000500000000000000" pitchFamily="2" charset="-127"/>
                <a:ea typeface="한컴 고딕" panose="02000500000000000000" pitchFamily="2" charset="-127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r>
              <a:rPr lang="en-US" dirty="0"/>
              <a:t> </a:t>
            </a:r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59EDFA48-5BD9-4DF2-8D71-CED9532EBB86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54606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Pictu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indent="-283464">
              <a:spcBef>
                <a:spcPts val="1800"/>
              </a:spcBef>
              <a:defRPr sz="2000"/>
            </a:lvl2pPr>
            <a:lvl3pPr indent="-283464">
              <a:spcBef>
                <a:spcPts val="1800"/>
              </a:spcBef>
              <a:defRPr sz="2000"/>
            </a:lvl3pPr>
            <a:lvl4pPr indent="-283464">
              <a:spcBef>
                <a:spcPts val="1800"/>
              </a:spcBef>
              <a:defRPr sz="2000"/>
            </a:lvl4pPr>
            <a:lvl5pPr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118225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r>
              <a:rPr lang="en-US" dirty="0"/>
              <a:t> </a:t>
            </a:r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67883C47-1A2A-4F57-A0D5-1FFCF1E9D1A7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29319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Freeform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7" name="Freeform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457200" indent="0">
              <a:spcBef>
                <a:spcPts val="1800"/>
              </a:spcBef>
              <a:buNone/>
              <a:defRPr sz="2000"/>
            </a:lvl2pPr>
            <a:lvl3pPr marL="914400" indent="0">
              <a:spcBef>
                <a:spcPts val="1800"/>
              </a:spcBef>
              <a:buNone/>
              <a:defRPr sz="2000"/>
            </a:lvl3pPr>
            <a:lvl4pPr marL="1371600" indent="0">
              <a:spcBef>
                <a:spcPts val="1800"/>
              </a:spcBef>
              <a:buNone/>
              <a:defRPr sz="2000"/>
            </a:lvl4pPr>
            <a:lvl5pPr marL="1828800" indent="0">
              <a:spcBef>
                <a:spcPts val="1800"/>
              </a:spcBef>
              <a:buNone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>
            <a:normAutofit/>
          </a:bodyPr>
          <a:lstStyle>
            <a:lvl1pPr marL="0" indent="0">
              <a:spcBef>
                <a:spcPts val="1800"/>
              </a:spcBef>
              <a:buNone/>
              <a:defRPr sz="2000"/>
            </a:lvl1pPr>
            <a:lvl2pPr>
              <a:spcBef>
                <a:spcPts val="600"/>
              </a:spcBef>
              <a:defRPr sz="2000"/>
            </a:lvl2pPr>
            <a:lvl3pPr>
              <a:spcBef>
                <a:spcPts val="1800"/>
              </a:spcBef>
              <a:defRPr sz="2000"/>
            </a:lvl3pPr>
            <a:lvl4pPr>
              <a:spcBef>
                <a:spcPts val="1800"/>
              </a:spcBef>
              <a:defRPr sz="2000"/>
            </a:lvl4pPr>
            <a:lvl5pPr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r>
              <a:rPr lang="en-US" dirty="0"/>
              <a:t> </a:t>
            </a:r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B1AB338-7267-4940-8A5B-18AADA9CD191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44329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e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>
            <a:normAutofit/>
          </a:bodyPr>
          <a:lstStyle>
            <a:lvl1pPr marL="0" indent="0">
              <a:spcBef>
                <a:spcPts val="1800"/>
              </a:spcBef>
              <a:buNone/>
              <a:defRPr sz="2000"/>
            </a:lvl1pPr>
            <a:lvl2pPr>
              <a:spcBef>
                <a:spcPts val="600"/>
              </a:spcBef>
              <a:defRPr sz="2000"/>
            </a:lvl2pPr>
            <a:lvl3pPr>
              <a:spcBef>
                <a:spcPts val="1800"/>
              </a:spcBef>
              <a:defRPr sz="2000"/>
            </a:lvl3pPr>
            <a:lvl4pPr>
              <a:spcBef>
                <a:spcPts val="1800"/>
              </a:spcBef>
              <a:defRPr sz="2000"/>
            </a:lvl4pPr>
            <a:lvl5pPr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sz="2000"/>
            </a:lvl1pPr>
            <a:lvl2pPr>
              <a:spcBef>
                <a:spcPts val="1800"/>
              </a:spcBef>
              <a:defRPr sz="2000"/>
            </a:lvl2pPr>
            <a:lvl3pPr>
              <a:spcBef>
                <a:spcPts val="1800"/>
              </a:spcBef>
              <a:defRPr sz="2000"/>
            </a:lvl3pPr>
            <a:lvl4pPr>
              <a:spcBef>
                <a:spcPts val="1800"/>
              </a:spcBef>
              <a:defRPr sz="2000"/>
            </a:lvl4pPr>
            <a:lvl5pPr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1993E2C-76D2-4EC0-8F76-FCD99F854036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r>
              <a:rPr lang="en-US" dirty="0"/>
              <a:t> 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49744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9" name="Table Placeholder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94360" y="2628629"/>
            <a:ext cx="10972800" cy="3636740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/>
              <a:t>Click icon to add table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r>
              <a:rPr lang="en-US" dirty="0"/>
              <a:t> </a:t>
            </a:r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7142A697-CF5B-4AE4-BC7B-718A66428128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41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27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ED84C6-50E6-6C43-8031-AFF626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360" y="1173018"/>
            <a:ext cx="10382250" cy="5003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itle Placeholder 11">
            <a:extLst>
              <a:ext uri="{FF2B5EF4-FFF2-40B4-BE49-F238E27FC236}">
                <a16:creationId xmlns:a16="http://schemas.microsoft.com/office/drawing/2014/main" id="{D41FC0AE-253D-D242-9C88-017078F8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365125"/>
            <a:ext cx="10401300" cy="6046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EF47083A-6D76-4B4D-87CA-E08E212F7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06299" y="6332220"/>
            <a:ext cx="131318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1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76DE19D1-2384-4B4C-ADE9-983849E25309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32" name="Slide Number Placeholder 5">
            <a:extLst>
              <a:ext uri="{FF2B5EF4-FFF2-40B4-BE49-F238E27FC236}">
                <a16:creationId xmlns:a16="http://schemas.microsoft.com/office/drawing/2014/main" id="{C8ADA0DF-3751-9A48-8A21-59F01C78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4360" y="6332220"/>
            <a:ext cx="52324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100" b="1" i="0">
                <a:solidFill>
                  <a:schemeClr val="bg1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3CEA9A-D793-4A5A-80EE-73C0E2D9A518}"/>
              </a:ext>
            </a:extLst>
          </p:cNvPr>
          <p:cNvSpPr txBox="1"/>
          <p:nvPr userDrawn="1"/>
        </p:nvSpPr>
        <p:spPr>
          <a:xfrm>
            <a:off x="822037" y="6295276"/>
            <a:ext cx="452581" cy="247651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pPr algn="l" fontAlgn="base" latinLnBrk="1">
              <a:lnSpc>
                <a:spcPct val="100000"/>
              </a:lnSpc>
            </a:pPr>
            <a:r>
              <a:rPr lang="en-US" altLang="ko-KR" sz="1100" b="0" dirty="0">
                <a:solidFill>
                  <a:srgbClr val="FF0000"/>
                </a:solidFill>
                <a:latin typeface="+mj-lt"/>
                <a:ea typeface="한컴 고딕" panose="02000500000000000000" pitchFamily="2" charset="-127"/>
              </a:rPr>
              <a:t>/57</a:t>
            </a:r>
            <a:endParaRPr lang="ko-KR" altLang="en-US" sz="1100" b="0" dirty="0">
              <a:solidFill>
                <a:srgbClr val="FF0000"/>
              </a:solidFill>
              <a:latin typeface="+mj-lt"/>
              <a:ea typeface="한컴 고딕" panose="02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158922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698" r:id="rId2"/>
    <p:sldLayoutId id="2147483710" r:id="rId3"/>
    <p:sldLayoutId id="2147483700" r:id="rId4"/>
    <p:sldLayoutId id="2147483701" r:id="rId5"/>
    <p:sldLayoutId id="2147483659" r:id="rId6"/>
    <p:sldLayoutId id="2147483709" r:id="rId7"/>
    <p:sldLayoutId id="2147483708" r:id="rId8"/>
    <p:sldLayoutId id="2147483707" r:id="rId9"/>
    <p:sldLayoutId id="2147483706" r:id="rId10"/>
    <p:sldLayoutId id="2147483705" r:id="rId11"/>
    <p:sldLayoutId id="2147483704" r:id="rId12"/>
    <p:sldLayoutId id="2147483703" r:id="rId13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b="1" i="0" kern="1200" spc="100" baseline="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600" indent="-283464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600" userDrawn="1">
          <p15:clr>
            <a:srgbClr val="547EBF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48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pos="39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0.png"/><Relationship Id="rId4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7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7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1D9D6-2977-ABCD-FDF8-51AFA5064E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97151" y="411479"/>
            <a:ext cx="6792685" cy="3291840"/>
          </a:xfrm>
        </p:spPr>
        <p:txBody>
          <a:bodyPr/>
          <a:lstStyle/>
          <a:p>
            <a:r>
              <a:rPr lang="ko-KR" altLang="en-US" dirty="0">
                <a:latin typeface="한컴 고딕" panose="02000500000000000000" pitchFamily="2" charset="-127"/>
                <a:ea typeface="한컴 고딕" panose="02000500000000000000" pitchFamily="2" charset="-127"/>
              </a:rPr>
              <a:t>빅데이터 분석 개론</a:t>
            </a:r>
            <a:endParaRPr lang="en-US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90304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2F7D71-7570-0446-A705-65B127F4949D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2</a:t>
            </a:fld>
            <a:r>
              <a:rPr lang="en-US"/>
              <a:t> </a:t>
            </a:r>
            <a:endParaRPr lang="en-US" dirty="0">
              <a:latin typeface="+mn-lt"/>
            </a:endParaRP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ADEA749-351B-9D38-2948-BBFBC2BF46E4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90DDAFA7-FFF2-4A51-B0D4-62CB76833446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7115C2E-B0AB-D67D-6069-5A6B484A5C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6966" y="1027674"/>
            <a:ext cx="10920761" cy="517064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ko-KR" altLang="ko-KR" sz="2100" b="1" dirty="0">
                <a:solidFill>
                  <a:srgbClr val="0A0A0A"/>
                </a:solidFill>
                <a:cs typeface="Arial" panose="020B0604020202020204" pitchFamily="34" charset="0"/>
              </a:rPr>
              <a:t>목적:</a:t>
            </a:r>
            <a:r>
              <a:rPr lang="ko-KR" altLang="ko-KR" sz="2100" dirty="0">
                <a:solidFill>
                  <a:srgbClr val="0A0A0A"/>
                </a:solidFill>
                <a:cs typeface="Arial" panose="020B0604020202020204" pitchFamily="34" charset="0"/>
              </a:rPr>
              <a:t> 데이터의 전반적인 모양새 파악, </a:t>
            </a:r>
            <a:r>
              <a:rPr lang="ko-KR" altLang="ko-KR" sz="2100" dirty="0">
                <a:solidFill>
                  <a:srgbClr val="FF0000"/>
                </a:solidFill>
                <a:cs typeface="Arial" panose="020B0604020202020204" pitchFamily="34" charset="0"/>
              </a:rPr>
              <a:t>이상치(</a:t>
            </a:r>
            <a:r>
              <a:rPr lang="ko-KR" altLang="ko-KR" sz="2100" dirty="0" err="1">
                <a:solidFill>
                  <a:srgbClr val="FF0000"/>
                </a:solidFill>
                <a:cs typeface="Arial" panose="020B0604020202020204" pitchFamily="34" charset="0"/>
              </a:rPr>
              <a:t>Outlier</a:t>
            </a:r>
            <a:r>
              <a:rPr lang="ko-KR" altLang="ko-KR" sz="2100" dirty="0">
                <a:solidFill>
                  <a:srgbClr val="FF0000"/>
                </a:solidFill>
                <a:cs typeface="Arial" panose="020B0604020202020204" pitchFamily="34" charset="0"/>
              </a:rPr>
              <a:t>) 발견</a:t>
            </a:r>
            <a:r>
              <a:rPr lang="ko-KR" altLang="ko-KR" sz="2100" dirty="0">
                <a:solidFill>
                  <a:srgbClr val="0A0A0A"/>
                </a:solidFill>
                <a:cs typeface="Arial" panose="020B0604020202020204" pitchFamily="34" charset="0"/>
              </a:rPr>
              <a:t>, 데이터 </a:t>
            </a:r>
            <a:r>
              <a:rPr lang="ko-KR" altLang="ko-KR" sz="2100" dirty="0" err="1">
                <a:solidFill>
                  <a:srgbClr val="FF0000"/>
                </a:solidFill>
                <a:cs typeface="Arial" panose="020B0604020202020204" pitchFamily="34" charset="0"/>
              </a:rPr>
              <a:t>전처리</a:t>
            </a:r>
            <a:r>
              <a:rPr lang="ko-KR" altLang="ko-KR" sz="2100" dirty="0">
                <a:solidFill>
                  <a:srgbClr val="FF0000"/>
                </a:solidFill>
                <a:cs typeface="Arial" panose="020B0604020202020204" pitchFamily="34" charset="0"/>
              </a:rPr>
              <a:t> 및 데이터 요약</a:t>
            </a:r>
            <a:endParaRPr lang="ko-KR" altLang="ko-KR" sz="2100" dirty="0">
              <a:solidFill>
                <a:srgbClr val="FF0000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 1. </a:t>
            </a:r>
            <a:r>
              <a:rPr kumimoji="0" lang="ko-KR" altLang="ko-KR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수집된 데이터의 특성을 요약, 묘사, 설명하는 통계 기법</a:t>
            </a:r>
            <a:endParaRPr kumimoji="0" lang="en-US" altLang="ko-KR" sz="21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2100" dirty="0">
                <a:solidFill>
                  <a:srgbClr val="0A0A0A"/>
                </a:solidFill>
                <a:cs typeface="Arial" panose="020B0604020202020204" pitchFamily="34" charset="0"/>
              </a:rPr>
              <a:t> 2.</a:t>
            </a:r>
            <a:r>
              <a:rPr kumimoji="0" lang="ko-KR" altLang="ko-KR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 데이터의 분포와 특성을 파악하는 기초 분석</a:t>
            </a:r>
            <a:endParaRPr kumimoji="0" lang="en-US" altLang="ko-KR" sz="21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2100" dirty="0">
                <a:solidFill>
                  <a:srgbClr val="0A0A0A"/>
                </a:solidFill>
                <a:cs typeface="Arial" panose="020B0604020202020204" pitchFamily="34" charset="0"/>
              </a:rPr>
              <a:t> 3. </a:t>
            </a:r>
            <a:r>
              <a:rPr kumimoji="0" lang="ko-KR" altLang="ko-KR" sz="2100" b="0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cs typeface="Arial" panose="020B0604020202020204" pitchFamily="34" charset="0"/>
              </a:rPr>
              <a:t>평균, 중앙값, </a:t>
            </a:r>
            <a:r>
              <a:rPr kumimoji="0" lang="ko-KR" altLang="ko-KR" sz="2100" b="0" i="0" u="none" strike="noStrike" cap="none" normalizeH="0" baseline="0" dirty="0" err="1">
                <a:ln>
                  <a:noFill/>
                </a:ln>
                <a:solidFill>
                  <a:srgbClr val="0070C0"/>
                </a:solidFill>
                <a:effectLst/>
                <a:cs typeface="Arial" panose="020B0604020202020204" pitchFamily="34" charset="0"/>
              </a:rPr>
              <a:t>최빈값</a:t>
            </a:r>
            <a:r>
              <a:rPr kumimoji="0" lang="ko-KR" altLang="ko-KR" sz="2100" b="0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cs typeface="Arial" panose="020B0604020202020204" pitchFamily="34" charset="0"/>
              </a:rPr>
              <a:t>, 표준편차, 분산, 최댓값, 최솟값, </a:t>
            </a:r>
            <a:r>
              <a:rPr kumimoji="0" lang="ko-KR" altLang="ko-KR" sz="2100" b="0" i="0" u="none" strike="noStrike" cap="none" normalizeH="0" baseline="0" dirty="0" err="1">
                <a:ln>
                  <a:noFill/>
                </a:ln>
                <a:solidFill>
                  <a:srgbClr val="0070C0"/>
                </a:solidFill>
                <a:effectLst/>
                <a:cs typeface="Arial" panose="020B0604020202020204" pitchFamily="34" charset="0"/>
              </a:rPr>
              <a:t>왜도</a:t>
            </a:r>
            <a:r>
              <a:rPr kumimoji="0" lang="ko-KR" altLang="ko-KR" sz="2100" b="0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cs typeface="Arial" panose="020B0604020202020204" pitchFamily="34" charset="0"/>
              </a:rPr>
              <a:t>, 첨도 </a:t>
            </a:r>
            <a:r>
              <a:rPr kumimoji="0" lang="ko-KR" altLang="ko-KR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등을 사용하여 데이터 </a:t>
            </a:r>
            <a:endParaRPr kumimoji="0" lang="en-US" altLang="ko-KR" sz="21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2100" dirty="0">
                <a:solidFill>
                  <a:srgbClr val="0A0A0A"/>
                </a:solidFill>
                <a:cs typeface="Arial" panose="020B0604020202020204" pitchFamily="34" charset="0"/>
              </a:rPr>
              <a:t>     </a:t>
            </a:r>
            <a:r>
              <a:rPr kumimoji="0" lang="ko-KR" altLang="ko-KR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전체의 형태와 중심 경향, 퍼짐 정도를 정확히 </a:t>
            </a:r>
            <a:endParaRPr kumimoji="0" lang="ko-KR" altLang="ko-KR" sz="2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21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 4. </a:t>
            </a:r>
            <a:r>
              <a:rPr kumimoji="0" lang="ko-KR" altLang="ko-KR" sz="21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핵심 요약</a:t>
            </a:r>
            <a:endParaRPr kumimoji="0" lang="ko-KR" altLang="ko-KR" sz="2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>
              <a:buFontTx/>
              <a:buChar char="•"/>
            </a:pPr>
            <a:r>
              <a:rPr kumimoji="0" lang="en-US" altLang="ko-KR" sz="21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 </a:t>
            </a:r>
            <a:r>
              <a:rPr kumimoji="0" lang="ko-KR" altLang="ko-KR" sz="21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주요 지표:</a:t>
            </a:r>
            <a:endParaRPr kumimoji="0" lang="ko-KR" altLang="ko-KR" sz="21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cs typeface="Arial" panose="020B0604020202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21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 </a:t>
            </a:r>
            <a:r>
              <a:rPr kumimoji="0" lang="ko-KR" altLang="ko-KR" sz="21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집중화 경향</a:t>
            </a:r>
            <a:r>
              <a:rPr kumimoji="0" lang="en-US" altLang="ko-KR" sz="21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 </a:t>
            </a:r>
            <a:r>
              <a:rPr kumimoji="0" lang="ko-KR" altLang="ko-KR" sz="21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:</a:t>
            </a:r>
            <a:r>
              <a:rPr kumimoji="0" lang="ko-KR" altLang="ko-KR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 평균(</a:t>
            </a:r>
            <a:r>
              <a:rPr kumimoji="0" lang="ko-KR" altLang="ko-KR" sz="21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Mean</a:t>
            </a:r>
            <a:r>
              <a:rPr kumimoji="0" lang="ko-KR" altLang="ko-KR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), 중앙값(</a:t>
            </a:r>
            <a:r>
              <a:rPr kumimoji="0" lang="ko-KR" altLang="ko-KR" sz="21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Median</a:t>
            </a:r>
            <a:r>
              <a:rPr kumimoji="0" lang="ko-KR" altLang="ko-KR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), </a:t>
            </a:r>
            <a:r>
              <a:rPr kumimoji="0" lang="ko-KR" altLang="ko-KR" sz="21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최빈값</a:t>
            </a:r>
            <a:r>
              <a:rPr kumimoji="0" lang="ko-KR" altLang="ko-KR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(</a:t>
            </a:r>
            <a:r>
              <a:rPr kumimoji="0" lang="ko-KR" altLang="ko-KR" sz="21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Mode</a:t>
            </a:r>
            <a:r>
              <a:rPr kumimoji="0" lang="ko-KR" altLang="ko-KR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).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21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 </a:t>
            </a:r>
            <a:r>
              <a:rPr kumimoji="0" lang="ko-KR" altLang="ko-KR" sz="21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분산도(산포):</a:t>
            </a:r>
            <a:r>
              <a:rPr kumimoji="0" lang="ko-KR" altLang="ko-KR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 표준편차(Standard </a:t>
            </a:r>
            <a:r>
              <a:rPr kumimoji="0" lang="ko-KR" altLang="ko-KR" sz="21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Deviation</a:t>
            </a:r>
            <a:r>
              <a:rPr kumimoji="0" lang="ko-KR" altLang="ko-KR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), 분산(</a:t>
            </a:r>
            <a:r>
              <a:rPr kumimoji="0" lang="ko-KR" altLang="ko-KR" sz="21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Variance</a:t>
            </a:r>
            <a:r>
              <a:rPr kumimoji="0" lang="ko-KR" altLang="ko-KR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), </a:t>
            </a:r>
            <a:endParaRPr kumimoji="0" lang="en-US" altLang="ko-KR" sz="21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cs typeface="Arial" panose="020B0604020202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ko-KR" sz="2100" dirty="0">
                <a:solidFill>
                  <a:srgbClr val="0A0A0A"/>
                </a:solidFill>
                <a:cs typeface="Arial" panose="020B0604020202020204" pitchFamily="34" charset="0"/>
              </a:rPr>
              <a:t>                        </a:t>
            </a:r>
            <a:r>
              <a:rPr kumimoji="0" lang="ko-KR" altLang="ko-KR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범위(</a:t>
            </a:r>
            <a:r>
              <a:rPr kumimoji="0" lang="ko-KR" altLang="ko-KR" sz="21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Range</a:t>
            </a:r>
            <a:r>
              <a:rPr kumimoji="0" lang="ko-KR" altLang="ko-KR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), 사분위수(</a:t>
            </a:r>
            <a:r>
              <a:rPr kumimoji="0" lang="ko-KR" altLang="ko-KR" sz="21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Quartile</a:t>
            </a:r>
            <a:r>
              <a:rPr kumimoji="0" lang="ko-KR" altLang="ko-KR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).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21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 </a:t>
            </a:r>
            <a:r>
              <a:rPr kumimoji="0" lang="ko-KR" altLang="ko-KR" sz="21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분포의 모양</a:t>
            </a:r>
            <a:r>
              <a:rPr kumimoji="0" lang="en-US" altLang="ko-KR" sz="21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 </a:t>
            </a:r>
            <a:r>
              <a:rPr kumimoji="0" lang="ko-KR" altLang="ko-KR" sz="21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:</a:t>
            </a:r>
            <a:r>
              <a:rPr kumimoji="0" lang="en-US" altLang="ko-KR" sz="21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 </a:t>
            </a:r>
            <a:r>
              <a:rPr kumimoji="0" lang="ko-KR" altLang="ko-KR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 </a:t>
            </a:r>
            <a:r>
              <a:rPr kumimoji="0" lang="ko-KR" altLang="ko-KR" sz="21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왜도</a:t>
            </a:r>
            <a:r>
              <a:rPr kumimoji="0" lang="ko-KR" altLang="ko-KR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(</a:t>
            </a:r>
            <a:r>
              <a:rPr kumimoji="0" lang="ko-KR" altLang="ko-KR" sz="21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Skewness</a:t>
            </a:r>
            <a:r>
              <a:rPr kumimoji="0" lang="ko-KR" altLang="ko-KR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), 첨도(</a:t>
            </a:r>
            <a:r>
              <a:rPr kumimoji="0" lang="ko-KR" altLang="ko-KR" sz="21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Kurtosis</a:t>
            </a:r>
            <a:r>
              <a:rPr kumimoji="0" lang="ko-KR" altLang="ko-KR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).</a:t>
            </a:r>
          </a:p>
          <a:p>
            <a:pPr lvl="1">
              <a:buFontTx/>
              <a:buChar char="•"/>
            </a:pPr>
            <a:r>
              <a:rPr kumimoji="0" lang="en-US" altLang="ko-KR" sz="21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 </a:t>
            </a:r>
            <a:r>
              <a:rPr kumimoji="0" lang="ko-KR" altLang="ko-KR" sz="21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활용 데이터:</a:t>
            </a:r>
            <a:r>
              <a:rPr kumimoji="0" lang="ko-KR" altLang="ko-KR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 주로 연속형 변수(연령, 점수 등)에 사용.</a:t>
            </a:r>
          </a:p>
          <a:p>
            <a:pPr lvl="1">
              <a:buFontTx/>
              <a:buChar char="•"/>
            </a:pPr>
            <a:r>
              <a:rPr kumimoji="0" lang="en-US" altLang="ko-KR" sz="21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 </a:t>
            </a:r>
            <a:r>
              <a:rPr kumimoji="0" lang="ko-KR" altLang="ko-KR" sz="21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분석 과정</a:t>
            </a:r>
            <a:r>
              <a:rPr kumimoji="0" lang="en-US" altLang="ko-KR" sz="21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 </a:t>
            </a:r>
            <a:r>
              <a:rPr kumimoji="0" lang="ko-KR" altLang="ko-KR" sz="21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:</a:t>
            </a:r>
            <a:r>
              <a:rPr kumimoji="0" lang="ko-KR" altLang="ko-KR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 데이터 수집 -&gt; 데이터 정제(이상치 확인) </a:t>
            </a:r>
            <a:endParaRPr kumimoji="0" lang="en-US" altLang="ko-KR" sz="21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cs typeface="Arial" panose="020B0604020202020204" pitchFamily="34" charset="0"/>
            </a:endParaRPr>
          </a:p>
          <a:p>
            <a:pPr lvl="1"/>
            <a:r>
              <a:rPr lang="en-US" altLang="ko-KR" sz="2100" dirty="0">
                <a:solidFill>
                  <a:srgbClr val="0A0A0A"/>
                </a:solidFill>
                <a:cs typeface="Arial" panose="020B0604020202020204" pitchFamily="34" charset="0"/>
              </a:rPr>
              <a:t>                         </a:t>
            </a:r>
            <a:r>
              <a:rPr lang="ko-KR" altLang="ko-KR" sz="2100" dirty="0">
                <a:solidFill>
                  <a:srgbClr val="0A0A0A"/>
                </a:solidFill>
                <a:cs typeface="Arial" panose="020B0604020202020204" pitchFamily="34" charset="0"/>
              </a:rPr>
              <a:t>-&gt;</a:t>
            </a:r>
            <a:r>
              <a:rPr lang="en-US" altLang="ko-KR" sz="2100" dirty="0">
                <a:solidFill>
                  <a:srgbClr val="0A0A0A"/>
                </a:solidFill>
                <a:cs typeface="Arial" panose="020B0604020202020204" pitchFamily="34" charset="0"/>
              </a:rPr>
              <a:t> </a:t>
            </a:r>
            <a:r>
              <a:rPr kumimoji="0" lang="ko-KR" altLang="ko-KR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기술 통계량 계산(평균, 표준편차 등) -&gt; 분포 확인(그래프, 표)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 5. </a:t>
            </a:r>
            <a:r>
              <a:rPr kumimoji="0" lang="ko-KR" altLang="ko-KR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기술 통계는 분석의 첫 단계로, 표본 자체의 특성을 기술하여 추리 통계(가설 검정)를 위한 </a:t>
            </a:r>
            <a:endParaRPr kumimoji="0" lang="en-US" altLang="ko-KR" sz="21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2100" dirty="0">
                <a:solidFill>
                  <a:srgbClr val="0A0A0A"/>
                </a:solidFill>
                <a:cs typeface="Arial" panose="020B0604020202020204" pitchFamily="34" charset="0"/>
              </a:rPr>
              <a:t>     </a:t>
            </a:r>
            <a:r>
              <a:rPr kumimoji="0" lang="ko-KR" altLang="ko-KR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기초 자료로 필수적으로 </a:t>
            </a:r>
            <a:r>
              <a:rPr kumimoji="0" lang="en-US" altLang="ko-KR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 </a:t>
            </a:r>
            <a:r>
              <a:rPr kumimoji="0" lang="ko-KR" altLang="en-US" sz="21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cs typeface="Arial" panose="020B0604020202020204" pitchFamily="34" charset="0"/>
              </a:rPr>
              <a:t>활용</a:t>
            </a:r>
            <a:endParaRPr kumimoji="0" lang="ko-KR" altLang="ko-KR" sz="21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cs typeface="Arial" panose="020B0604020202020204" pitchFamily="34" charset="0"/>
            </a:endParaRPr>
          </a:p>
        </p:txBody>
      </p:sp>
      <p:sp>
        <p:nvSpPr>
          <p:cNvPr id="7" name="Title 8">
            <a:extLst>
              <a:ext uri="{FF2B5EF4-FFF2-40B4-BE49-F238E27FC236}">
                <a16:creationId xmlns:a16="http://schemas.microsoft.com/office/drawing/2014/main" id="{F7AD1AA5-9DE2-BA98-373D-FD779F19EE89}"/>
              </a:ext>
            </a:extLst>
          </p:cNvPr>
          <p:cNvSpPr txBox="1">
            <a:spLocks/>
          </p:cNvSpPr>
          <p:nvPr/>
        </p:nvSpPr>
        <p:spPr>
          <a:xfrm>
            <a:off x="594359" y="280561"/>
            <a:ext cx="11014282" cy="613213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altLang="ko-KR" sz="3200" dirty="0">
                <a:solidFill>
                  <a:srgbClr val="0A0A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 : </a:t>
            </a:r>
            <a:r>
              <a:rPr lang="ko-KR" altLang="ko-KR" sz="3200" dirty="0">
                <a:solidFill>
                  <a:srgbClr val="0A0A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기술 통계 분석(</a:t>
            </a:r>
            <a:r>
              <a:rPr lang="ko-KR" altLang="ko-KR" sz="3200" dirty="0" err="1">
                <a:solidFill>
                  <a:srgbClr val="0A0A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Descriptive</a:t>
            </a:r>
            <a:r>
              <a:rPr lang="ko-KR" altLang="ko-KR" sz="3200" dirty="0">
                <a:solidFill>
                  <a:srgbClr val="0A0A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ko-KR" altLang="ko-KR" sz="3200" dirty="0" err="1">
                <a:solidFill>
                  <a:srgbClr val="0A0A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Statistics</a:t>
            </a:r>
            <a:r>
              <a:rPr lang="ko-KR" altLang="ko-KR" sz="3200" dirty="0">
                <a:solidFill>
                  <a:srgbClr val="0A0A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lang="en-US" altLang="ko-KR" sz="3200" dirty="0">
                <a:solidFill>
                  <a:srgbClr val="0A0A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ko-KR" altLang="en-US" sz="3200" dirty="0">
                <a:solidFill>
                  <a:srgbClr val="0A0A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개념 알기</a:t>
            </a:r>
            <a:r>
              <a:rPr lang="ko-KR" altLang="ko-KR" sz="3200" dirty="0">
                <a:solidFill>
                  <a:srgbClr val="0A0A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ko-KR" altLang="en-US" sz="320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endParaRPr lang="en-US" sz="320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878570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70BD87D-F7DA-961B-4024-A354DC87D1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2883" y="3900132"/>
            <a:ext cx="6718265" cy="2188599"/>
          </a:xfrm>
        </p:spPr>
        <p:txBody>
          <a:bodyPr>
            <a:normAutofit/>
          </a:bodyPr>
          <a:lstStyle/>
          <a:p>
            <a:pPr fontAlgn="base" latinLnBrk="1"/>
            <a:r>
              <a:rPr lang="ko-KR" altLang="en-US" dirty="0">
                <a:latin typeface="한컴 고딕" panose="02000500000000000000" pitchFamily="2" charset="-127"/>
              </a:rPr>
              <a:t>리스트와 배열의 사용 방법</a:t>
            </a:r>
          </a:p>
          <a:p>
            <a:pPr fontAlgn="base" latinLnBrk="1"/>
            <a:r>
              <a:rPr lang="ko-KR" altLang="en-US" dirty="0">
                <a:latin typeface="한컴 고딕" panose="02000500000000000000" pitchFamily="2" charset="-127"/>
              </a:rPr>
              <a:t>데이터의 구조를 변환하는 방법들</a:t>
            </a:r>
          </a:p>
          <a:p>
            <a:pPr fontAlgn="base" latinLnBrk="1"/>
            <a:r>
              <a:rPr lang="ko-KR" altLang="en-US" dirty="0">
                <a:latin typeface="한컴 고딕" panose="02000500000000000000" pitchFamily="2" charset="-127"/>
              </a:rPr>
              <a:t>데이터 파일 불러오기와 생성하기  </a:t>
            </a:r>
          </a:p>
          <a:p>
            <a:pPr fontAlgn="base" latinLnBrk="1"/>
            <a:r>
              <a:rPr lang="ko-KR" altLang="en-US" dirty="0" err="1">
                <a:latin typeface="한컴 고딕" panose="02000500000000000000" pitchFamily="2" charset="-127"/>
              </a:rPr>
              <a:t>결측값을</a:t>
            </a:r>
            <a:r>
              <a:rPr lang="ko-KR" altLang="en-US" dirty="0">
                <a:latin typeface="한컴 고딕" panose="02000500000000000000" pitchFamily="2" charset="-127"/>
              </a:rPr>
              <a:t> 확인</a:t>
            </a:r>
            <a:r>
              <a:rPr lang="en-US" altLang="ko-KR" dirty="0">
                <a:latin typeface="한컴 고딕" panose="02000500000000000000" pitchFamily="2" charset="-127"/>
              </a:rPr>
              <a:t>, </a:t>
            </a:r>
            <a:r>
              <a:rPr lang="ko-KR" altLang="en-US" dirty="0">
                <a:latin typeface="한컴 고딕" panose="02000500000000000000" pitchFamily="2" charset="-127"/>
              </a:rPr>
              <a:t>대체</a:t>
            </a:r>
            <a:r>
              <a:rPr lang="en-US" altLang="ko-KR" dirty="0">
                <a:latin typeface="한컴 고딕" panose="02000500000000000000" pitchFamily="2" charset="-127"/>
              </a:rPr>
              <a:t>, </a:t>
            </a:r>
            <a:r>
              <a:rPr lang="ko-KR" altLang="en-US" dirty="0">
                <a:latin typeface="한컴 고딕" panose="02000500000000000000" pitchFamily="2" charset="-127"/>
              </a:rPr>
              <a:t>삭제하는 방법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8" name="Title 8">
            <a:extLst>
              <a:ext uri="{FF2B5EF4-FFF2-40B4-BE49-F238E27FC236}">
                <a16:creationId xmlns:a16="http://schemas.microsoft.com/office/drawing/2014/main" id="{5016B78D-D0BA-4B78-9E6A-BD29AFA51C75}"/>
              </a:ext>
            </a:extLst>
          </p:cNvPr>
          <p:cNvSpPr txBox="1">
            <a:spLocks/>
          </p:cNvSpPr>
          <p:nvPr/>
        </p:nvSpPr>
        <p:spPr>
          <a:xfrm>
            <a:off x="753034" y="278129"/>
            <a:ext cx="4263610" cy="613213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altLang="ko-KR" sz="3600" dirty="0">
                <a:latin typeface="한컴 고딕" panose="02000500000000000000" pitchFamily="2" charset="-127"/>
                <a:ea typeface="한컴 고딕" panose="02000500000000000000" pitchFamily="2" charset="-127"/>
              </a:rPr>
              <a:t>4</a:t>
            </a:r>
            <a:r>
              <a:rPr lang="ko-KR" altLang="en-US" sz="360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장 데이터 다루기 </a:t>
            </a:r>
            <a:endParaRPr lang="en-US" sz="360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6EC111D-2696-43E1-BF67-2E25035E38DC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3B1FDBE1-9B40-4F1C-A5A1-5AB40B13B3A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07D134-0280-41ED-A147-9DF1CC9B2A6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3</a:t>
            </a:fld>
            <a:r>
              <a:rPr lang="en-US" dirty="0"/>
              <a:t> </a:t>
            </a:r>
            <a:endParaRPr lang="en-US" dirty="0">
              <a:latin typeface="+mn-lt"/>
            </a:endParaRP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91442BE-D279-47B8-BEC6-40EFEBE2A1F1}"/>
              </a:ext>
            </a:extLst>
          </p:cNvPr>
          <p:cNvSpPr txBox="1">
            <a:spLocks/>
          </p:cNvSpPr>
          <p:nvPr/>
        </p:nvSpPr>
        <p:spPr>
          <a:xfrm>
            <a:off x="855980" y="1586102"/>
            <a:ext cx="10015820" cy="2314030"/>
          </a:xfrm>
          <a:prstGeom prst="rect">
            <a:avLst/>
          </a:prstGeom>
        </p:spPr>
        <p:txBody>
          <a:bodyPr vert="horz" lIns="0" tIns="457200" rIns="0" bIns="0" rtlCol="0" anchor="t">
            <a:normAutofit lnSpcReduction="10000"/>
          </a:bodyPr>
          <a:lstStyle>
            <a:lvl1pPr marL="283464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ko-KR" altLang="en-US" sz="220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데이터 구조는 컴퓨터 또는 프로그램 언어에서 데이터를 효율적으로 저장</a:t>
            </a:r>
            <a:r>
              <a:rPr lang="en-US" altLang="ko-KR" sz="220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20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처리</a:t>
            </a:r>
            <a:r>
              <a:rPr lang="en-US" altLang="ko-KR" sz="220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20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관리하는 방법을 의미합니다</a:t>
            </a:r>
            <a:r>
              <a:rPr lang="en-US" altLang="ko-KR" sz="220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  <a:r>
              <a:rPr lang="ko-KR" altLang="en-US" sz="220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수집한 자료를 </a:t>
            </a:r>
            <a:r>
              <a:rPr lang="ko-KR" altLang="en-US" sz="220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파이썬으로</a:t>
            </a:r>
            <a:r>
              <a:rPr lang="ko-KR" altLang="en-US" sz="220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불러들일 때 적절한 데이터 구조를 사용하는 방법과 필요에 따라 데이터 구조를 변환하는 방법을 설명합니다</a:t>
            </a:r>
            <a:r>
              <a:rPr lang="en-US" altLang="ko-KR" sz="220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  <a:r>
              <a:rPr lang="ko-KR" altLang="en-US" sz="220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그리고 통계처리를 위하여 </a:t>
            </a:r>
            <a:r>
              <a:rPr lang="ko-KR" altLang="en-US" sz="220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결측값을</a:t>
            </a:r>
            <a:r>
              <a:rPr lang="ko-KR" altLang="en-US" sz="220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다루는 방법에 대해서 알아봅니다</a:t>
            </a:r>
            <a:r>
              <a:rPr lang="en-US" altLang="ko-KR" sz="220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  <a:endParaRPr lang="en-US" sz="220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6336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08D09-CE1F-9051-0E41-94DCD2A5B3B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4</a:t>
            </a:fld>
            <a:r>
              <a:rPr lang="en-US"/>
              <a:t> </a:t>
            </a:r>
            <a:endParaRPr lang="en-US" dirty="0">
              <a:latin typeface="+mn-lt"/>
            </a:endParaRP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C6A043E-D708-BAAC-EDB7-FBF20F6C05F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90DDAFA7-FFF2-4A51-B0D4-62CB76833446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C8B4176-8FAE-449C-3488-2B35E65F46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3583" y="3020766"/>
            <a:ext cx="5364834" cy="2170836"/>
          </a:xfrm>
          <a:prstGeom prst="rect">
            <a:avLst/>
          </a:prstGeom>
        </p:spPr>
      </p:pic>
      <p:sp>
        <p:nvSpPr>
          <p:cNvPr id="8" name="Title 2">
            <a:extLst>
              <a:ext uri="{FF2B5EF4-FFF2-40B4-BE49-F238E27FC236}">
                <a16:creationId xmlns:a16="http://schemas.microsoft.com/office/drawing/2014/main" id="{F4DBB942-6853-2FEA-D51D-C5399A8F1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59" y="102875"/>
            <a:ext cx="5315935" cy="773425"/>
          </a:xfrm>
        </p:spPr>
        <p:txBody>
          <a:bodyPr/>
          <a:lstStyle/>
          <a:p>
            <a:pPr fontAlgn="base" latinLnBrk="1"/>
            <a:r>
              <a:rPr lang="en-US" altLang="ko-KR" sz="4000" dirty="0"/>
              <a:t>[</a:t>
            </a:r>
            <a:r>
              <a:rPr lang="ko-KR" altLang="en-US" sz="4000" dirty="0"/>
              <a:t>참고 </a:t>
            </a:r>
            <a:r>
              <a:rPr lang="en-US" altLang="ko-KR" sz="4000" dirty="0"/>
              <a:t>1] </a:t>
            </a:r>
            <a:r>
              <a:rPr lang="ko-KR" altLang="en-US" sz="4000" dirty="0"/>
              <a:t>스칼라 개념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4B165C-8E20-52EA-FA23-0A810E19FD98}"/>
              </a:ext>
            </a:extLst>
          </p:cNvPr>
          <p:cNvSpPr txBox="1"/>
          <p:nvPr/>
        </p:nvSpPr>
        <p:spPr>
          <a:xfrm>
            <a:off x="996486" y="1315847"/>
            <a:ext cx="993997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2000" b="1" dirty="0">
                <a:solidFill>
                  <a:schemeClr val="bg1"/>
                </a:solidFill>
                <a:effectLst/>
                <a:latin typeface="Noto Sans Light"/>
              </a:rPr>
              <a:t>1. </a:t>
            </a:r>
            <a:r>
              <a:rPr lang="ko-KR" altLang="en-US" sz="2000" b="1" dirty="0">
                <a:solidFill>
                  <a:schemeClr val="bg1"/>
                </a:solidFill>
                <a:effectLst/>
                <a:latin typeface="Noto Sans Light"/>
              </a:rPr>
              <a:t>스칼라 </a:t>
            </a:r>
            <a:r>
              <a:rPr lang="en-US" altLang="ko-KR" sz="2000" b="1" dirty="0">
                <a:solidFill>
                  <a:schemeClr val="bg1"/>
                </a:solidFill>
                <a:effectLst/>
                <a:latin typeface="Noto Sans Light"/>
              </a:rPr>
              <a:t>scalar</a:t>
            </a:r>
            <a:endParaRPr lang="ko-KR" altLang="en-US" sz="2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endParaRPr lang="ko-KR" altLang="en-US" sz="2000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ko-KR" altLang="en-US" sz="2000" dirty="0">
                <a:solidFill>
                  <a:schemeClr val="bg1"/>
                </a:solidFill>
                <a:effectLst/>
                <a:latin typeface="Noto Sans Light"/>
              </a:rPr>
              <a:t>스칼라 </a:t>
            </a:r>
            <a:r>
              <a:rPr lang="en-US" altLang="ko-KR" sz="2000" dirty="0">
                <a:solidFill>
                  <a:schemeClr val="bg1"/>
                </a:solidFill>
                <a:effectLst/>
                <a:latin typeface="Noto Sans Light"/>
              </a:rPr>
              <a:t>(scalar)</a:t>
            </a:r>
            <a:r>
              <a:rPr lang="ko-KR" altLang="en-US" sz="2000" dirty="0">
                <a:solidFill>
                  <a:schemeClr val="bg1"/>
                </a:solidFill>
                <a:latin typeface="Noto Sans Light"/>
              </a:rPr>
              <a:t> </a:t>
            </a:r>
            <a:r>
              <a:rPr lang="en-US" altLang="ko-KR" sz="2000" dirty="0">
                <a:solidFill>
                  <a:schemeClr val="bg1"/>
                </a:solidFill>
                <a:latin typeface="Noto Sans Light"/>
              </a:rPr>
              <a:t>:</a:t>
            </a:r>
            <a:r>
              <a:rPr lang="ko-KR" altLang="en-US" sz="2000" dirty="0">
                <a:solidFill>
                  <a:schemeClr val="bg1"/>
                </a:solidFill>
                <a:effectLst/>
                <a:latin typeface="Noto Sans Light"/>
              </a:rPr>
              <a:t> </a:t>
            </a:r>
            <a:r>
              <a:rPr lang="en-US" altLang="ko-KR" sz="2000" dirty="0">
                <a:solidFill>
                  <a:schemeClr val="bg1"/>
                </a:solidFill>
                <a:effectLst/>
                <a:latin typeface="Noto Sans Light"/>
              </a:rPr>
              <a:t>1, 2, 3.6, -4, a </a:t>
            </a:r>
            <a:r>
              <a:rPr lang="ko-KR" altLang="en-US" sz="2000" dirty="0">
                <a:solidFill>
                  <a:schemeClr val="bg1"/>
                </a:solidFill>
                <a:effectLst/>
                <a:latin typeface="Noto Sans Light"/>
              </a:rPr>
              <a:t>같은  보통의 수치</a:t>
            </a:r>
            <a:r>
              <a:rPr lang="en-US" altLang="ko-KR" sz="2000" dirty="0">
                <a:solidFill>
                  <a:schemeClr val="bg1"/>
                </a:solidFill>
                <a:latin typeface="Noto Sans Light"/>
              </a:rPr>
              <a:t> </a:t>
            </a:r>
            <a:r>
              <a:rPr lang="ko-KR" altLang="en-US" sz="2000" dirty="0">
                <a:solidFill>
                  <a:schemeClr val="bg1"/>
                </a:solidFill>
                <a:latin typeface="Noto Sans Light"/>
              </a:rPr>
              <a:t>즉</a:t>
            </a:r>
            <a:r>
              <a:rPr lang="en-US" altLang="ko-KR" sz="2000" dirty="0">
                <a:solidFill>
                  <a:schemeClr val="bg1"/>
                </a:solidFill>
                <a:latin typeface="Noto Sans Light"/>
              </a:rPr>
              <a:t>, </a:t>
            </a:r>
            <a:r>
              <a:rPr lang="ko-KR" altLang="en-US" sz="2000" dirty="0">
                <a:solidFill>
                  <a:schemeClr val="bg1"/>
                </a:solidFill>
                <a:effectLst/>
                <a:latin typeface="Noto Sans Light"/>
              </a:rPr>
              <a:t>한 개의 숫자형</a:t>
            </a:r>
            <a:r>
              <a:rPr lang="en-US" altLang="ko-KR" sz="2000" dirty="0">
                <a:solidFill>
                  <a:schemeClr val="bg1"/>
                </a:solidFill>
                <a:effectLst/>
                <a:latin typeface="Noto Sans Light"/>
              </a:rPr>
              <a:t>,</a:t>
            </a:r>
            <a:r>
              <a:rPr lang="ko-KR" altLang="en-US" sz="2000" dirty="0">
                <a:solidFill>
                  <a:schemeClr val="bg1"/>
                </a:solidFill>
                <a:effectLst/>
                <a:latin typeface="Noto Sans Light"/>
              </a:rPr>
              <a:t>알파벳과 개별적인</a:t>
            </a:r>
            <a:endParaRPr lang="en-US" altLang="ko-KR" sz="2000" dirty="0">
              <a:solidFill>
                <a:schemeClr val="bg1"/>
              </a:solidFill>
              <a:effectLst/>
              <a:latin typeface="Noto Sans Light"/>
            </a:endParaRPr>
          </a:p>
          <a:p>
            <a:pPr>
              <a:buNone/>
            </a:pPr>
            <a:r>
              <a:rPr lang="ko-KR" altLang="en-US" sz="2000" dirty="0">
                <a:solidFill>
                  <a:schemeClr val="bg1"/>
                </a:solidFill>
                <a:effectLst/>
                <a:latin typeface="Noto Sans Light"/>
              </a:rPr>
              <a:t>실수와 정수</a:t>
            </a:r>
            <a:r>
              <a:rPr lang="en-US" altLang="ko-KR" sz="2000" dirty="0">
                <a:solidFill>
                  <a:schemeClr val="bg1"/>
                </a:solidFill>
                <a:effectLst/>
                <a:latin typeface="Noto Sans Light"/>
              </a:rPr>
              <a:t>, </a:t>
            </a:r>
            <a:r>
              <a:rPr lang="ko-KR" altLang="en-US" sz="2000" dirty="0">
                <a:solidFill>
                  <a:schemeClr val="bg1"/>
                </a:solidFill>
                <a:effectLst/>
                <a:latin typeface="Noto Sans Light"/>
              </a:rPr>
              <a:t>그리스 문자의 소문자 등</a:t>
            </a:r>
            <a:r>
              <a:rPr lang="en-US" altLang="ko-KR" sz="2000" dirty="0">
                <a:solidFill>
                  <a:schemeClr val="bg1"/>
                </a:solidFill>
                <a:effectLst/>
                <a:latin typeface="Noto Sans Light"/>
              </a:rPr>
              <a:t> (</a:t>
            </a:r>
            <a:r>
              <a:rPr lang="ko-KR" altLang="en-US" sz="2000" dirty="0">
                <a:solidFill>
                  <a:schemeClr val="bg1"/>
                </a:solidFill>
                <a:effectLst/>
                <a:latin typeface="Noto Sans Light"/>
              </a:rPr>
              <a:t> </a:t>
            </a:r>
            <a:r>
              <a:rPr lang="en-US" altLang="ko-KR" sz="2000" dirty="0">
                <a:solidFill>
                  <a:schemeClr val="bg1"/>
                </a:solidFill>
                <a:effectLst/>
                <a:latin typeface="Noto Sans Light"/>
              </a:rPr>
              <a:t>a, p, α. β </a:t>
            </a:r>
            <a:r>
              <a:rPr lang="ko-KR" altLang="en-US" sz="2000" dirty="0">
                <a:solidFill>
                  <a:schemeClr val="bg1"/>
                </a:solidFill>
                <a:effectLst/>
                <a:latin typeface="Noto Sans Light"/>
              </a:rPr>
              <a:t>등</a:t>
            </a:r>
            <a:r>
              <a:rPr lang="en-US" altLang="ko-KR" sz="2000" dirty="0">
                <a:solidFill>
                  <a:schemeClr val="bg1"/>
                </a:solidFill>
                <a:effectLst/>
                <a:latin typeface="Noto Sans Light"/>
              </a:rPr>
              <a:t>... )</a:t>
            </a:r>
            <a:endParaRPr lang="ko-KR" altLang="en-US" sz="2000" dirty="0">
              <a:solidFill>
                <a:schemeClr val="bg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01775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7FF80C-5E5E-CE88-259E-27C7E41362D6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5</a:t>
            </a:fld>
            <a:r>
              <a:rPr lang="en-US"/>
              <a:t> </a:t>
            </a:r>
            <a:endParaRPr lang="en-US" dirty="0">
              <a:latin typeface="+mn-lt"/>
            </a:endParaRP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778C10-9844-3D2B-77D8-236927789644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90DDAFA7-FFF2-4A51-B0D4-62CB76833446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3A3FC267-074A-1D4A-5C2C-6B8FC9ECB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59" y="102875"/>
            <a:ext cx="5315935" cy="773425"/>
          </a:xfrm>
        </p:spPr>
        <p:txBody>
          <a:bodyPr/>
          <a:lstStyle/>
          <a:p>
            <a:pPr fontAlgn="base" latinLnBrk="1"/>
            <a:r>
              <a:rPr lang="en-US" altLang="ko-KR" sz="4000" dirty="0"/>
              <a:t>[</a:t>
            </a:r>
            <a:r>
              <a:rPr lang="ko-KR" altLang="en-US" sz="4000" dirty="0"/>
              <a:t>참고 </a:t>
            </a:r>
            <a:r>
              <a:rPr lang="en-US" altLang="ko-KR" sz="4000" dirty="0"/>
              <a:t>2] </a:t>
            </a:r>
            <a:r>
              <a:rPr lang="ko-KR" altLang="en-US" sz="4000" dirty="0"/>
              <a:t>벡터 개념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48E6730-DBAB-396E-42C9-BB9DCB095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1207" y="1602646"/>
            <a:ext cx="6725589" cy="4258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1679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59" y="102875"/>
            <a:ext cx="10608555" cy="773425"/>
          </a:xfrm>
        </p:spPr>
        <p:txBody>
          <a:bodyPr/>
          <a:lstStyle/>
          <a:p>
            <a:pPr fontAlgn="base" latinLnBrk="1"/>
            <a:r>
              <a:rPr lang="en-US" altLang="ko-KR" sz="4000" dirty="0"/>
              <a:t>[</a:t>
            </a:r>
            <a:r>
              <a:rPr lang="ko-KR" altLang="en-US" sz="4000" dirty="0"/>
              <a:t>참고 </a:t>
            </a:r>
            <a:r>
              <a:rPr lang="en-US" altLang="ko-KR" sz="4000" dirty="0"/>
              <a:t>3] </a:t>
            </a:r>
            <a:r>
              <a:rPr lang="ko-KR" altLang="en-US" sz="4000" dirty="0"/>
              <a:t>함수</a:t>
            </a:r>
            <a:r>
              <a:rPr lang="en-US" altLang="ko-KR" sz="4000" dirty="0"/>
              <a:t>(function)</a:t>
            </a:r>
            <a:r>
              <a:rPr lang="ko-KR" altLang="en-US" sz="4000" dirty="0"/>
              <a:t>와 메소드</a:t>
            </a:r>
            <a:r>
              <a:rPr lang="en-US" altLang="ko-KR" sz="4000" dirty="0"/>
              <a:t>(method) </a:t>
            </a:r>
            <a:endParaRPr lang="ko-KR" altLang="en-US" sz="40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6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52BAA388-41A0-479C-9162-EE2CE71051A6}"/>
              </a:ext>
            </a:extLst>
          </p:cNvPr>
          <p:cNvSpPr txBox="1">
            <a:spLocks/>
          </p:cNvSpPr>
          <p:nvPr/>
        </p:nvSpPr>
        <p:spPr>
          <a:xfrm>
            <a:off x="484177" y="1565753"/>
            <a:ext cx="11432088" cy="4275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파이썬에서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함수는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print()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와 같이 단독적으로 사용한다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  <a:p>
            <a:pPr fontAlgn="base" latinLnBrk="1">
              <a:lnSpc>
                <a:spcPct val="100000"/>
              </a:lnSpc>
            </a:pP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그러나 메소드는 객체가 가지고 있는 어떤 기능을 말하는데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예를 들어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&lt;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예제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4-2&gt;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의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Lst1.index()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에서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Lst1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는 </a:t>
            </a:r>
            <a:r>
              <a:rPr lang="ko-KR" altLang="en-US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클래쓰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(Class)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인 리스트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(list)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에 의해 생성된 객체 즉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인스턴스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</a:t>
            </a:r>
            <a:r>
              <a:rPr lang="en-US" altLang="ko-KR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instnance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)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이며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index()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는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Lst1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이 가지고 있는 메소드라 한다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즉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메소드는 객체가 </a:t>
            </a: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가지고 있는 함수라고 생각할 수 있지만 사용할 때 반드시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self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인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Lst1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이 필요하다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</a:t>
            </a:r>
          </a:p>
          <a:p>
            <a:pPr fontAlgn="base" latinLnBrk="1">
              <a:lnSpc>
                <a:spcPct val="100000"/>
              </a:lnSpc>
            </a:pP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함수와 메소드를 구별하지 않아도 프로그램 작성에 문제가 되지 않고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함수가 메소드 보다는 포괄적인 개념이므로 메소드를 함수로 칭하는 경우가 많이 있습니다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따라서 이 책에서는 메소드와 함수를 엄격하게 구별하지 않고 사용하고자 한다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8833376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59" y="102875"/>
            <a:ext cx="11321905" cy="773425"/>
          </a:xfrm>
        </p:spPr>
        <p:txBody>
          <a:bodyPr/>
          <a:lstStyle/>
          <a:p>
            <a:pPr fontAlgn="base" latinLnBrk="1"/>
            <a:r>
              <a:rPr lang="en-US" altLang="ko-KR" sz="3600" dirty="0"/>
              <a:t>4.1 </a:t>
            </a:r>
            <a:r>
              <a:rPr lang="ko-KR" altLang="en-US" sz="3600" dirty="0"/>
              <a:t>데이터 구조인 리스트와 배열의 사용 방법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7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A0105A53-BB4D-44A0-AD4D-07122EECD627}"/>
              </a:ext>
            </a:extLst>
          </p:cNvPr>
          <p:cNvSpPr txBox="1">
            <a:spLocks/>
          </p:cNvSpPr>
          <p:nvPr/>
        </p:nvSpPr>
        <p:spPr>
          <a:xfrm>
            <a:off x="484177" y="1565753"/>
            <a:ext cx="11432088" cy="448697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4.1.1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리스트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(list)</a:t>
            </a:r>
          </a:p>
          <a:p>
            <a:pPr fontAlgn="base" latinLnBrk="1">
              <a:lnSpc>
                <a:spcPct val="100000"/>
              </a:lnSpc>
            </a:pP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200" b="0" dirty="0">
                <a:solidFill>
                  <a:srgbClr val="FF0000"/>
                </a:solidFill>
                <a:latin typeface="한컴 고딕" panose="02000500000000000000" pitchFamily="2" charset="-127"/>
                <a:ea typeface="한컴 고딕" panose="02000500000000000000" pitchFamily="2" charset="-127"/>
              </a:rPr>
              <a:t>데이터를 저장하는 방식에 차이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가 있으므로 </a:t>
            </a:r>
            <a:r>
              <a:rPr lang="ko-KR" altLang="en-US" sz="2200" b="0" dirty="0">
                <a:solidFill>
                  <a:srgbClr val="FF0000"/>
                </a:solidFill>
                <a:latin typeface="한컴 고딕" panose="02000500000000000000" pitchFamily="2" charset="-127"/>
                <a:ea typeface="한컴 고딕" panose="02000500000000000000" pitchFamily="2" charset="-127"/>
              </a:rPr>
              <a:t>사용 목적에 따라 데이터 구조를 구분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하여 사용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  <a:r>
              <a:rPr lang="ko-KR" altLang="en-US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파이썬에서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행렬과 벡터 연산을 목적으로 한다면 배열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(array)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을 사용하는 것이 좋고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다양한 자료형이 포함된 연속적인 데이터를 이용하려면 리스트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(list)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를 사용</a:t>
            </a: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리스트는 데이터를 추가해 나갈 수 있지만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배열은 선언과 동시에 고정된 크기를 갖는 차이가 있고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파이썬에서는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lang="ko-KR" altLang="en-US" sz="2200" b="0" dirty="0">
                <a:solidFill>
                  <a:srgbClr val="FF0000"/>
                </a:solidFill>
                <a:latin typeface="한컴 고딕" panose="02000500000000000000" pitchFamily="2" charset="-127"/>
                <a:ea typeface="한컴 고딕" panose="02000500000000000000" pitchFamily="2" charset="-127"/>
              </a:rPr>
              <a:t>리스트 역시 배열과 마찬가지로 인덱스를 사용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한 접근이 가능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  <a:p>
            <a:pPr fontAlgn="base" latinLnBrk="1">
              <a:lnSpc>
                <a:spcPct val="100000"/>
              </a:lnSpc>
            </a:pP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배열을 사용하려면 라이브러리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NumPy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가 필요하지만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200" b="0" dirty="0">
                <a:solidFill>
                  <a:srgbClr val="FF0000"/>
                </a:solidFill>
                <a:latin typeface="한컴 고딕" panose="02000500000000000000" pitchFamily="2" charset="-127"/>
                <a:ea typeface="한컴 고딕" panose="02000500000000000000" pitchFamily="2" charset="-127"/>
              </a:rPr>
              <a:t>리스트는 별도의 라이브러리가 필요 없이 기본적으로 사용할 수 있는 데이터 구조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766902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773425"/>
          </a:xfrm>
        </p:spPr>
        <p:txBody>
          <a:bodyPr/>
          <a:lstStyle/>
          <a:p>
            <a:pPr fontAlgn="base" latinLnBrk="1"/>
            <a:r>
              <a:rPr lang="en-US" altLang="ko-KR" dirty="0"/>
              <a:t>4.1.1 </a:t>
            </a:r>
            <a:r>
              <a:rPr lang="ko-KR" altLang="en-US" dirty="0"/>
              <a:t>리스트</a:t>
            </a:r>
            <a:r>
              <a:rPr lang="en-US" altLang="ko-KR" dirty="0"/>
              <a:t>(list)</a:t>
            </a:r>
            <a:endParaRPr lang="ko-KR" altLang="en-US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8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52BAA388-41A0-479C-9162-EE2CE71051A6}"/>
              </a:ext>
            </a:extLst>
          </p:cNvPr>
          <p:cNvSpPr txBox="1">
            <a:spLocks/>
          </p:cNvSpPr>
          <p:nvPr/>
        </p:nvSpPr>
        <p:spPr>
          <a:xfrm>
            <a:off x="594359" y="1295621"/>
            <a:ext cx="11074837" cy="125969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[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그림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4-1]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과 같이 </a:t>
            </a:r>
            <a:r>
              <a:rPr lang="ko-KR" altLang="en-US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파이썬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IDLE Shell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에서 프로그램을 한 </a:t>
            </a:r>
            <a:r>
              <a:rPr lang="ko-KR" altLang="en-US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줄씩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입력하고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Enter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하면서 결과를 확인할 수도 있고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예제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4-1.py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전체를 실행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(Run)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하면 글 상자 부분에 나타난 내용이 순서대로 화면에 출력된다</a:t>
            </a: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</p:txBody>
      </p:sp>
      <p:pic>
        <p:nvPicPr>
          <p:cNvPr id="11" name="Picture 1">
            <a:extLst>
              <a:ext uri="{FF2B5EF4-FFF2-40B4-BE49-F238E27FC236}">
                <a16:creationId xmlns:a16="http://schemas.microsoft.com/office/drawing/2014/main" id="{84ABD09F-8410-4A4E-99B8-E1C233B7B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4704" y="2764470"/>
            <a:ext cx="7013052" cy="2517567"/>
          </a:xfrm>
          <a:prstGeom prst="rect">
            <a:avLst/>
          </a:prstGeom>
          <a:noFill/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423330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773425"/>
          </a:xfrm>
        </p:spPr>
        <p:txBody>
          <a:bodyPr/>
          <a:lstStyle/>
          <a:p>
            <a:pPr fontAlgn="base" latinLnBrk="1"/>
            <a:r>
              <a:rPr lang="en-US" altLang="ko-KR" dirty="0"/>
              <a:t>4.1.1 </a:t>
            </a:r>
            <a:r>
              <a:rPr lang="ko-KR" altLang="en-US" dirty="0"/>
              <a:t>리스트</a:t>
            </a:r>
            <a:r>
              <a:rPr lang="en-US" altLang="ko-KR" dirty="0"/>
              <a:t>(list)</a:t>
            </a:r>
            <a:endParaRPr lang="ko-KR" altLang="en-US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9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52BAA388-41A0-479C-9162-EE2CE71051A6}"/>
              </a:ext>
            </a:extLst>
          </p:cNvPr>
          <p:cNvSpPr txBox="1">
            <a:spLocks/>
          </p:cNvSpPr>
          <p:nvPr/>
        </p:nvSpPr>
        <p:spPr>
          <a:xfrm>
            <a:off x="594360" y="1206357"/>
            <a:ext cx="4654045" cy="297575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리스트에 대한 생성과 요소에 대한 </a:t>
            </a: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접근은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&lt;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예제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4-1&gt;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과 같다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</a:t>
            </a:r>
          </a:p>
          <a:p>
            <a:pPr fontAlgn="base" latinLnBrk="1">
              <a:lnSpc>
                <a:spcPct val="100000"/>
              </a:lnSpc>
            </a:pP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</a:p>
          <a:p>
            <a:pPr fontAlgn="base" latinLnBrk="1">
              <a:lnSpc>
                <a:spcPct val="100000"/>
              </a:lnSpc>
            </a:pP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&lt;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예제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4-1&gt;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에 대한 실행 결과는 </a:t>
            </a: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글 상자 부분에 나타나 있다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B43975-B925-4D2F-B99D-17ED969F0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8405" y="876300"/>
            <a:ext cx="6723034" cy="5455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2889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773425"/>
          </a:xfrm>
        </p:spPr>
        <p:txBody>
          <a:bodyPr/>
          <a:lstStyle/>
          <a:p>
            <a:pPr fontAlgn="base" latinLnBrk="1"/>
            <a:r>
              <a:rPr lang="en-US" altLang="ko-KR" sz="3000" dirty="0"/>
              <a:t>&lt;</a:t>
            </a:r>
            <a:r>
              <a:rPr lang="ko-KR" altLang="en-US" sz="3000" dirty="0"/>
              <a:t>예제 </a:t>
            </a:r>
            <a:r>
              <a:rPr lang="en-US" altLang="ko-KR" sz="3000" dirty="0"/>
              <a:t>4-2&gt; </a:t>
            </a:r>
            <a:r>
              <a:rPr lang="ko-KR" altLang="en-US" sz="3000" dirty="0"/>
              <a:t>리스트의 메소드 사용법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10</a:t>
            </a:fld>
            <a:endParaRPr lang="en-US" dirty="0">
              <a:latin typeface="+mn-lt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F858E1A-43AC-437C-AA86-ABE135346E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317788"/>
            <a:ext cx="5286375" cy="48768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6F41195-F94C-470C-A81E-7A34992658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816897"/>
            <a:ext cx="5781675" cy="257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9260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773425"/>
          </a:xfrm>
        </p:spPr>
        <p:txBody>
          <a:bodyPr/>
          <a:lstStyle/>
          <a:p>
            <a:pPr fontAlgn="base" latinLnBrk="1"/>
            <a:r>
              <a:rPr lang="en-US" altLang="ko-KR" dirty="0"/>
              <a:t>[</a:t>
            </a:r>
            <a:r>
              <a:rPr lang="ko-KR" altLang="en-US" dirty="0"/>
              <a:t>참고 </a:t>
            </a:r>
            <a:r>
              <a:rPr lang="en-US" altLang="ko-KR" dirty="0"/>
              <a:t>4] </a:t>
            </a:r>
            <a:r>
              <a:rPr lang="ko-KR" altLang="en-US" dirty="0" err="1"/>
              <a:t>파이썬</a:t>
            </a:r>
            <a:r>
              <a:rPr lang="ko-KR" altLang="en-US" dirty="0"/>
              <a:t> 프로그램의 오류들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11</a:t>
            </a:fld>
            <a:endParaRPr lang="en-US" dirty="0">
              <a:latin typeface="+mn-lt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C8A88E2-C339-4F76-B983-BDC9E5CABD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185" y="1980351"/>
            <a:ext cx="9535627" cy="3345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3892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773425"/>
          </a:xfrm>
        </p:spPr>
        <p:txBody>
          <a:bodyPr/>
          <a:lstStyle/>
          <a:p>
            <a:pPr fontAlgn="base" latinLnBrk="1"/>
            <a:r>
              <a:rPr lang="en-US" altLang="ko-KR" dirty="0"/>
              <a:t>4.1.2 </a:t>
            </a:r>
            <a:r>
              <a:rPr lang="ko-KR" altLang="en-US" dirty="0"/>
              <a:t>배열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12</a:t>
            </a:fld>
            <a:endParaRPr lang="en-US" dirty="0">
              <a:latin typeface="+mn-lt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6CE6A59-65B9-41E4-86AB-FE4F92749B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6762" y="278129"/>
            <a:ext cx="6522798" cy="631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1568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773425"/>
          </a:xfrm>
        </p:spPr>
        <p:txBody>
          <a:bodyPr/>
          <a:lstStyle/>
          <a:p>
            <a:pPr fontAlgn="base" latinLnBrk="1"/>
            <a:r>
              <a:rPr lang="en-US" altLang="ko-KR" dirty="0"/>
              <a:t>4.1.2 </a:t>
            </a:r>
            <a:r>
              <a:rPr lang="ko-KR" altLang="en-US" dirty="0"/>
              <a:t>배열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13</a:t>
            </a:fld>
            <a:endParaRPr lang="en-US" dirty="0">
              <a:latin typeface="+mn-lt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E142A80-7E06-485F-A53E-20143777AF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31" y="1210066"/>
            <a:ext cx="6758430" cy="233392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3BE4CCF-25C3-477D-95AA-2ECCA6D99C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7600" y="3606605"/>
            <a:ext cx="3515451" cy="1991644"/>
          </a:xfrm>
          <a:prstGeom prst="rect">
            <a:avLst/>
          </a:prstGeom>
        </p:spPr>
      </p:pic>
      <p:sp>
        <p:nvSpPr>
          <p:cNvPr id="13" name="Title 8">
            <a:extLst>
              <a:ext uri="{FF2B5EF4-FFF2-40B4-BE49-F238E27FC236}">
                <a16:creationId xmlns:a16="http://schemas.microsoft.com/office/drawing/2014/main" id="{F92832C1-1CDA-41FD-A76C-2E8C1CDA69F2}"/>
              </a:ext>
            </a:extLst>
          </p:cNvPr>
          <p:cNvSpPr txBox="1">
            <a:spLocks/>
          </p:cNvSpPr>
          <p:nvPr/>
        </p:nvSpPr>
        <p:spPr>
          <a:xfrm>
            <a:off x="4779799" y="3431231"/>
            <a:ext cx="6817842" cy="337529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en-US" altLang="ko-KR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import </a:t>
            </a:r>
            <a:r>
              <a:rPr lang="en-US" altLang="ko-KR" sz="20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numpy</a:t>
            </a:r>
            <a:r>
              <a:rPr lang="en-US" altLang="ko-KR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as np</a:t>
            </a:r>
            <a:r>
              <a:rPr lang="ko-KR" altLang="en-US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는 외부 라이브러리인 </a:t>
            </a:r>
            <a:r>
              <a:rPr lang="en-US" altLang="ko-KR" sz="20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numpy</a:t>
            </a:r>
            <a:r>
              <a:rPr lang="ko-KR" altLang="en-US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를 </a:t>
            </a:r>
            <a:endParaRPr lang="en-US" altLang="ko-KR" sz="20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파이썬 프로그램 안으로 불러오되 </a:t>
            </a:r>
            <a:r>
              <a:rPr lang="en-US" altLang="ko-KR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np</a:t>
            </a:r>
            <a:r>
              <a:rPr lang="ko-KR" altLang="en-US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라는 이름으로 사용하겠다는 의미</a:t>
            </a:r>
            <a:r>
              <a:rPr lang="en-US" altLang="ko-KR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  <a:r>
              <a:rPr lang="ko-KR" altLang="en-US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앞에서 배열을 </a:t>
            </a:r>
            <a:endParaRPr lang="en-US" altLang="ko-KR" sz="20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사용하는 데 필요한 </a:t>
            </a:r>
            <a:r>
              <a:rPr lang="en-US" altLang="ko-KR" sz="20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ndarray</a:t>
            </a:r>
            <a:r>
              <a:rPr lang="ko-KR" altLang="en-US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라는 객체가 라이브러리 </a:t>
            </a:r>
            <a:r>
              <a:rPr lang="en-US" altLang="ko-KR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NumPy(</a:t>
            </a:r>
            <a:r>
              <a:rPr lang="ko-KR" altLang="en-US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프로그램에서는 </a:t>
            </a:r>
            <a:r>
              <a:rPr lang="en-US" altLang="ko-KR" sz="20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numpy</a:t>
            </a:r>
            <a:r>
              <a:rPr lang="ko-KR" altLang="en-US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로 사용</a:t>
            </a:r>
            <a:r>
              <a:rPr lang="en-US" altLang="ko-KR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)</a:t>
            </a:r>
            <a:r>
              <a:rPr lang="ko-KR" altLang="en-US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에 있으므로 </a:t>
            </a:r>
            <a:endParaRPr lang="en-US" altLang="ko-KR" sz="20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이를 프로그램으로 불러들이기 위해 </a:t>
            </a:r>
            <a:r>
              <a:rPr lang="en-US" altLang="ko-KR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import</a:t>
            </a:r>
            <a:r>
              <a:rPr lang="ko-KR" altLang="en-US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를 </a:t>
            </a:r>
            <a:endParaRPr lang="en-US" altLang="ko-KR" sz="20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사용</a:t>
            </a:r>
            <a:r>
              <a:rPr lang="en-US" altLang="ko-KR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  <a:r>
              <a:rPr lang="ko-KR" altLang="en-US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그리고 </a:t>
            </a:r>
            <a:r>
              <a:rPr lang="en-US" altLang="ko-KR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import</a:t>
            </a:r>
            <a:r>
              <a:rPr lang="ko-KR" altLang="en-US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를 사용할 때 </a:t>
            </a:r>
            <a:r>
              <a:rPr lang="en-US" altLang="ko-KR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import A as B</a:t>
            </a:r>
            <a:r>
              <a:rPr lang="ko-KR" altLang="en-US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와 같이 사용하는데 라이브러리 </a:t>
            </a:r>
            <a:r>
              <a:rPr lang="en-US" altLang="ko-KR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A</a:t>
            </a:r>
            <a:r>
              <a:rPr lang="ko-KR" altLang="en-US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를 </a:t>
            </a:r>
            <a:r>
              <a:rPr lang="en-US" altLang="ko-KR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B</a:t>
            </a:r>
            <a:r>
              <a:rPr lang="ko-KR" altLang="en-US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라는 이름으로 </a:t>
            </a:r>
            <a:endParaRPr lang="en-US" altLang="ko-KR" sz="20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줄여서 사용하는 방법이다</a:t>
            </a:r>
            <a:r>
              <a:rPr lang="en-US" altLang="ko-KR" sz="20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7232169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1597640" cy="773425"/>
          </a:xfrm>
        </p:spPr>
        <p:txBody>
          <a:bodyPr/>
          <a:lstStyle/>
          <a:p>
            <a:pPr fontAlgn="base" latinLnBrk="1"/>
            <a:r>
              <a:rPr lang="en-US" altLang="ko-KR" sz="3000" dirty="0"/>
              <a:t>&lt;</a:t>
            </a:r>
            <a:r>
              <a:rPr lang="ko-KR" altLang="en-US" sz="3000" dirty="0"/>
              <a:t>예제 </a:t>
            </a:r>
            <a:r>
              <a:rPr lang="en-US" altLang="ko-KR" sz="3000" dirty="0"/>
              <a:t>4-5&gt; 1</a:t>
            </a:r>
            <a:r>
              <a:rPr lang="ko-KR" altLang="en-US" sz="3000" dirty="0"/>
              <a:t>차원 배열의 연산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14</a:t>
            </a:fld>
            <a:endParaRPr lang="en-US" dirty="0">
              <a:latin typeface="+mn-lt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1BEBB2A-4111-407C-9838-0DF29478E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7067" y="975920"/>
            <a:ext cx="8173971" cy="5779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4365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1597640" cy="773425"/>
          </a:xfrm>
        </p:spPr>
        <p:txBody>
          <a:bodyPr/>
          <a:lstStyle/>
          <a:p>
            <a:pPr fontAlgn="base" latinLnBrk="1"/>
            <a:r>
              <a:rPr lang="en-US" altLang="ko-KR" sz="3000" dirty="0"/>
              <a:t>&lt;</a:t>
            </a:r>
            <a:r>
              <a:rPr lang="ko-KR" altLang="en-US" sz="3000" dirty="0"/>
              <a:t>예제 </a:t>
            </a:r>
            <a:r>
              <a:rPr lang="en-US" altLang="ko-KR" sz="3000" dirty="0"/>
              <a:t>4-6&gt; 2</a:t>
            </a:r>
            <a:r>
              <a:rPr lang="ko-KR" altLang="en-US" sz="3000" dirty="0"/>
              <a:t>차원 배열의 합과 곱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15</a:t>
            </a:fld>
            <a:endParaRPr lang="en-US" dirty="0">
              <a:latin typeface="+mn-lt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EF09B26-382D-4A0F-A1AF-DACD69DF09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9225" y="1025763"/>
            <a:ext cx="8427505" cy="4864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1187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1597640" cy="773425"/>
          </a:xfrm>
        </p:spPr>
        <p:txBody>
          <a:bodyPr/>
          <a:lstStyle/>
          <a:p>
            <a:pPr fontAlgn="base" latinLnBrk="1"/>
            <a:r>
              <a:rPr lang="en-US" altLang="ko-KR" sz="3000" dirty="0"/>
              <a:t>&lt;</a:t>
            </a:r>
            <a:r>
              <a:rPr lang="ko-KR" altLang="en-US" sz="3000" dirty="0"/>
              <a:t>예제 </a:t>
            </a:r>
            <a:r>
              <a:rPr lang="en-US" altLang="ko-KR" sz="3000" dirty="0"/>
              <a:t>4-7&gt; </a:t>
            </a:r>
            <a:r>
              <a:rPr lang="ko-KR" altLang="en-US" sz="3000" dirty="0"/>
              <a:t>배열에서 메소드를 사용한 기술통계 </a:t>
            </a:r>
            <a:r>
              <a:rPr lang="ko-KR" altLang="en-US" sz="3000" dirty="0" err="1"/>
              <a:t>사용예</a:t>
            </a:r>
            <a:endParaRPr lang="ko-KR" altLang="en-US" sz="30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16</a:t>
            </a:fld>
            <a:endParaRPr lang="en-US" dirty="0">
              <a:latin typeface="+mn-lt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C363E8A-7D93-4FFF-88A1-AF30CC216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0238" y="1531511"/>
            <a:ext cx="9096588" cy="4521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8616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1597640" cy="773425"/>
          </a:xfrm>
        </p:spPr>
        <p:txBody>
          <a:bodyPr/>
          <a:lstStyle/>
          <a:p>
            <a:pPr fontAlgn="base" latinLnBrk="1"/>
            <a:r>
              <a:rPr lang="en-US" altLang="ko-KR" sz="3000" dirty="0"/>
              <a:t>&lt;</a:t>
            </a:r>
            <a:r>
              <a:rPr lang="ko-KR" altLang="en-US" sz="3000" dirty="0"/>
              <a:t>예제 </a:t>
            </a:r>
            <a:r>
              <a:rPr lang="en-US" altLang="ko-KR" sz="3000" dirty="0"/>
              <a:t>4-8&gt; </a:t>
            </a:r>
            <a:r>
              <a:rPr lang="ko-KR" altLang="en-US" sz="3000" dirty="0"/>
              <a:t>배열 초기화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17</a:t>
            </a:fld>
            <a:endParaRPr lang="en-US" dirty="0">
              <a:latin typeface="+mn-lt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968F2AF-FE2A-4258-8F41-993B77A8CA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1261" y="426721"/>
            <a:ext cx="6200775" cy="6153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36489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1597640" cy="773425"/>
          </a:xfrm>
        </p:spPr>
        <p:txBody>
          <a:bodyPr/>
          <a:lstStyle/>
          <a:p>
            <a:pPr fontAlgn="base" latinLnBrk="1"/>
            <a:r>
              <a:rPr lang="en-US" altLang="ko-KR" sz="3000" dirty="0"/>
              <a:t>&lt;</a:t>
            </a:r>
            <a:r>
              <a:rPr lang="ko-KR" altLang="en-US" sz="3000" dirty="0"/>
              <a:t>예제 </a:t>
            </a:r>
            <a:r>
              <a:rPr lang="en-US" altLang="ko-KR" sz="3000" dirty="0"/>
              <a:t>4-9&gt; </a:t>
            </a:r>
            <a:r>
              <a:rPr lang="ko-KR" altLang="en-US" sz="3000" dirty="0"/>
              <a:t>특정 조건의 배열 요소로 초기화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18</a:t>
            </a:fld>
            <a:endParaRPr lang="en-US" dirty="0">
              <a:latin typeface="+mn-lt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1173F63-3486-442A-93EC-9F502CE167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5371" y="1555325"/>
            <a:ext cx="7551488" cy="3931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2324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773425"/>
          </a:xfrm>
        </p:spPr>
        <p:txBody>
          <a:bodyPr/>
          <a:lstStyle/>
          <a:p>
            <a:pPr fontAlgn="base" latinLnBrk="1"/>
            <a:r>
              <a:rPr lang="en-US" altLang="ko-KR" dirty="0"/>
              <a:t>4.2 </a:t>
            </a:r>
            <a:r>
              <a:rPr lang="ko-KR" altLang="en-US" dirty="0"/>
              <a:t>데이터 구조의 변환</a:t>
            </a: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19</a:t>
            </a:fld>
            <a:endParaRPr lang="en-US" dirty="0">
              <a:latin typeface="+mn-lt"/>
            </a:endParaRPr>
          </a:p>
        </p:txBody>
      </p:sp>
      <p:sp>
        <p:nvSpPr>
          <p:cNvPr id="7" name="Title 8">
            <a:extLst>
              <a:ext uri="{FF2B5EF4-FFF2-40B4-BE49-F238E27FC236}">
                <a16:creationId xmlns:a16="http://schemas.microsoft.com/office/drawing/2014/main" id="{55E17F96-79C8-4944-BD78-DB2CB97FE10A}"/>
              </a:ext>
            </a:extLst>
          </p:cNvPr>
          <p:cNvSpPr txBox="1">
            <a:spLocks/>
          </p:cNvSpPr>
          <p:nvPr/>
        </p:nvSpPr>
        <p:spPr>
          <a:xfrm>
            <a:off x="484177" y="1240407"/>
            <a:ext cx="11432088" cy="38827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경우에 따라 데이터의 구조를 변환하는 것이 필요한데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이때 라이브러리 </a:t>
            </a:r>
            <a:r>
              <a:rPr lang="en-US" altLang="ko-KR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numpy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와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pandas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를 주로 이용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  <a:p>
            <a:pPr fontAlgn="base" latinLnBrk="1">
              <a:lnSpc>
                <a:spcPct val="100000"/>
              </a:lnSpc>
            </a:pP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기술통계와 같이 비교적 간단한 통계량을 계산한다면 </a:t>
            </a:r>
            <a:r>
              <a:rPr lang="en-US" altLang="ko-KR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numpy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의 리스트나 배열을 </a:t>
            </a: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이용할 수 있지만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다양한 통계처리를 위해서는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pandas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의 데이터프레임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</a:t>
            </a:r>
            <a:r>
              <a:rPr lang="en-US" altLang="ko-KR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DataFrame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)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을 </a:t>
            </a: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사용하는 것이 편리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  <a:p>
            <a:pPr fontAlgn="base" latinLnBrk="1">
              <a:lnSpc>
                <a:spcPct val="100000"/>
              </a:lnSpc>
            </a:pP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다음의 내용은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pandas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의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Cheat Sheet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의 내용을 참고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  <a:p>
            <a:pPr fontAlgn="base" latinLnBrk="1">
              <a:lnSpc>
                <a:spcPct val="100000"/>
              </a:lnSpc>
            </a:pP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https://pandas.pydata.org/Pandas_Cheat_Sheet.pdf</a:t>
            </a:r>
          </a:p>
        </p:txBody>
      </p:sp>
    </p:spTree>
    <p:extLst>
      <p:ext uri="{BB962C8B-B14F-4D97-AF65-F5344CB8AC3E}">
        <p14:creationId xmlns:p14="http://schemas.microsoft.com/office/powerpoint/2010/main" val="7116414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71630"/>
            <a:ext cx="10130159" cy="773425"/>
          </a:xfrm>
        </p:spPr>
        <p:txBody>
          <a:bodyPr/>
          <a:lstStyle/>
          <a:p>
            <a:pPr fontAlgn="base" latinLnBrk="1"/>
            <a:r>
              <a:rPr lang="en-US" altLang="ko-KR" sz="2800" dirty="0"/>
              <a:t>&lt;</a:t>
            </a:r>
            <a:r>
              <a:rPr lang="ko-KR" altLang="en-US" sz="2800" dirty="0"/>
              <a:t>예제 </a:t>
            </a:r>
            <a:r>
              <a:rPr lang="en-US" altLang="ko-KR" sz="2800" dirty="0"/>
              <a:t>4-10&gt; </a:t>
            </a:r>
            <a:r>
              <a:rPr lang="ko-KR" altLang="en-US" sz="2800" dirty="0"/>
              <a:t>데이터프레임의 생성과 함수 </a:t>
            </a:r>
            <a:r>
              <a:rPr lang="en-US" altLang="ko-KR" sz="2800" dirty="0"/>
              <a:t>melt()</a:t>
            </a:r>
            <a:r>
              <a:rPr lang="ko-KR" altLang="en-US" sz="2800" dirty="0"/>
              <a:t>를 이용한 </a:t>
            </a:r>
            <a:br>
              <a:rPr lang="en-US" altLang="ko-KR" sz="2800" dirty="0"/>
            </a:br>
            <a:r>
              <a:rPr lang="en-US" altLang="ko-KR" sz="2800" dirty="0"/>
              <a:t>                 </a:t>
            </a:r>
            <a:r>
              <a:rPr lang="ko-KR" altLang="en-US" sz="2800" dirty="0"/>
              <a:t>데이터 재구조화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20</a:t>
            </a:fld>
            <a:endParaRPr lang="en-US" dirty="0">
              <a:latin typeface="+mn-lt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13040A1-0AE8-419C-8917-383A4E165A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577" y="969646"/>
            <a:ext cx="6162675" cy="5610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6487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1597640" cy="773425"/>
          </a:xfrm>
        </p:spPr>
        <p:txBody>
          <a:bodyPr/>
          <a:lstStyle/>
          <a:p>
            <a:pPr fontAlgn="base" latinLnBrk="1"/>
            <a:r>
              <a:rPr lang="en-US" altLang="ko-KR" sz="3000" dirty="0"/>
              <a:t>&lt;</a:t>
            </a:r>
            <a:r>
              <a:rPr lang="ko-KR" altLang="en-US" sz="3000" dirty="0"/>
              <a:t>예제 </a:t>
            </a:r>
            <a:r>
              <a:rPr lang="en-US" altLang="ko-KR" sz="3000" dirty="0"/>
              <a:t>4-11&gt; </a:t>
            </a:r>
            <a:r>
              <a:rPr lang="ko-KR" altLang="en-US" sz="3000" dirty="0"/>
              <a:t>함수 </a:t>
            </a:r>
            <a:r>
              <a:rPr lang="en-US" altLang="ko-KR" sz="3000" dirty="0" err="1"/>
              <a:t>concat</a:t>
            </a:r>
            <a:r>
              <a:rPr lang="en-US" altLang="ko-KR" sz="3000" dirty="0"/>
              <a:t>()</a:t>
            </a:r>
            <a:r>
              <a:rPr lang="ko-KR" altLang="en-US" sz="3000" dirty="0"/>
              <a:t>를 이용한 데이터 재구조화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21</a:t>
            </a:fld>
            <a:endParaRPr lang="en-US" dirty="0">
              <a:latin typeface="+mn-lt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5D3A7DB-9A69-4BA9-B6FF-AB67A265B7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13" y="1167168"/>
            <a:ext cx="5191125" cy="17907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1F11DFE-FF7B-42A6-95CB-2ED1C9E3B8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8987" y="2827020"/>
            <a:ext cx="6019800" cy="3629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230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1597640" cy="773425"/>
          </a:xfrm>
        </p:spPr>
        <p:txBody>
          <a:bodyPr/>
          <a:lstStyle/>
          <a:p>
            <a:pPr fontAlgn="base" latinLnBrk="1"/>
            <a:r>
              <a:rPr lang="en-US" altLang="ko-KR" sz="3000" dirty="0"/>
              <a:t>&lt;</a:t>
            </a:r>
            <a:r>
              <a:rPr lang="ko-KR" altLang="en-US" sz="3000" dirty="0"/>
              <a:t>예제 </a:t>
            </a:r>
            <a:r>
              <a:rPr lang="en-US" altLang="ko-KR" sz="3000" dirty="0"/>
              <a:t>4-11&gt; </a:t>
            </a:r>
            <a:r>
              <a:rPr lang="ko-KR" altLang="en-US" sz="3000" dirty="0"/>
              <a:t>함수 </a:t>
            </a:r>
            <a:r>
              <a:rPr lang="en-US" altLang="ko-KR" sz="3000" dirty="0" err="1"/>
              <a:t>concat</a:t>
            </a:r>
            <a:r>
              <a:rPr lang="en-US" altLang="ko-KR" sz="3000" dirty="0"/>
              <a:t>()</a:t>
            </a:r>
            <a:r>
              <a:rPr lang="ko-KR" altLang="en-US" sz="3000" dirty="0"/>
              <a:t>를 이용한 데이터 재구조화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22</a:t>
            </a:fld>
            <a:endParaRPr lang="en-US" dirty="0">
              <a:latin typeface="+mn-lt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BD55B4D-4902-49C8-8E33-DA311FDF1B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951" y="3223857"/>
            <a:ext cx="5162550" cy="13525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3E3D9A9-92AA-44E1-A586-C035D6873F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951" y="1408567"/>
            <a:ext cx="5191125" cy="179070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90A5958-7F4F-499F-BB04-885AA16DAB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2799" y="2799358"/>
            <a:ext cx="6191250" cy="3590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976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1597640" cy="773425"/>
          </a:xfrm>
        </p:spPr>
        <p:txBody>
          <a:bodyPr/>
          <a:lstStyle/>
          <a:p>
            <a:pPr fontAlgn="base" latinLnBrk="1"/>
            <a:r>
              <a:rPr lang="en-US" altLang="ko-KR" sz="3000" dirty="0"/>
              <a:t>&lt;</a:t>
            </a:r>
            <a:r>
              <a:rPr lang="ko-KR" altLang="en-US" sz="3000" dirty="0"/>
              <a:t>예제 </a:t>
            </a:r>
            <a:r>
              <a:rPr lang="en-US" altLang="ko-KR" sz="3000" dirty="0"/>
              <a:t>4-12&gt; </a:t>
            </a:r>
            <a:r>
              <a:rPr lang="ko-KR" altLang="en-US" sz="3000" dirty="0"/>
              <a:t>함수 </a:t>
            </a:r>
            <a:r>
              <a:rPr lang="en-US" altLang="ko-KR" sz="3000" dirty="0"/>
              <a:t>merge()</a:t>
            </a:r>
            <a:r>
              <a:rPr lang="ko-KR" altLang="en-US" sz="3000" dirty="0"/>
              <a:t>를 이용한 결합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23</a:t>
            </a:fld>
            <a:endParaRPr lang="en-US" dirty="0">
              <a:latin typeface="+mn-lt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A555FF-FE6C-482A-A05A-CFB7BBA2C1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90" y="1410889"/>
            <a:ext cx="5086350" cy="313372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0314CA0-AB0A-4B4A-9E3E-5E11915D95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4331" y="2354894"/>
            <a:ext cx="5969420" cy="4224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066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1597640" cy="773425"/>
          </a:xfrm>
        </p:spPr>
        <p:txBody>
          <a:bodyPr/>
          <a:lstStyle/>
          <a:p>
            <a:pPr fontAlgn="base" latinLnBrk="1"/>
            <a:r>
              <a:rPr lang="en-US" altLang="ko-KR" sz="3000" dirty="0"/>
              <a:t>&lt;</a:t>
            </a:r>
            <a:r>
              <a:rPr lang="ko-KR" altLang="en-US" sz="3000" dirty="0"/>
              <a:t>예제 </a:t>
            </a:r>
            <a:r>
              <a:rPr lang="en-US" altLang="ko-KR" sz="3000" dirty="0"/>
              <a:t>4-13&gt; </a:t>
            </a:r>
            <a:r>
              <a:rPr lang="ko-KR" altLang="en-US" sz="3000" dirty="0"/>
              <a:t>함수 </a:t>
            </a:r>
            <a:r>
              <a:rPr lang="en-US" altLang="ko-KR" sz="3000" dirty="0"/>
              <a:t>pivot()</a:t>
            </a:r>
            <a:r>
              <a:rPr lang="ko-KR" altLang="en-US" sz="3000" dirty="0"/>
              <a:t>을 이용한 행렬 전환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24</a:t>
            </a:fld>
            <a:endParaRPr lang="en-US" dirty="0">
              <a:latin typeface="+mn-lt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C9DE443-2096-421C-9A8A-8BC747445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171" y="926741"/>
            <a:ext cx="6440010" cy="5783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23480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1597640" cy="773425"/>
          </a:xfrm>
        </p:spPr>
        <p:txBody>
          <a:bodyPr/>
          <a:lstStyle/>
          <a:p>
            <a:pPr fontAlgn="base" latinLnBrk="1"/>
            <a:r>
              <a:rPr lang="en-US" altLang="ko-KR" sz="3000" dirty="0"/>
              <a:t>&lt;</a:t>
            </a:r>
            <a:r>
              <a:rPr lang="ko-KR" altLang="en-US" sz="3000" dirty="0"/>
              <a:t>예제 </a:t>
            </a:r>
            <a:r>
              <a:rPr lang="en-US" altLang="ko-KR" sz="3000" dirty="0"/>
              <a:t>4-14&gt; </a:t>
            </a:r>
            <a:r>
              <a:rPr lang="ko-KR" altLang="en-US" sz="3000" dirty="0"/>
              <a:t>함수 </a:t>
            </a:r>
            <a:r>
              <a:rPr lang="en-US" altLang="ko-KR" sz="3000" dirty="0" err="1"/>
              <a:t>groupby</a:t>
            </a:r>
            <a:r>
              <a:rPr lang="en-US" altLang="ko-KR" sz="3000" dirty="0"/>
              <a:t>()</a:t>
            </a:r>
            <a:r>
              <a:rPr lang="ko-KR" altLang="en-US" sz="3000" dirty="0"/>
              <a:t>를 이용한 그룹화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25</a:t>
            </a:fld>
            <a:endParaRPr lang="en-US" dirty="0">
              <a:latin typeface="+mn-lt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701BEFC-EA57-48EF-AAC7-0027652058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3226" y="1615223"/>
            <a:ext cx="7382188" cy="4447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3927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1597640" cy="773425"/>
          </a:xfrm>
        </p:spPr>
        <p:txBody>
          <a:bodyPr/>
          <a:lstStyle/>
          <a:p>
            <a:pPr fontAlgn="base" latinLnBrk="1"/>
            <a:r>
              <a:rPr lang="en-US" altLang="ko-KR" sz="3000" dirty="0"/>
              <a:t>&lt;</a:t>
            </a:r>
            <a:r>
              <a:rPr lang="ko-KR" altLang="en-US" sz="3000" dirty="0"/>
              <a:t>예제 추가</a:t>
            </a:r>
            <a:r>
              <a:rPr lang="en-US" altLang="ko-KR" sz="3000" dirty="0"/>
              <a:t>&gt; </a:t>
            </a:r>
            <a:r>
              <a:rPr lang="ko-KR" altLang="en-US" sz="3000" dirty="0"/>
              <a:t>함수 </a:t>
            </a:r>
            <a:r>
              <a:rPr lang="en-US" altLang="ko-KR" sz="3000" dirty="0" err="1"/>
              <a:t>pivot_table</a:t>
            </a:r>
            <a:r>
              <a:rPr lang="en-US" altLang="ko-KR" sz="3000" dirty="0"/>
              <a:t>()</a:t>
            </a:r>
            <a:endParaRPr lang="ko-KR" altLang="en-US" sz="30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26</a:t>
            </a:fld>
            <a:endParaRPr lang="en-US" dirty="0">
              <a:latin typeface="+mn-lt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BCC1C95-C09C-4212-9103-8057BFE04C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235691"/>
            <a:ext cx="6210300" cy="23050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9E6AAF0-2DC5-4D20-8B42-CED7BB061E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8420" y="3457073"/>
            <a:ext cx="5820700" cy="329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5855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177" y="894817"/>
            <a:ext cx="4890896" cy="1543582"/>
          </a:xfrm>
        </p:spPr>
        <p:txBody>
          <a:bodyPr/>
          <a:lstStyle/>
          <a:p>
            <a:pPr fontAlgn="base" latinLnBrk="1">
              <a:lnSpc>
                <a:spcPct val="150000"/>
              </a:lnSpc>
            </a:pPr>
            <a:r>
              <a:rPr lang="en-US" altLang="ko-KR" sz="3200" dirty="0"/>
              <a:t>&lt;</a:t>
            </a:r>
            <a:r>
              <a:rPr lang="ko-KR" altLang="en-US" sz="3200" dirty="0"/>
              <a:t>예제 </a:t>
            </a:r>
            <a:r>
              <a:rPr lang="en-US" altLang="ko-KR" sz="3200" dirty="0"/>
              <a:t>4-15&gt; </a:t>
            </a:r>
            <a:br>
              <a:rPr lang="en-US" altLang="ko-KR" sz="3200" dirty="0"/>
            </a:br>
            <a:r>
              <a:rPr lang="ko-KR" altLang="en-US" sz="3200" dirty="0"/>
              <a:t>메소드 </a:t>
            </a:r>
            <a:r>
              <a:rPr lang="en-US" altLang="ko-KR" sz="3200" dirty="0" err="1"/>
              <a:t>sort_value</a:t>
            </a:r>
            <a:r>
              <a:rPr lang="ko-KR" altLang="en-US" sz="3200" dirty="0"/>
              <a:t>를 </a:t>
            </a:r>
            <a:br>
              <a:rPr lang="en-US" altLang="ko-KR" sz="3200" dirty="0"/>
            </a:br>
            <a:r>
              <a:rPr lang="ko-KR" altLang="en-US" sz="3200" dirty="0"/>
              <a:t>이용한 데이터 정렬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27</a:t>
            </a:fld>
            <a:endParaRPr lang="en-US" dirty="0">
              <a:latin typeface="+mn-lt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016A995-C330-4B01-854B-7B9B8EFF05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376" y="2815256"/>
            <a:ext cx="4457700" cy="2438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3AB399A-15FF-4F80-84A7-A7BA328D9D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1748" y="295275"/>
            <a:ext cx="6210300" cy="656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857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773425"/>
          </a:xfrm>
        </p:spPr>
        <p:txBody>
          <a:bodyPr/>
          <a:lstStyle/>
          <a:p>
            <a:pPr fontAlgn="base" latinLnBrk="1"/>
            <a:r>
              <a:rPr lang="en-US" altLang="ko-KR" dirty="0"/>
              <a:t>4.3 </a:t>
            </a:r>
            <a:r>
              <a:rPr lang="ko-KR" altLang="en-US" dirty="0"/>
              <a:t>데이터 파일 다루기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28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52BAA388-41A0-479C-9162-EE2CE71051A6}"/>
              </a:ext>
            </a:extLst>
          </p:cNvPr>
          <p:cNvSpPr txBox="1">
            <a:spLocks/>
          </p:cNvSpPr>
          <p:nvPr/>
        </p:nvSpPr>
        <p:spPr>
          <a:xfrm>
            <a:off x="379956" y="1782158"/>
            <a:ext cx="11432088" cy="268005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적은 분량의 데이터라면 배열 또는 리스트를 이용하여 프로그램에서 직접 입력할 수도 있지만 대부분 이미 만들어진 데이터 파일을 이용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  <a:p>
            <a:pPr fontAlgn="base" latinLnBrk="1">
              <a:lnSpc>
                <a:spcPct val="100000"/>
              </a:lnSpc>
            </a:pP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pandas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는 여러 형식으로 작성된 파일을 읽어 들이거나 불러온 다음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적절한 데이터 구조로 변환하거나 다른 형식으로 저장하는 기능들을 제공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  <a:p>
            <a:pPr fontAlgn="base" latinLnBrk="1">
              <a:lnSpc>
                <a:spcPct val="100000"/>
              </a:lnSpc>
            </a:pP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여기에서는 텍스트 형식으로 작성된 파일과 엑셀로 작성된 파일을 </a:t>
            </a:r>
            <a:r>
              <a:rPr lang="ko-KR" altLang="en-US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파이썬에서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처리하는 방법을 설명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031379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773425"/>
          </a:xfrm>
        </p:spPr>
        <p:txBody>
          <a:bodyPr/>
          <a:lstStyle/>
          <a:p>
            <a:pPr fontAlgn="base" latinLnBrk="1"/>
            <a:r>
              <a:rPr lang="en-US" altLang="ko-KR" dirty="0"/>
              <a:t>4.3 </a:t>
            </a:r>
            <a:r>
              <a:rPr lang="ko-KR" altLang="en-US" dirty="0"/>
              <a:t>데이터 파일 다루기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29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52BAA388-41A0-479C-9162-EE2CE71051A6}"/>
              </a:ext>
            </a:extLst>
          </p:cNvPr>
          <p:cNvSpPr txBox="1">
            <a:spLocks/>
          </p:cNvSpPr>
          <p:nvPr/>
        </p:nvSpPr>
        <p:spPr>
          <a:xfrm>
            <a:off x="484177" y="1220073"/>
            <a:ext cx="11432088" cy="149128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데이터는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4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개의 열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이름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성별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점수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출석점수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)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이 있고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총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10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개의 행으로 구성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점수 열은 객관식 문제에 대해 맞은 개수를 의미하며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출석은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20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점 만점의 출석점수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객관식 문제를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80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점 만점으로 계산하기 위해 점수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×5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로 계산하여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100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점 만점으로 계산할 총점은 다음의 식으로 계산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76E6EE-BEDE-40EA-A492-80D1E239A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2103" y="2638898"/>
            <a:ext cx="3688459" cy="402775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40FF622-3D23-4F37-9196-9D34A276F8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440" y="2875200"/>
            <a:ext cx="4382323" cy="861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3984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773425"/>
          </a:xfrm>
        </p:spPr>
        <p:txBody>
          <a:bodyPr/>
          <a:lstStyle/>
          <a:p>
            <a:pPr fontAlgn="base" latinLnBrk="1"/>
            <a:r>
              <a:rPr lang="en-US" altLang="ko-KR" dirty="0"/>
              <a:t>4.3.1 </a:t>
            </a:r>
            <a:r>
              <a:rPr lang="ko-KR" altLang="en-US" dirty="0"/>
              <a:t>데이터 파일 불러오기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30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52BAA388-41A0-479C-9162-EE2CE71051A6}"/>
              </a:ext>
            </a:extLst>
          </p:cNvPr>
          <p:cNvSpPr txBox="1">
            <a:spLocks/>
          </p:cNvSpPr>
          <p:nvPr/>
        </p:nvSpPr>
        <p:spPr>
          <a:xfrm>
            <a:off x="484177" y="1220072"/>
            <a:ext cx="11432088" cy="209932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en-US" altLang="ko-KR" sz="2200" dirty="0">
                <a:latin typeface="한컴 고딕" panose="02000500000000000000" pitchFamily="2" charset="-127"/>
                <a:ea typeface="한컴 고딕" panose="02000500000000000000" pitchFamily="2" charset="-127"/>
              </a:rPr>
              <a:t>CSV(Comma </a:t>
            </a:r>
            <a:r>
              <a:rPr lang="en-US" altLang="ko-KR" sz="220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Seperated</a:t>
            </a:r>
            <a:r>
              <a:rPr lang="en-US" altLang="ko-KR" sz="220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Values) </a:t>
            </a:r>
          </a:p>
          <a:p>
            <a:pPr fontAlgn="base" latinLnBrk="1">
              <a:lnSpc>
                <a:spcPct val="100000"/>
              </a:lnSpc>
            </a:pP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CSV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형식의 파일의 데이터는 콤마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(comma)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로 분리된 텍스트 형식의 파일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  <a:p>
            <a:pPr fontAlgn="base" latinLnBrk="1">
              <a:lnSpc>
                <a:spcPct val="100000"/>
              </a:lnSpc>
            </a:pP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CSV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형식의 파일은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Excel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로 불러올 수도 있고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메모장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(notepad)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으로도 불러올 수 있다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  <a:p>
            <a:pPr fontAlgn="base" latinLnBrk="1">
              <a:lnSpc>
                <a:spcPct val="100000"/>
              </a:lnSpc>
            </a:pP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CVS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파일은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Excel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에서 다른 이름으로 저장할 때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[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그림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4-2]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와 같이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[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파일 형식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]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에서 </a:t>
            </a: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[CSV UTF-8 (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쉼표로 분리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)]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를 선택하여 저장할 수 있다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</p:txBody>
      </p:sp>
      <p:pic>
        <p:nvPicPr>
          <p:cNvPr id="11" name="Picture 3">
            <a:extLst>
              <a:ext uri="{FF2B5EF4-FFF2-40B4-BE49-F238E27FC236}">
                <a16:creationId xmlns:a16="http://schemas.microsoft.com/office/drawing/2014/main" id="{54547A50-750C-4E29-B423-56BB040421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559682"/>
            <a:ext cx="6395163" cy="1997812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1EFA9B1-D4A4-455B-87C4-A9E5D06C7D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3714" y="3236595"/>
            <a:ext cx="3417433" cy="347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9805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773425"/>
          </a:xfrm>
        </p:spPr>
        <p:txBody>
          <a:bodyPr/>
          <a:lstStyle/>
          <a:p>
            <a:pPr fontAlgn="base" latinLnBrk="1"/>
            <a:r>
              <a:rPr lang="en-US" altLang="ko-KR" dirty="0"/>
              <a:t>4.3.1 </a:t>
            </a:r>
            <a:r>
              <a:rPr lang="ko-KR" altLang="en-US" dirty="0"/>
              <a:t>데이터 파일 불러오기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31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52BAA388-41A0-479C-9162-EE2CE71051A6}"/>
              </a:ext>
            </a:extLst>
          </p:cNvPr>
          <p:cNvSpPr txBox="1">
            <a:spLocks/>
          </p:cNvSpPr>
          <p:nvPr/>
        </p:nvSpPr>
        <p:spPr>
          <a:xfrm>
            <a:off x="484177" y="1220072"/>
            <a:ext cx="11432088" cy="209932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두 번째와 세 번째는 모두 파일 확장자가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txt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인 텍스트 파일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</a:p>
          <a:p>
            <a:pPr fontAlgn="base" latinLnBrk="1">
              <a:lnSpc>
                <a:spcPct val="100000"/>
              </a:lnSpc>
            </a:pP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파일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sample2.txt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는 데이터가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CSV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형식과 같이 콤마로 구분된 파일이고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sample3.txt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는 탭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(tab)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으로 구분된 파일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  <a:p>
            <a:pPr fontAlgn="base" latinLnBrk="1">
              <a:lnSpc>
                <a:spcPct val="100000"/>
              </a:lnSpc>
            </a:pP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마지막으로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sample4.xlsx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는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Excel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프로그램으로 저장된 엑셀 형식의 파일</a:t>
            </a: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B36C15D-0091-4DDE-A57A-7DDAAE18D6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177" y="2776874"/>
            <a:ext cx="2828925" cy="313372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24EA31D-0F89-46C8-B5CF-D6844AEC74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5935" y="2776874"/>
            <a:ext cx="3048000" cy="34099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3355141-59D7-45CF-A0CF-97DBE4484C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0644" y="2776874"/>
            <a:ext cx="2527860" cy="3912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7532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773425"/>
          </a:xfrm>
        </p:spPr>
        <p:txBody>
          <a:bodyPr/>
          <a:lstStyle/>
          <a:p>
            <a:pPr fontAlgn="base" latinLnBrk="1"/>
            <a:r>
              <a:rPr lang="en-US" altLang="ko-KR" dirty="0"/>
              <a:t>4.3.1 </a:t>
            </a:r>
            <a:r>
              <a:rPr lang="ko-KR" altLang="en-US" dirty="0"/>
              <a:t>데이터 파일 불러오기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32</a:t>
            </a:fld>
            <a:endParaRPr lang="en-US" dirty="0">
              <a:latin typeface="+mn-lt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B48CC46-9420-4199-89E3-106A9EB6BD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1584" y="1602437"/>
            <a:ext cx="7441477" cy="4450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8637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773425"/>
          </a:xfrm>
        </p:spPr>
        <p:txBody>
          <a:bodyPr/>
          <a:lstStyle/>
          <a:p>
            <a:pPr fontAlgn="base" latinLnBrk="1"/>
            <a:r>
              <a:rPr lang="en-US" altLang="ko-KR" sz="3000" dirty="0"/>
              <a:t>&lt;</a:t>
            </a:r>
            <a:r>
              <a:rPr lang="ko-KR" altLang="en-US" sz="3000" dirty="0"/>
              <a:t>예제 </a:t>
            </a:r>
            <a:r>
              <a:rPr lang="en-US" altLang="ko-KR" sz="3000" dirty="0"/>
              <a:t>4-16&gt; CSV </a:t>
            </a:r>
            <a:r>
              <a:rPr lang="ko-KR" altLang="en-US" sz="3000" dirty="0"/>
              <a:t>파일 불러오기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33</a:t>
            </a:fld>
            <a:endParaRPr lang="en-US" dirty="0">
              <a:latin typeface="+mn-lt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1C3651EA-FD68-4397-A3D0-40EC386D52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23" y="1256208"/>
            <a:ext cx="3417433" cy="347083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4C2558F-FB48-4E54-94F5-505D5609B4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9226" y="3212367"/>
            <a:ext cx="8873179" cy="302762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359757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206" y="167159"/>
            <a:ext cx="11655059" cy="773425"/>
          </a:xfrm>
        </p:spPr>
        <p:txBody>
          <a:bodyPr/>
          <a:lstStyle/>
          <a:p>
            <a:pPr fontAlgn="base" latinLnBrk="1"/>
            <a:r>
              <a:rPr lang="en-US" altLang="ko-KR" sz="3000" dirty="0"/>
              <a:t>[</a:t>
            </a:r>
            <a:r>
              <a:rPr lang="ko-KR" altLang="en-US" sz="3000" dirty="0"/>
              <a:t>참고 </a:t>
            </a:r>
            <a:r>
              <a:rPr lang="en-US" altLang="ko-KR" sz="3000" dirty="0"/>
              <a:t>3] </a:t>
            </a:r>
            <a:r>
              <a:rPr lang="ko-KR" altLang="en-US" sz="3000" dirty="0"/>
              <a:t>이스케이프 시퀀스</a:t>
            </a:r>
            <a:r>
              <a:rPr lang="en-US" altLang="ko-KR" sz="3000" dirty="0"/>
              <a:t>(escape sequence) </a:t>
            </a:r>
            <a:r>
              <a:rPr lang="ko-KR" altLang="en-US" sz="3000" dirty="0"/>
              <a:t>사용시 오류 해결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34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52BAA388-41A0-479C-9162-EE2CE71051A6}"/>
              </a:ext>
            </a:extLst>
          </p:cNvPr>
          <p:cNvSpPr txBox="1">
            <a:spLocks/>
          </p:cNvSpPr>
          <p:nvPr/>
        </p:nvSpPr>
        <p:spPr>
          <a:xfrm>
            <a:off x="484177" y="1220072"/>
            <a:ext cx="11432088" cy="448606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파이썬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프로그램을 작성할 때 이스케이프 시퀀스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</a:t>
            </a:r>
            <a:r>
              <a:rPr lang="en-US" altLang="ko-KR" sz="2200" b="0" dirty="0">
                <a:latin typeface="나눔스퀘어 네오 OTF Light" panose="00000400000000000000" pitchFamily="50" charset="-127"/>
                <a:ea typeface="나눔스퀘어 네오 OTF Light" panose="00000400000000000000" pitchFamily="50" charset="-127"/>
              </a:rPr>
              <a:t>\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n, </a:t>
            </a:r>
            <a:r>
              <a:rPr lang="en-US" altLang="ko-KR" sz="2200" b="0" dirty="0">
                <a:latin typeface="나눔스퀘어 네오 OTF Light" panose="00000400000000000000" pitchFamily="50" charset="-127"/>
                <a:ea typeface="나눔스퀘어 네오 OTF Light" panose="00000400000000000000" pitchFamily="50" charset="-127"/>
              </a:rPr>
              <a:t>\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t, </a:t>
            </a:r>
            <a:r>
              <a:rPr lang="en-US" altLang="ko-KR" sz="2200" b="0" dirty="0">
                <a:latin typeface="나눔스퀘어 네오 OTF Light" panose="00000400000000000000" pitchFamily="50" charset="-127"/>
                <a:ea typeface="나눔스퀘어 네오 OTF Light" panose="00000400000000000000" pitchFamily="50" charset="-127"/>
              </a:rPr>
              <a:t>\\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)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가 아닌 </a:t>
            </a:r>
            <a:r>
              <a:rPr lang="ko-KR" altLang="en-US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백슬러시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문자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</a:t>
            </a:r>
            <a:r>
              <a:rPr lang="en-US" altLang="ko-KR" sz="2200" b="0" dirty="0">
                <a:latin typeface="나눔스퀘어 네오 OTF Light" panose="00000400000000000000" pitchFamily="50" charset="-127"/>
                <a:ea typeface="나눔스퀘어 네오 OTF Light" panose="00000400000000000000" pitchFamily="50" charset="-127"/>
              </a:rPr>
              <a:t>\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또는 ￦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)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을 사용하면 프로그램을 실행할 때 경고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(Warning)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를 나타내며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특히 파일을 불러오기 위하여 파일 경로에 </a:t>
            </a:r>
            <a:r>
              <a:rPr lang="ko-KR" altLang="en-US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백슬러시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문자를 사용하면 파일을 불러오지 못하는 경우가 발생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  <a:p>
            <a:pPr fontAlgn="base" latinLnBrk="1">
              <a:lnSpc>
                <a:spcPct val="100000"/>
              </a:lnSpc>
            </a:pP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예를 들어 </a:t>
            </a:r>
            <a:r>
              <a:rPr lang="ko-KR" altLang="en-US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파이썬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프로그램과 프로그램에서 사용할 데이터 파일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엑셀파일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)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이 같은 폴더에 있지 않을 경우에 다음과 같이 작성할 수 있으나 아래와 같은 </a:t>
            </a:r>
            <a:r>
              <a:rPr lang="en-US" altLang="ko-KR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SyntaxWarning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이 나타난다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 </a:t>
            </a:r>
          </a:p>
          <a:p>
            <a:pPr fontAlgn="base" latinLnBrk="1">
              <a:lnSpc>
                <a:spcPct val="100000"/>
              </a:lnSpc>
            </a:pP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         </a:t>
            </a:r>
            <a:r>
              <a:rPr lang="en-US" altLang="ko-KR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df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= </a:t>
            </a:r>
            <a:r>
              <a:rPr lang="en-US" altLang="ko-KR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pd.read_excel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('..</a:t>
            </a:r>
            <a:r>
              <a:rPr lang="en-US" altLang="ko-KR" sz="2200" b="0" dirty="0">
                <a:latin typeface="나눔스퀘어 네오 OTF Light" panose="00000400000000000000" pitchFamily="50" charset="-127"/>
                <a:ea typeface="나눔스퀘어 네오 OTF Light" panose="00000400000000000000" pitchFamily="50" charset="-127"/>
              </a:rPr>
              <a:t> \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data</a:t>
            </a:r>
            <a:r>
              <a:rPr lang="en-US" altLang="ko-KR" sz="2200" b="0" dirty="0">
                <a:latin typeface="나눔스퀘어 네오 OTF Light" panose="00000400000000000000" pitchFamily="50" charset="-127"/>
                <a:ea typeface="나눔스퀘어 네오 OTF Light" panose="00000400000000000000" pitchFamily="50" charset="-127"/>
              </a:rPr>
              <a:t>\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sample.xlsx’)</a:t>
            </a:r>
          </a:p>
          <a:p>
            <a:pPr fontAlgn="base" latinLnBrk="1">
              <a:lnSpc>
                <a:spcPct val="100000"/>
              </a:lnSpc>
            </a:pP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         </a:t>
            </a:r>
            <a:r>
              <a:rPr lang="en-US" altLang="ko-KR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SyntaxWarning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: invalid escape sequence '</a:t>
            </a:r>
            <a:r>
              <a:rPr lang="en-US" altLang="ko-KR" sz="2200" b="0" dirty="0">
                <a:latin typeface="나눔스퀘어 네오 OTF Light" panose="00000400000000000000" pitchFamily="50" charset="-127"/>
                <a:ea typeface="나눔스퀘어 네오 OTF Light" panose="00000400000000000000" pitchFamily="50" charset="-127"/>
              </a:rPr>
              <a:t>\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d'</a:t>
            </a:r>
          </a:p>
        </p:txBody>
      </p:sp>
    </p:spTree>
    <p:extLst>
      <p:ext uri="{BB962C8B-B14F-4D97-AF65-F5344CB8AC3E}">
        <p14:creationId xmlns:p14="http://schemas.microsoft.com/office/powerpoint/2010/main" val="28139297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177" y="167157"/>
            <a:ext cx="11360493" cy="773425"/>
          </a:xfrm>
        </p:spPr>
        <p:txBody>
          <a:bodyPr/>
          <a:lstStyle/>
          <a:p>
            <a:pPr fontAlgn="base" latinLnBrk="1"/>
            <a:r>
              <a:rPr lang="en-US" altLang="ko-KR" sz="2800" dirty="0"/>
              <a:t>[</a:t>
            </a:r>
            <a:r>
              <a:rPr lang="ko-KR" altLang="en-US" sz="2800" dirty="0"/>
              <a:t>참고 </a:t>
            </a:r>
            <a:r>
              <a:rPr lang="en-US" altLang="ko-KR" sz="2800" dirty="0"/>
              <a:t>3] </a:t>
            </a:r>
            <a:r>
              <a:rPr lang="ko-KR" altLang="en-US" sz="2800" dirty="0"/>
              <a:t>이스케이프 시퀀스</a:t>
            </a:r>
            <a:r>
              <a:rPr lang="en-US" altLang="ko-KR" sz="2800" dirty="0"/>
              <a:t>(escape sequence) </a:t>
            </a:r>
            <a:r>
              <a:rPr lang="ko-KR" altLang="en-US" sz="2800" dirty="0"/>
              <a:t>사용시 오류 해결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35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52BAA388-41A0-479C-9162-EE2CE71051A6}"/>
              </a:ext>
            </a:extLst>
          </p:cNvPr>
          <p:cNvSpPr txBox="1">
            <a:spLocks/>
          </p:cNvSpPr>
          <p:nvPr/>
        </p:nvSpPr>
        <p:spPr>
          <a:xfrm>
            <a:off x="484177" y="1220071"/>
            <a:ext cx="11432088" cy="386851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파이썬에는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특수한 문자를 사용할 수 있도록 하므로 파일 경로나 정규 표현식 등을 표현할 때 원시 문자열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(raw string)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인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r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을 이용한 표기법을 사용하여 문제를 해결할 수 있다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  <a:p>
            <a:pPr fontAlgn="base" latinLnBrk="1">
              <a:lnSpc>
                <a:spcPct val="100000"/>
              </a:lnSpc>
            </a:pP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예로 </a:t>
            </a:r>
            <a:r>
              <a:rPr lang="ko-KR" altLang="en-US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파이썬에서는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문자열을 표시하는 큰따옴표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(")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나 작은따옴표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(')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앞에 인코딩을 표시하는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u, b, r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등의 접두사가 붙이는 것인데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기본은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u(UTF-8)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이며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바이너리는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b(binary),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원시 문자열은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r(raw)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를 사용한다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따라서 위의 프로그램은 다음과 같이 수정하여 사용한다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</a:t>
            </a:r>
          </a:p>
          <a:p>
            <a:pPr fontAlgn="base" latinLnBrk="1">
              <a:lnSpc>
                <a:spcPct val="100000"/>
              </a:lnSpc>
            </a:pP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  </a:t>
            </a:r>
            <a:r>
              <a:rPr lang="en-US" altLang="ko-KR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df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= </a:t>
            </a:r>
            <a:r>
              <a:rPr lang="en-US" altLang="ko-KR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pd.read_excel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(r'..</a:t>
            </a:r>
            <a:r>
              <a:rPr lang="en-US" altLang="ko-KR" sz="2200" b="0" dirty="0">
                <a:latin typeface="나눔스퀘어 네오 OTF Light" panose="00000400000000000000" pitchFamily="50" charset="-127"/>
                <a:ea typeface="나눔스퀘어 네오 OTF Light" panose="00000400000000000000" pitchFamily="50" charset="-127"/>
              </a:rPr>
              <a:t> \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data</a:t>
            </a:r>
            <a:r>
              <a:rPr lang="en-US" altLang="ko-KR" sz="2200" b="0" dirty="0">
                <a:latin typeface="나눔스퀘어 네오 OTF Light" panose="00000400000000000000" pitchFamily="50" charset="-127"/>
                <a:ea typeface="나눔스퀘어 네오 OTF Light" panose="00000400000000000000" pitchFamily="50" charset="-127"/>
              </a:rPr>
              <a:t>\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sample.xlsx')</a:t>
            </a:r>
          </a:p>
        </p:txBody>
      </p:sp>
    </p:spTree>
    <p:extLst>
      <p:ext uri="{BB962C8B-B14F-4D97-AF65-F5344CB8AC3E}">
        <p14:creationId xmlns:p14="http://schemas.microsoft.com/office/powerpoint/2010/main" val="37113434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773425"/>
          </a:xfrm>
        </p:spPr>
        <p:txBody>
          <a:bodyPr/>
          <a:lstStyle/>
          <a:p>
            <a:pPr fontAlgn="base" latinLnBrk="1"/>
            <a:r>
              <a:rPr lang="en-US" altLang="ko-KR" dirty="0"/>
              <a:t>4.3.2 </a:t>
            </a:r>
            <a:r>
              <a:rPr lang="ko-KR" altLang="en-US" dirty="0"/>
              <a:t>데이터 파일 생성하기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36</a:t>
            </a:fld>
            <a:endParaRPr lang="en-US" dirty="0">
              <a:latin typeface="+mn-lt"/>
            </a:endParaRPr>
          </a:p>
        </p:txBody>
      </p:sp>
      <p:sp>
        <p:nvSpPr>
          <p:cNvPr id="5" name="Title 8">
            <a:extLst>
              <a:ext uri="{FF2B5EF4-FFF2-40B4-BE49-F238E27FC236}">
                <a16:creationId xmlns:a16="http://schemas.microsoft.com/office/drawing/2014/main" id="{E018A372-DDEB-D985-4D73-DEEDE0736D79}"/>
              </a:ext>
            </a:extLst>
          </p:cNvPr>
          <p:cNvSpPr txBox="1">
            <a:spLocks/>
          </p:cNvSpPr>
          <p:nvPr/>
        </p:nvSpPr>
        <p:spPr>
          <a:xfrm>
            <a:off x="484177" y="1125414"/>
            <a:ext cx="11432088" cy="166789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50000"/>
              </a:lnSpc>
            </a:pP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앞에서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[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표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4-2]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에 대해서 점수는 객관식 문제의 맞은 개수이므로 객관식 문제를 </a:t>
            </a: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50000"/>
              </a:lnSpc>
            </a:pP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80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점 만점으로 계산하기 위해 점수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×5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로 계산하고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20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점 만점의 출석점수를 합하여 </a:t>
            </a: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50000"/>
              </a:lnSpc>
            </a:pP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100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점 만점으로 계산하기 위해서 다음의 식을 이용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5CB34F9-CC95-4FE7-91BE-04FE3EEF89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723" y="3042418"/>
            <a:ext cx="4527236" cy="1022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3676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59" y="102875"/>
            <a:ext cx="11321905" cy="773425"/>
          </a:xfrm>
        </p:spPr>
        <p:txBody>
          <a:bodyPr/>
          <a:lstStyle/>
          <a:p>
            <a:pPr fontAlgn="base" latinLnBrk="1"/>
            <a:r>
              <a:rPr lang="en-US" altLang="ko-KR" sz="3000" dirty="0"/>
              <a:t>&lt;</a:t>
            </a:r>
            <a:r>
              <a:rPr lang="ko-KR" altLang="en-US" sz="3000" dirty="0"/>
              <a:t>예제 </a:t>
            </a:r>
            <a:r>
              <a:rPr lang="en-US" altLang="ko-KR" sz="3000" dirty="0"/>
              <a:t>4-17&gt; </a:t>
            </a:r>
            <a:r>
              <a:rPr lang="ko-KR" altLang="en-US" sz="3000" dirty="0"/>
              <a:t>데이터 파일의 생성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37</a:t>
            </a:fld>
            <a:endParaRPr lang="en-US" dirty="0">
              <a:latin typeface="+mn-lt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5EF588-4C51-4861-9234-83FAF7D446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59" y="2337603"/>
            <a:ext cx="7206737" cy="3619384"/>
          </a:xfrm>
          <a:prstGeom prst="rect">
            <a:avLst/>
          </a:prstGeom>
        </p:spPr>
      </p:pic>
      <p:sp>
        <p:nvSpPr>
          <p:cNvPr id="12" name="Title 8">
            <a:extLst>
              <a:ext uri="{FF2B5EF4-FFF2-40B4-BE49-F238E27FC236}">
                <a16:creationId xmlns:a16="http://schemas.microsoft.com/office/drawing/2014/main" id="{6BC554B1-90D6-4510-B787-186560DCBCA4}"/>
              </a:ext>
            </a:extLst>
          </p:cNvPr>
          <p:cNvSpPr txBox="1">
            <a:spLocks/>
          </p:cNvSpPr>
          <p:nvPr/>
        </p:nvSpPr>
        <p:spPr>
          <a:xfrm>
            <a:off x="594359" y="1422120"/>
            <a:ext cx="10864404" cy="77342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함수 </a:t>
            </a:r>
            <a:r>
              <a:rPr lang="en-US" altLang="ko-KR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concat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()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는 데이터를 연결할 때 사용하며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데이터를 수직 방향의 위아래로 연결할 때는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axis=0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을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수평 방향의 오른쪽으로 연결할 때는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axis=1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을 사용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  <a:p>
            <a:pPr fontAlgn="base" latinLnBrk="1">
              <a:lnSpc>
                <a:spcPct val="100000"/>
              </a:lnSpc>
            </a:pPr>
            <a:endParaRPr lang="en-US" altLang="ko-KR" sz="22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D88AF82-9A70-4F44-BBA0-7CA1BC696F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2416" y="2217465"/>
            <a:ext cx="2937016" cy="295578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3C22897-1E77-4AD4-A023-00298C7B13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2312" y="3154215"/>
            <a:ext cx="2250096" cy="3425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41928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59" y="102875"/>
            <a:ext cx="11321905" cy="773425"/>
          </a:xfrm>
        </p:spPr>
        <p:txBody>
          <a:bodyPr/>
          <a:lstStyle/>
          <a:p>
            <a:pPr fontAlgn="base" latinLnBrk="1"/>
            <a:r>
              <a:rPr lang="ko-KR" altLang="en-US" sz="3000" dirty="0"/>
              <a:t>그래프에 대한 이미지 파일 생성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38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A900EA66-C198-48C4-94BD-B873B07019A7}"/>
              </a:ext>
            </a:extLst>
          </p:cNvPr>
          <p:cNvSpPr txBox="1">
            <a:spLocks/>
          </p:cNvSpPr>
          <p:nvPr/>
        </p:nvSpPr>
        <p:spPr>
          <a:xfrm>
            <a:off x="346502" y="1419361"/>
            <a:ext cx="6303679" cy="272115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앞에서 새로 만든 변수인 </a:t>
            </a:r>
            <a:r>
              <a:rPr lang="en-US" altLang="ko-KR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total_score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에 대해 </a:t>
            </a: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히스토그램을 작성하고 </a:t>
            </a: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작성한 히스토그램 이미지를 파일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histogram of score.png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로 저장하려면 예제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4-17.py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의 마지막 </a:t>
            </a: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부분에 다음의 내용을 추가하여 실행한다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AA5F440-C981-491D-994D-F4453A59B7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2070" y="3212651"/>
            <a:ext cx="4883886" cy="298880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23F4470-4926-49E4-B18C-0AEC7A219E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7384" y="619261"/>
            <a:ext cx="3990975" cy="1600200"/>
          </a:xfrm>
          <a:prstGeom prst="rect">
            <a:avLst/>
          </a:prstGeom>
        </p:spPr>
      </p:pic>
      <p:sp>
        <p:nvSpPr>
          <p:cNvPr id="8" name="화살표: 왼쪽 7">
            <a:extLst>
              <a:ext uri="{FF2B5EF4-FFF2-40B4-BE49-F238E27FC236}">
                <a16:creationId xmlns:a16="http://schemas.microsoft.com/office/drawing/2014/main" id="{722DC89D-09B3-470D-94C9-A92011BE6087}"/>
              </a:ext>
            </a:extLst>
          </p:cNvPr>
          <p:cNvSpPr/>
          <p:nvPr/>
        </p:nvSpPr>
        <p:spPr>
          <a:xfrm rot="17974231">
            <a:off x="5268441" y="3582420"/>
            <a:ext cx="3242078" cy="185341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D932D7B-A68D-4B1D-97DD-EA3C4848D5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1522" y="3511783"/>
            <a:ext cx="3876117" cy="2957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6756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59" y="102875"/>
            <a:ext cx="11321905" cy="773425"/>
          </a:xfrm>
        </p:spPr>
        <p:txBody>
          <a:bodyPr/>
          <a:lstStyle/>
          <a:p>
            <a:pPr fontAlgn="base" latinLnBrk="1"/>
            <a:r>
              <a:rPr lang="en-US" altLang="ko-KR" dirty="0"/>
              <a:t>4.4 </a:t>
            </a:r>
            <a:r>
              <a:rPr lang="ko-KR" altLang="en-US" dirty="0" err="1"/>
              <a:t>결측값</a:t>
            </a:r>
            <a:r>
              <a:rPr lang="ko-KR" altLang="en-US" dirty="0"/>
              <a:t> 다루기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39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A900EA66-C198-48C4-94BD-B873B07019A7}"/>
              </a:ext>
            </a:extLst>
          </p:cNvPr>
          <p:cNvSpPr txBox="1">
            <a:spLocks/>
          </p:cNvSpPr>
          <p:nvPr/>
        </p:nvSpPr>
        <p:spPr>
          <a:xfrm>
            <a:off x="484177" y="1220071"/>
            <a:ext cx="11432088" cy="499283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데이터를 수집하는 과정에서 측정값을 실수로 빠트리거나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측정 자체가 불가능하여 누락시키는 경우가 있다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  <a:p>
            <a:pPr fontAlgn="base" latinLnBrk="1">
              <a:lnSpc>
                <a:spcPct val="100000"/>
              </a:lnSpc>
            </a:pP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또한 기존의 데이터 파일을 이용할 때 군데군데 값이 없는 상태인 공백으로 처리된 부분들이 있는데 이런 사례들을 모두 </a:t>
            </a: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(missing value)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이라 하고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python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에서는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None 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또는 </a:t>
            </a:r>
            <a:r>
              <a:rPr lang="en-US" altLang="ko-KR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NaN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(Not a Number)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로 나타낸다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  <a:p>
            <a:pPr fontAlgn="base" latinLnBrk="1">
              <a:lnSpc>
                <a:spcPct val="100000"/>
              </a:lnSpc>
            </a:pP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대부분의 통계처리 프로그램들의 분석 도구들은 기본적으로 </a:t>
            </a: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결측값을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제외하고 처리하며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pandas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의 통계 관련 함수들도 </a:t>
            </a: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결측값을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제외하고 처리한다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</a:t>
            </a:r>
          </a:p>
          <a:p>
            <a:pPr fontAlgn="base" latinLnBrk="1">
              <a:lnSpc>
                <a:spcPct val="100000"/>
              </a:lnSpc>
            </a:pP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</a:p>
          <a:p>
            <a:pPr fontAlgn="base" latinLnBrk="1">
              <a:lnSpc>
                <a:spcPct val="100000"/>
              </a:lnSpc>
            </a:pP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결측값이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포함된 사례가 적다면 큰 문제가 되지는 않지만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결측값이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포함된 사례가 많을 경우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해당 사례들을 모두 제외하면 표본 수가 감소하고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설문 문항에 대한 무응답 또는 왜곡된 정보가 다수 포함된다면 해당 표본이 모집단을 대표한다고 볼 수 없다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8865771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59" y="102875"/>
            <a:ext cx="11321905" cy="773425"/>
          </a:xfrm>
        </p:spPr>
        <p:txBody>
          <a:bodyPr/>
          <a:lstStyle/>
          <a:p>
            <a:pPr fontAlgn="base" latinLnBrk="1"/>
            <a:r>
              <a:rPr lang="en-US" altLang="ko-KR" dirty="0"/>
              <a:t>4.4 </a:t>
            </a:r>
            <a:r>
              <a:rPr lang="ko-KR" altLang="en-US" dirty="0" err="1"/>
              <a:t>결측값</a:t>
            </a:r>
            <a:r>
              <a:rPr lang="ko-KR" altLang="en-US" dirty="0"/>
              <a:t> 다루기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40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A900EA66-C198-48C4-94BD-B873B07019A7}"/>
              </a:ext>
            </a:extLst>
          </p:cNvPr>
          <p:cNvSpPr txBox="1">
            <a:spLocks/>
          </p:cNvSpPr>
          <p:nvPr/>
        </p:nvSpPr>
        <p:spPr>
          <a:xfrm>
            <a:off x="484177" y="1220072"/>
            <a:ext cx="11432088" cy="62037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결측값을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처리하거나 다루는 메소드들은 </a:t>
            </a:r>
            <a:r>
              <a:rPr lang="en-US" altLang="ko-KR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Pandas.DataFrame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을 이용하며 </a:t>
            </a: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요약내용은 다음과 같다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BBC6F8-EAA7-4F8B-B679-4378A8019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817" y="2206138"/>
            <a:ext cx="8794054" cy="3405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7695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59" y="102875"/>
            <a:ext cx="11321905" cy="773425"/>
          </a:xfrm>
        </p:spPr>
        <p:txBody>
          <a:bodyPr/>
          <a:lstStyle/>
          <a:p>
            <a:pPr fontAlgn="base" latinLnBrk="1"/>
            <a:r>
              <a:rPr lang="en-US" altLang="ko-KR" dirty="0"/>
              <a:t>4.4 </a:t>
            </a:r>
            <a:r>
              <a:rPr lang="ko-KR" altLang="en-US" dirty="0" err="1"/>
              <a:t>결측값</a:t>
            </a:r>
            <a:r>
              <a:rPr lang="ko-KR" altLang="en-US" dirty="0"/>
              <a:t> 다루기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41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A900EA66-C198-48C4-94BD-B873B07019A7}"/>
              </a:ext>
            </a:extLst>
          </p:cNvPr>
          <p:cNvSpPr txBox="1">
            <a:spLocks/>
          </p:cNvSpPr>
          <p:nvPr/>
        </p:nvSpPr>
        <p:spPr>
          <a:xfrm>
            <a:off x="484177" y="1220072"/>
            <a:ext cx="11432088" cy="62037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(0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과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공백 부분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)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이 포함된 가상의 데이터</a:t>
            </a: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C5EA09A-D4E3-4FB6-8331-A7F743C587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59" y="1731118"/>
            <a:ext cx="9237282" cy="3548468"/>
          </a:xfrm>
          <a:prstGeom prst="rect">
            <a:avLst/>
          </a:prstGeom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8800133A-CD18-4826-B747-C733CFA2A7DF}"/>
              </a:ext>
            </a:extLst>
          </p:cNvPr>
          <p:cNvSpPr/>
          <p:nvPr/>
        </p:nvSpPr>
        <p:spPr>
          <a:xfrm>
            <a:off x="6096000" y="4168930"/>
            <a:ext cx="651353" cy="57619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EFDF97D5-F560-456A-928C-0AD2BB308296}"/>
              </a:ext>
            </a:extLst>
          </p:cNvPr>
          <p:cNvSpPr/>
          <p:nvPr/>
        </p:nvSpPr>
        <p:spPr>
          <a:xfrm>
            <a:off x="8378197" y="2949735"/>
            <a:ext cx="651353" cy="57619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6926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59" y="102875"/>
            <a:ext cx="11321905" cy="773425"/>
          </a:xfrm>
        </p:spPr>
        <p:txBody>
          <a:bodyPr/>
          <a:lstStyle/>
          <a:p>
            <a:pPr fontAlgn="base" latinLnBrk="1"/>
            <a:r>
              <a:rPr lang="en-US" altLang="ko-KR" sz="3000" dirty="0"/>
              <a:t>&lt;</a:t>
            </a:r>
            <a:r>
              <a:rPr lang="ko-KR" altLang="en-US" sz="3000" dirty="0"/>
              <a:t>예제 </a:t>
            </a:r>
            <a:r>
              <a:rPr lang="en-US" altLang="ko-KR" sz="3000" dirty="0"/>
              <a:t>4-18&gt; </a:t>
            </a:r>
            <a:r>
              <a:rPr lang="ko-KR" altLang="en-US" sz="3000" dirty="0" err="1"/>
              <a:t>결측값이</a:t>
            </a:r>
            <a:r>
              <a:rPr lang="ko-KR" altLang="en-US" sz="3000" dirty="0"/>
              <a:t> 포함된 데이터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42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A900EA66-C198-48C4-94BD-B873B07019A7}"/>
              </a:ext>
            </a:extLst>
          </p:cNvPr>
          <p:cNvSpPr txBox="1">
            <a:spLocks/>
          </p:cNvSpPr>
          <p:nvPr/>
        </p:nvSpPr>
        <p:spPr>
          <a:xfrm>
            <a:off x="346502" y="1206419"/>
            <a:ext cx="11451487" cy="149128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[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표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4-4]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에서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id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가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12204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에 대해 키자료가 누락되어 있고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id 11027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에 대해서 몸무게가 </a:t>
            </a: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0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으로 잘못 기재되어 있는 경우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엑셀로 저장된 파일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(missing.xlsx)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을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python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으로 불러온 후에 출력하면 공백 부분이 </a:t>
            </a: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예제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4-18.py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의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[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실행결과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]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와 같이 </a:t>
            </a:r>
            <a:r>
              <a:rPr lang="en-US" altLang="ko-KR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NaN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으로 표시된다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274FDAE1-85C8-4127-BDC8-4127F8102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02" y="2660214"/>
            <a:ext cx="5190113" cy="199376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3DC4151-FFAE-4E35-A19E-39DECA978D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0503" y="4245955"/>
            <a:ext cx="7621393" cy="2210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3211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59" y="102875"/>
            <a:ext cx="11321905" cy="773425"/>
          </a:xfrm>
        </p:spPr>
        <p:txBody>
          <a:bodyPr/>
          <a:lstStyle/>
          <a:p>
            <a:pPr fontAlgn="base" latinLnBrk="1"/>
            <a:r>
              <a:rPr lang="en-US" altLang="ko-KR" dirty="0"/>
              <a:t>4.4.1 </a:t>
            </a:r>
            <a:r>
              <a:rPr lang="ko-KR" altLang="en-US" dirty="0" err="1"/>
              <a:t>결측값</a:t>
            </a:r>
            <a:r>
              <a:rPr lang="ko-KR" altLang="en-US" dirty="0"/>
              <a:t> 확인하기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43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A900EA66-C198-48C4-94BD-B873B07019A7}"/>
              </a:ext>
            </a:extLst>
          </p:cNvPr>
          <p:cNvSpPr txBox="1">
            <a:spLocks/>
          </p:cNvSpPr>
          <p:nvPr/>
        </p:nvSpPr>
        <p:spPr>
          <a:xfrm>
            <a:off x="346502" y="1419362"/>
            <a:ext cx="11679243" cy="129613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사례수가 자체가 적다면 </a:t>
            </a: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결측값을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눈으로 확인할 수 있지만 사례수가 많은 경우는 </a:t>
            </a: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바로 확인하기 어려우므로 함수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info()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나 </a:t>
            </a:r>
            <a:r>
              <a:rPr lang="en-US" altLang="ko-KR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isnull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()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을 사용</a:t>
            </a: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485358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59" y="102875"/>
            <a:ext cx="11321905" cy="773425"/>
          </a:xfrm>
        </p:spPr>
        <p:txBody>
          <a:bodyPr/>
          <a:lstStyle/>
          <a:p>
            <a:pPr fontAlgn="base" latinLnBrk="1"/>
            <a:r>
              <a:rPr lang="en-US" altLang="ko-KR" sz="3000" dirty="0"/>
              <a:t>&lt;</a:t>
            </a:r>
            <a:r>
              <a:rPr lang="ko-KR" altLang="en-US" sz="3000" dirty="0"/>
              <a:t>예제 </a:t>
            </a:r>
            <a:r>
              <a:rPr lang="en-US" altLang="ko-KR" sz="3000" dirty="0"/>
              <a:t>4-19&gt; </a:t>
            </a:r>
            <a:r>
              <a:rPr lang="ko-KR" altLang="en-US" sz="3000" dirty="0"/>
              <a:t>사례수가 많은 경우에 </a:t>
            </a:r>
            <a:r>
              <a:rPr lang="ko-KR" altLang="en-US" sz="3000" dirty="0" err="1"/>
              <a:t>결측값의</a:t>
            </a:r>
            <a:r>
              <a:rPr lang="ko-KR" altLang="en-US" sz="3000" dirty="0"/>
              <a:t> 확인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44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A900EA66-C198-48C4-94BD-B873B07019A7}"/>
              </a:ext>
            </a:extLst>
          </p:cNvPr>
          <p:cNvSpPr txBox="1">
            <a:spLocks/>
          </p:cNvSpPr>
          <p:nvPr/>
        </p:nvSpPr>
        <p:spPr>
          <a:xfrm>
            <a:off x="346502" y="1419361"/>
            <a:ext cx="11321905" cy="149128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프로그램 예제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4-19.py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에서 함수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info()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의 경우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Non-Null Count 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부분에 </a:t>
            </a: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결측값이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아닌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(Non-</a:t>
            </a:r>
            <a:r>
              <a:rPr lang="en-US" altLang="ko-KR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Nul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) 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사례수가 표시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함수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info() 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대신에 열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(column)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에 대한 사례 수를 표시하는 함수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count()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를 이용하여 정상적인 값의 사례 수를 확인할 수도 있다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C8207B8-3D31-44B3-A0E1-0CD4C2A642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466" y="3037719"/>
            <a:ext cx="8771543" cy="257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08059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59" y="102875"/>
            <a:ext cx="11321905" cy="773425"/>
          </a:xfrm>
        </p:spPr>
        <p:txBody>
          <a:bodyPr/>
          <a:lstStyle/>
          <a:p>
            <a:pPr fontAlgn="base" latinLnBrk="1"/>
            <a:r>
              <a:rPr lang="en-US" altLang="ko-KR" sz="3000" dirty="0"/>
              <a:t>&lt;</a:t>
            </a:r>
            <a:r>
              <a:rPr lang="ko-KR" altLang="en-US" sz="3000" dirty="0"/>
              <a:t>예제 </a:t>
            </a:r>
            <a:r>
              <a:rPr lang="en-US" altLang="ko-KR" sz="3000" dirty="0"/>
              <a:t>4-20&gt; </a:t>
            </a:r>
            <a:r>
              <a:rPr lang="ko-KR" altLang="en-US" sz="3000" dirty="0"/>
              <a:t>함수 </a:t>
            </a:r>
            <a:r>
              <a:rPr lang="en-US" altLang="ko-KR" sz="3000" dirty="0" err="1"/>
              <a:t>isnull</a:t>
            </a:r>
            <a:r>
              <a:rPr lang="en-US" altLang="ko-KR" sz="3000" dirty="0"/>
              <a:t>()</a:t>
            </a:r>
            <a:r>
              <a:rPr lang="ko-KR" altLang="en-US" sz="3000" dirty="0"/>
              <a:t>을 이용한 </a:t>
            </a:r>
            <a:r>
              <a:rPr lang="ko-KR" altLang="en-US" sz="3000" dirty="0" err="1"/>
              <a:t>결측값의</a:t>
            </a:r>
            <a:r>
              <a:rPr lang="ko-KR" altLang="en-US" sz="3000" dirty="0"/>
              <a:t> 확인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45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A900EA66-C198-48C4-94BD-B873B07019A7}"/>
              </a:ext>
            </a:extLst>
          </p:cNvPr>
          <p:cNvSpPr txBox="1">
            <a:spLocks/>
          </p:cNvSpPr>
          <p:nvPr/>
        </p:nvSpPr>
        <p:spPr>
          <a:xfrm>
            <a:off x="346502" y="1419361"/>
            <a:ext cx="11321905" cy="149128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함수 </a:t>
            </a:r>
            <a:r>
              <a:rPr lang="en-US" altLang="ko-KR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isnull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() 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또는 함수 </a:t>
            </a:r>
            <a:r>
              <a:rPr lang="en-US" altLang="ko-KR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isna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()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는 정상적인 </a:t>
            </a: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데이터값에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대해서는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False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로 </a:t>
            </a: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결측값은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True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로 </a:t>
            </a: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표시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  <a:p>
            <a:pPr fontAlgn="base" latinLnBrk="1">
              <a:lnSpc>
                <a:spcPct val="100000"/>
              </a:lnSpc>
            </a:pP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[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실행결과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]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에서 </a:t>
            </a: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열이름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height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에 대해 </a:t>
            </a: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결측값이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한 개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(True) 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있음을 알 수 있다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CBADCB4-9236-4098-9538-91C33CF5F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980" y="3059782"/>
            <a:ext cx="8211491" cy="225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7732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59" y="102875"/>
            <a:ext cx="11321905" cy="773425"/>
          </a:xfrm>
        </p:spPr>
        <p:txBody>
          <a:bodyPr/>
          <a:lstStyle/>
          <a:p>
            <a:pPr fontAlgn="base" latinLnBrk="1"/>
            <a:r>
              <a:rPr lang="en-US" altLang="ko-KR" sz="3000" dirty="0"/>
              <a:t>&lt;</a:t>
            </a:r>
            <a:r>
              <a:rPr lang="ko-KR" altLang="en-US" sz="3000" dirty="0"/>
              <a:t>예제 </a:t>
            </a:r>
            <a:r>
              <a:rPr lang="en-US" altLang="ko-KR" sz="3000" dirty="0"/>
              <a:t>4-21&gt; </a:t>
            </a:r>
            <a:r>
              <a:rPr lang="ko-KR" altLang="en-US" sz="3000" dirty="0" err="1"/>
              <a:t>결측값의</a:t>
            </a:r>
            <a:r>
              <a:rPr lang="ko-KR" altLang="en-US" sz="3000" dirty="0"/>
              <a:t> 개수 확인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46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A900EA66-C198-48C4-94BD-B873B07019A7}"/>
              </a:ext>
            </a:extLst>
          </p:cNvPr>
          <p:cNvSpPr txBox="1">
            <a:spLocks/>
          </p:cNvSpPr>
          <p:nvPr/>
        </p:nvSpPr>
        <p:spPr>
          <a:xfrm>
            <a:off x="346502" y="1419361"/>
            <a:ext cx="11321905" cy="149128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함수 </a:t>
            </a:r>
            <a:r>
              <a:rPr lang="en-US" altLang="ko-KR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isnull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() 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또는 함수 </a:t>
            </a:r>
            <a:r>
              <a:rPr lang="en-US" altLang="ko-KR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isna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()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는 정상적인 </a:t>
            </a: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데이터값에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대부분의 컴퓨터 언어에서 </a:t>
            </a: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False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는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0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으로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True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는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1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로 처리하기 때문에 </a:t>
            </a:r>
            <a:r>
              <a:rPr lang="en-US" altLang="ko-KR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DataFrame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에 대해 열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(column)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의 합을 계산하는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sum()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함수를 사용하면 예제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4-21.py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의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[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실행결과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]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와 같이 </a:t>
            </a: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결측값의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개수를 확인할 수 있다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F610BF-00C8-4AF3-B577-75705BF183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599" y="3022301"/>
            <a:ext cx="6964215" cy="2187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60849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59" y="102875"/>
            <a:ext cx="11321905" cy="773425"/>
          </a:xfrm>
        </p:spPr>
        <p:txBody>
          <a:bodyPr/>
          <a:lstStyle/>
          <a:p>
            <a:pPr fontAlgn="base" latinLnBrk="1"/>
            <a:r>
              <a:rPr lang="en-US" altLang="ko-KR" sz="3000" dirty="0"/>
              <a:t>&lt;</a:t>
            </a:r>
            <a:r>
              <a:rPr lang="ko-KR" altLang="en-US" sz="3000" dirty="0"/>
              <a:t>예제 </a:t>
            </a:r>
            <a:r>
              <a:rPr lang="en-US" altLang="ko-KR" sz="3000" dirty="0"/>
              <a:t>4-22&gt; </a:t>
            </a:r>
            <a:r>
              <a:rPr lang="ko-KR" altLang="en-US" sz="3000" dirty="0"/>
              <a:t>함수 </a:t>
            </a:r>
            <a:r>
              <a:rPr lang="en-US" altLang="ko-KR" sz="3000" dirty="0" err="1"/>
              <a:t>notnull</a:t>
            </a:r>
            <a:r>
              <a:rPr lang="en-US" altLang="ko-KR" sz="3000" dirty="0"/>
              <a:t>()</a:t>
            </a:r>
            <a:r>
              <a:rPr lang="ko-KR" altLang="en-US" sz="3000" dirty="0"/>
              <a:t>를 이용한 </a:t>
            </a:r>
            <a:r>
              <a:rPr lang="ko-KR" altLang="en-US" sz="3000" dirty="0" err="1"/>
              <a:t>결측값의</a:t>
            </a:r>
            <a:r>
              <a:rPr lang="ko-KR" altLang="en-US" sz="3000" dirty="0"/>
              <a:t> 확인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47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A900EA66-C198-48C4-94BD-B873B07019A7}"/>
              </a:ext>
            </a:extLst>
          </p:cNvPr>
          <p:cNvSpPr txBox="1">
            <a:spLocks/>
          </p:cNvSpPr>
          <p:nvPr/>
        </p:nvSpPr>
        <p:spPr>
          <a:xfrm>
            <a:off x="346502" y="1419361"/>
            <a:ext cx="11321905" cy="149128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예제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4-22.py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에서 함수 </a:t>
            </a:r>
            <a:r>
              <a:rPr lang="en-US" altLang="ko-KR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notnull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()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는 함수 </a:t>
            </a:r>
            <a:r>
              <a:rPr lang="en-US" altLang="ko-KR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isnull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()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과 반대로 정상적인 </a:t>
            </a: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데이터값에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대해서는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True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로 </a:t>
            </a: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결측값은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False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로 표시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2F890D7-E08A-42D6-875F-5BC601C4A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066" y="2683137"/>
            <a:ext cx="7986956" cy="2221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433268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59" y="102875"/>
            <a:ext cx="11321905" cy="773425"/>
          </a:xfrm>
        </p:spPr>
        <p:txBody>
          <a:bodyPr/>
          <a:lstStyle/>
          <a:p>
            <a:pPr fontAlgn="base" latinLnBrk="1"/>
            <a:r>
              <a:rPr lang="en-US" altLang="ko-KR" dirty="0">
                <a:latin typeface="한컴 고딕" panose="02000500000000000000" pitchFamily="2" charset="-127"/>
              </a:rPr>
              <a:t>4.4.2 </a:t>
            </a:r>
            <a:r>
              <a:rPr lang="ko-KR" altLang="en-US" dirty="0">
                <a:latin typeface="한컴 고딕" panose="02000500000000000000" pitchFamily="2" charset="-127"/>
              </a:rPr>
              <a:t>값을 대체하기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48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A900EA66-C198-48C4-94BD-B873B07019A7}"/>
              </a:ext>
            </a:extLst>
          </p:cNvPr>
          <p:cNvSpPr txBox="1">
            <a:spLocks/>
          </p:cNvSpPr>
          <p:nvPr/>
        </p:nvSpPr>
        <p:spPr>
          <a:xfrm>
            <a:off x="346502" y="1419362"/>
            <a:ext cx="11679243" cy="129613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수집한 데이터에 대해 예를 들어 평균을 계산한다고 할 때 대부분 </a:t>
            </a: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결측값을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제외하고 계산하지만 </a:t>
            </a: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결측값을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적절한 다른 값으로 대체하는 경우도 있다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8564567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59" y="102875"/>
            <a:ext cx="11321905" cy="773425"/>
          </a:xfrm>
        </p:spPr>
        <p:txBody>
          <a:bodyPr/>
          <a:lstStyle/>
          <a:p>
            <a:pPr fontAlgn="base" latinLnBrk="1"/>
            <a:r>
              <a:rPr lang="en-US" altLang="ko-KR" sz="3000" dirty="0"/>
              <a:t>&lt;</a:t>
            </a:r>
            <a:r>
              <a:rPr lang="ko-KR" altLang="en-US" sz="3000" dirty="0"/>
              <a:t>예제 </a:t>
            </a:r>
            <a:r>
              <a:rPr lang="en-US" altLang="ko-KR" sz="3000" dirty="0"/>
              <a:t>4-23&gt; </a:t>
            </a:r>
            <a:r>
              <a:rPr lang="ko-KR" altLang="en-US" sz="3000" dirty="0" err="1"/>
              <a:t>결측값이</a:t>
            </a:r>
            <a:r>
              <a:rPr lang="ko-KR" altLang="en-US" sz="3000" dirty="0"/>
              <a:t> 포함된 평균 계산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49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A900EA66-C198-48C4-94BD-B873B07019A7}"/>
              </a:ext>
            </a:extLst>
          </p:cNvPr>
          <p:cNvSpPr txBox="1">
            <a:spLocks/>
          </p:cNvSpPr>
          <p:nvPr/>
        </p:nvSpPr>
        <p:spPr>
          <a:xfrm>
            <a:off x="346502" y="1419361"/>
            <a:ext cx="11321905" cy="463337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결측값이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포함된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[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표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2-9]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의 데이터에 대해 열 이름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height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와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weight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에 대해 평균을 계산</a:t>
            </a: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열이름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height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에 대해서는 </a:t>
            </a: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결측값이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있지만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평균을 계산하는 함수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mean()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의 결과를 보면 </a:t>
            </a: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결측값을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제외한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5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개의 데이터에 대한 평균으로 계산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  <a:p>
            <a:pPr fontAlgn="base" latinLnBrk="1">
              <a:lnSpc>
                <a:spcPct val="100000"/>
              </a:lnSpc>
            </a:pP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그러나 열 이름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weight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에 입력된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0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값은 </a:t>
            </a: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결측값이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아닌 정상적인 값으로 처리하기 때문에 </a:t>
            </a: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0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값을 포함한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6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개의 사례에 대한 평균을 계산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8CEA988-F18D-44BE-8FCE-562C00E269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7631" y="2133791"/>
            <a:ext cx="7055671" cy="1941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09670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59" y="102875"/>
            <a:ext cx="11321905" cy="773425"/>
          </a:xfrm>
        </p:spPr>
        <p:txBody>
          <a:bodyPr/>
          <a:lstStyle/>
          <a:p>
            <a:pPr fontAlgn="base" latinLnBrk="1"/>
            <a:r>
              <a:rPr lang="en-US" altLang="ko-KR" sz="3000" dirty="0"/>
              <a:t>&lt;</a:t>
            </a:r>
            <a:r>
              <a:rPr lang="ko-KR" altLang="en-US" sz="3000" dirty="0"/>
              <a:t>예제 </a:t>
            </a:r>
            <a:r>
              <a:rPr lang="en-US" altLang="ko-KR" sz="3000" dirty="0"/>
              <a:t>4-24&gt; </a:t>
            </a:r>
            <a:r>
              <a:rPr lang="ko-KR" altLang="en-US" sz="3000" dirty="0"/>
              <a:t>함수 </a:t>
            </a:r>
            <a:r>
              <a:rPr lang="en-US" altLang="ko-KR" sz="3000" dirty="0" err="1"/>
              <a:t>fillna</a:t>
            </a:r>
            <a:r>
              <a:rPr lang="en-US" altLang="ko-KR" sz="3000" dirty="0"/>
              <a:t>()</a:t>
            </a:r>
            <a:r>
              <a:rPr lang="ko-KR" altLang="en-US" sz="3000" dirty="0"/>
              <a:t>를 이용한 </a:t>
            </a:r>
            <a:r>
              <a:rPr lang="ko-KR" altLang="en-US" sz="3000" dirty="0" err="1"/>
              <a:t>결측값의</a:t>
            </a:r>
            <a:r>
              <a:rPr lang="ko-KR" altLang="en-US" sz="3000" dirty="0"/>
              <a:t> 대체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50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A900EA66-C198-48C4-94BD-B873B07019A7}"/>
              </a:ext>
            </a:extLst>
          </p:cNvPr>
          <p:cNvSpPr txBox="1">
            <a:spLocks/>
          </p:cNvSpPr>
          <p:nvPr/>
        </p:nvSpPr>
        <p:spPr>
          <a:xfrm>
            <a:off x="346502" y="1419362"/>
            <a:ext cx="11321905" cy="100056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데이터에 포함된 </a:t>
            </a: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결측값을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다른 값으로 대체할 때 함수 </a:t>
            </a:r>
            <a:r>
              <a:rPr lang="en-US" altLang="ko-KR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fillna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()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를 이용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예제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4-24.py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의 실행결과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height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의 </a:t>
            </a: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결측값이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height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의 평균값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(161.8)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로 대체된 것을 확인</a:t>
            </a: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7AF43C2-31D4-4411-A34D-8592BD6F96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60" y="2386750"/>
            <a:ext cx="7822817" cy="3755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40964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59" y="102875"/>
            <a:ext cx="11321905" cy="773425"/>
          </a:xfrm>
        </p:spPr>
        <p:txBody>
          <a:bodyPr/>
          <a:lstStyle/>
          <a:p>
            <a:pPr fontAlgn="base" latinLnBrk="1"/>
            <a:r>
              <a:rPr lang="en-US" altLang="ko-KR" sz="3000" dirty="0"/>
              <a:t>&lt;</a:t>
            </a:r>
            <a:r>
              <a:rPr lang="ko-KR" altLang="en-US" sz="3000" dirty="0"/>
              <a:t>예제 </a:t>
            </a:r>
            <a:r>
              <a:rPr lang="en-US" altLang="ko-KR" sz="3000" dirty="0"/>
              <a:t>4-25&gt; </a:t>
            </a:r>
            <a:r>
              <a:rPr lang="ko-KR" altLang="en-US" sz="3000" dirty="0"/>
              <a:t>잘못 입력한 값의 대체</a:t>
            </a:r>
            <a:r>
              <a:rPr lang="en-US" altLang="ko-KR" sz="3000" dirty="0"/>
              <a:t>(</a:t>
            </a:r>
            <a:r>
              <a:rPr lang="ko-KR" altLang="en-US" sz="3000" dirty="0"/>
              <a:t>함수 </a:t>
            </a:r>
            <a:r>
              <a:rPr lang="en-US" altLang="ko-KR" sz="3000" dirty="0"/>
              <a:t>replace()) </a:t>
            </a:r>
            <a:endParaRPr lang="ko-KR" altLang="en-US" sz="30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51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A900EA66-C198-48C4-94BD-B873B07019A7}"/>
              </a:ext>
            </a:extLst>
          </p:cNvPr>
          <p:cNvSpPr txBox="1">
            <a:spLocks/>
          </p:cNvSpPr>
          <p:nvPr/>
        </p:nvSpPr>
        <p:spPr>
          <a:xfrm>
            <a:off x="346502" y="1419362"/>
            <a:ext cx="11321905" cy="100056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잘못 입력한 값이나 특정 값을 다른 값으로 바꾸려면 함수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replace()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를 사용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예제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4-25.py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에서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0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으로 입력된 값을 </a:t>
            </a: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결측값으로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바꿀 때 프로그램에서 </a:t>
            </a: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결측값은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lang="en-US" altLang="ko-KR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np.nan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으로 나타내며 라이브러리 </a:t>
            </a:r>
            <a:r>
              <a:rPr lang="en-US" altLang="ko-KR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numpy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가 필요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2FEA3FD-62C8-4F7F-AEC4-A9D42B3DDE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0102" y="2538057"/>
            <a:ext cx="7723388" cy="3484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13274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59" y="102875"/>
            <a:ext cx="11321905" cy="773425"/>
          </a:xfrm>
        </p:spPr>
        <p:txBody>
          <a:bodyPr/>
          <a:lstStyle/>
          <a:p>
            <a:pPr fontAlgn="base" latinLnBrk="1"/>
            <a:r>
              <a:rPr lang="en-US" altLang="ko-KR" dirty="0">
                <a:latin typeface="한컴 고딕" panose="02000500000000000000" pitchFamily="2" charset="-127"/>
              </a:rPr>
              <a:t>4.4.3 </a:t>
            </a:r>
            <a:r>
              <a:rPr lang="ko-KR" altLang="en-US" dirty="0">
                <a:latin typeface="한컴 고딕" panose="02000500000000000000" pitchFamily="2" charset="-127"/>
              </a:rPr>
              <a:t>결측 사례 삭제하기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52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A900EA66-C198-48C4-94BD-B873B07019A7}"/>
              </a:ext>
            </a:extLst>
          </p:cNvPr>
          <p:cNvSpPr txBox="1">
            <a:spLocks/>
          </p:cNvSpPr>
          <p:nvPr/>
        </p:nvSpPr>
        <p:spPr>
          <a:xfrm>
            <a:off x="921788" y="1419362"/>
            <a:ext cx="9905678" cy="129613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수집한 데이터에 </a:t>
            </a: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결측값이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포함된 경우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앞에서 값을 대체하기도 하지만 </a:t>
            </a: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00000"/>
              </a:lnSpc>
            </a:pP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결측값이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포함된 변수나 사례를 삭제하는 사례</a:t>
            </a: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22342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59" y="102875"/>
            <a:ext cx="11321905" cy="773425"/>
          </a:xfrm>
        </p:spPr>
        <p:txBody>
          <a:bodyPr/>
          <a:lstStyle/>
          <a:p>
            <a:pPr fontAlgn="base" latinLnBrk="1"/>
            <a:r>
              <a:rPr lang="en-US" altLang="ko-KR" sz="3000" dirty="0"/>
              <a:t>&lt;</a:t>
            </a:r>
            <a:r>
              <a:rPr lang="ko-KR" altLang="en-US" sz="3000" dirty="0"/>
              <a:t>예제 </a:t>
            </a:r>
            <a:r>
              <a:rPr lang="en-US" altLang="ko-KR" sz="3000" dirty="0"/>
              <a:t>4-26&gt; </a:t>
            </a:r>
            <a:r>
              <a:rPr lang="ko-KR" altLang="en-US" sz="3000" dirty="0" err="1"/>
              <a:t>결측값이</a:t>
            </a:r>
            <a:r>
              <a:rPr lang="ko-KR" altLang="en-US" sz="3000" dirty="0"/>
              <a:t> 포함된 사례</a:t>
            </a:r>
            <a:r>
              <a:rPr lang="en-US" altLang="ko-KR" sz="3000" dirty="0"/>
              <a:t>(</a:t>
            </a:r>
            <a:r>
              <a:rPr lang="ko-KR" altLang="en-US" sz="3000" dirty="0"/>
              <a:t>데이터 행</a:t>
            </a:r>
            <a:r>
              <a:rPr lang="en-US" altLang="ko-KR" sz="3000" dirty="0"/>
              <a:t>)</a:t>
            </a:r>
            <a:r>
              <a:rPr lang="ko-KR" altLang="en-US" sz="3000" dirty="0"/>
              <a:t>의 삭제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53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A900EA66-C198-48C4-94BD-B873B07019A7}"/>
              </a:ext>
            </a:extLst>
          </p:cNvPr>
          <p:cNvSpPr txBox="1">
            <a:spLocks/>
          </p:cNvSpPr>
          <p:nvPr/>
        </p:nvSpPr>
        <p:spPr>
          <a:xfrm>
            <a:off x="1155272" y="1442901"/>
            <a:ext cx="9881456" cy="100056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결측값이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포함된 사례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행 또는 열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)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를 삭제할 때 함수 </a:t>
            </a:r>
            <a:r>
              <a:rPr lang="en-US" altLang="ko-KR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dropna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()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를 사용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행을 삭제하려면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axis=0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을 인자로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열을 삭제하려면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axis=1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을 사용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예제 </a:t>
            </a: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2-26.py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의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[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실행 결과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]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에서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id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가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12204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인 사례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행 전체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)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가 삭제</a:t>
            </a: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0D67F87-2B7D-4763-81C9-C03103F743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4917" y="2798186"/>
            <a:ext cx="7505074" cy="3179315"/>
          </a:xfrm>
          <a:prstGeom prst="rect">
            <a:avLst/>
          </a:prstGeom>
        </p:spPr>
      </p:pic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891B6B80-6936-40E3-A0E2-4F5EDE73DA77}"/>
              </a:ext>
            </a:extLst>
          </p:cNvPr>
          <p:cNvCxnSpPr/>
          <p:nvPr/>
        </p:nvCxnSpPr>
        <p:spPr>
          <a:xfrm>
            <a:off x="3590693" y="4616605"/>
            <a:ext cx="79173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28671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59" y="102875"/>
            <a:ext cx="11321905" cy="773425"/>
          </a:xfrm>
        </p:spPr>
        <p:txBody>
          <a:bodyPr/>
          <a:lstStyle/>
          <a:p>
            <a:pPr fontAlgn="base" latinLnBrk="1"/>
            <a:r>
              <a:rPr lang="en-US" altLang="ko-KR" sz="3000" dirty="0"/>
              <a:t>&lt;</a:t>
            </a:r>
            <a:r>
              <a:rPr lang="ko-KR" altLang="en-US" sz="3000" dirty="0"/>
              <a:t>예제 </a:t>
            </a:r>
            <a:r>
              <a:rPr lang="en-US" altLang="ko-KR" sz="3000" dirty="0"/>
              <a:t>4-27&gt; </a:t>
            </a:r>
            <a:r>
              <a:rPr lang="ko-KR" altLang="en-US" sz="3000" dirty="0" err="1"/>
              <a:t>결측값이</a:t>
            </a:r>
            <a:r>
              <a:rPr lang="ko-KR" altLang="en-US" sz="3000" dirty="0"/>
              <a:t> 포함된 사례</a:t>
            </a:r>
            <a:r>
              <a:rPr lang="en-US" altLang="ko-KR" sz="3000" dirty="0"/>
              <a:t>(</a:t>
            </a:r>
            <a:r>
              <a:rPr lang="ko-KR" altLang="en-US" sz="3000" dirty="0"/>
              <a:t>데이터 열</a:t>
            </a:r>
            <a:r>
              <a:rPr lang="en-US" altLang="ko-KR" sz="3000" dirty="0"/>
              <a:t>)</a:t>
            </a:r>
            <a:r>
              <a:rPr lang="ko-KR" altLang="en-US" sz="3000" dirty="0"/>
              <a:t>의 삭제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54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A900EA66-C198-48C4-94BD-B873B07019A7}"/>
              </a:ext>
            </a:extLst>
          </p:cNvPr>
          <p:cNvSpPr txBox="1">
            <a:spLocks/>
          </p:cNvSpPr>
          <p:nvPr/>
        </p:nvSpPr>
        <p:spPr>
          <a:xfrm>
            <a:off x="968354" y="1356478"/>
            <a:ext cx="10046835" cy="100056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예제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4-27.py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의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[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실행결과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]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에서는 </a:t>
            </a: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결측값을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포함한 열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변수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)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이 삭제된 것을 확인</a:t>
            </a: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19192D8-E841-4552-8FA5-0772285990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1353" y="2281898"/>
            <a:ext cx="8260279" cy="3773214"/>
          </a:xfrm>
          <a:prstGeom prst="rect">
            <a:avLst/>
          </a:prstGeom>
        </p:spPr>
      </p:pic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4AADDC52-50FD-4B1E-8127-DC3530C1C44A}"/>
              </a:ext>
            </a:extLst>
          </p:cNvPr>
          <p:cNvCxnSpPr/>
          <p:nvPr/>
        </p:nvCxnSpPr>
        <p:spPr>
          <a:xfrm>
            <a:off x="4393582" y="4223518"/>
            <a:ext cx="79173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62001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773425"/>
          </a:xfrm>
        </p:spPr>
        <p:txBody>
          <a:bodyPr/>
          <a:lstStyle/>
          <a:p>
            <a:pPr fontAlgn="base" latinLnBrk="1"/>
            <a:r>
              <a:rPr lang="en-US" altLang="ko-KR" dirty="0"/>
              <a:t>[</a:t>
            </a:r>
            <a:r>
              <a:rPr lang="ko-KR" altLang="en-US" dirty="0"/>
              <a:t>단원정리</a:t>
            </a:r>
            <a:r>
              <a:rPr lang="en-US" altLang="ko-KR" dirty="0"/>
              <a:t>] </a:t>
            </a:r>
            <a:r>
              <a:rPr lang="ko-KR" altLang="en-US" dirty="0"/>
              <a:t>리스트</a:t>
            </a:r>
            <a:r>
              <a:rPr lang="en-US" altLang="ko-KR" dirty="0"/>
              <a:t>(list)</a:t>
            </a:r>
            <a:r>
              <a:rPr lang="ko-KR" altLang="en-US" dirty="0"/>
              <a:t>와 배열</a:t>
            </a:r>
            <a:r>
              <a:rPr lang="en-US" altLang="ko-KR" dirty="0"/>
              <a:t>(array)</a:t>
            </a:r>
            <a:endParaRPr lang="ko-KR" altLang="en-US" dirty="0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55</a:t>
            </a:fld>
            <a:endParaRPr lang="en-US" dirty="0">
              <a:latin typeface="+mn-lt"/>
            </a:endParaRPr>
          </a:p>
        </p:txBody>
      </p:sp>
      <p:sp>
        <p:nvSpPr>
          <p:cNvPr id="6" name="Title 8">
            <a:extLst>
              <a:ext uri="{FF2B5EF4-FFF2-40B4-BE49-F238E27FC236}">
                <a16:creationId xmlns:a16="http://schemas.microsoft.com/office/drawing/2014/main" id="{F6B501FC-920F-173C-9EC3-D0245A429FCA}"/>
              </a:ext>
            </a:extLst>
          </p:cNvPr>
          <p:cNvSpPr txBox="1">
            <a:spLocks/>
          </p:cNvSpPr>
          <p:nvPr/>
        </p:nvSpPr>
        <p:spPr>
          <a:xfrm>
            <a:off x="594360" y="1153885"/>
            <a:ext cx="11359411" cy="37087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5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행렬과 벡터연산을 목적으로 한다면 배열을 사용하는 것이 좋고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다양한 자료형이 포함된 </a:t>
            </a: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fontAlgn="base" latinLnBrk="1">
              <a:lnSpc>
                <a:spcPct val="15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연속적인 데이터를 목적으로 저장하려면 리스트를 사용한다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 </a:t>
            </a:r>
          </a:p>
          <a:p>
            <a:pPr fontAlgn="base" latinLnBrk="1">
              <a:lnSpc>
                <a:spcPct val="15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리스트는 데이터를 추가해 나갈 수 있지만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배열은 선언과 동시에 고정된 크기를 갖는 차이가 있고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파이썬에서는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리스트 역시 배열과 마찬가지로 인덱스를 사용한 접근이 가능하다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</a:p>
          <a:p>
            <a:pPr fontAlgn="base" latinLnBrk="1">
              <a:lnSpc>
                <a:spcPct val="15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배열을 사용하려면 라이브러리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NumPy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가 필요하지만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리스트는 별도의 라이브러리가 필요 없이 기본적으로 사용할 수 있는 데이터 구조이다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4640310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773425"/>
          </a:xfrm>
        </p:spPr>
        <p:txBody>
          <a:bodyPr/>
          <a:lstStyle/>
          <a:p>
            <a:pPr fontAlgn="base" latinLnBrk="1"/>
            <a:r>
              <a:rPr lang="en-US" altLang="ko-KR" dirty="0"/>
              <a:t>[</a:t>
            </a:r>
            <a:r>
              <a:rPr lang="ko-KR" altLang="en-US" dirty="0"/>
              <a:t>단원정리</a:t>
            </a:r>
            <a:r>
              <a:rPr lang="en-US" altLang="ko-KR" dirty="0"/>
              <a:t>] </a:t>
            </a:r>
            <a:r>
              <a:rPr lang="ko-KR" altLang="en-US" dirty="0"/>
              <a:t>데이터 구조의 변환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56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52BAA388-41A0-479C-9162-EE2CE71051A6}"/>
              </a:ext>
            </a:extLst>
          </p:cNvPr>
          <p:cNvSpPr txBox="1">
            <a:spLocks/>
          </p:cNvSpPr>
          <p:nvPr/>
        </p:nvSpPr>
        <p:spPr>
          <a:xfrm>
            <a:off x="484177" y="1490598"/>
            <a:ext cx="11432088" cy="85364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기술통계와 같이 비교적 간단한 통계량을 계산한다면 </a:t>
            </a:r>
            <a:r>
              <a:rPr lang="en-US" altLang="ko-KR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numpy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의 리스트나 배열을 이용할 수 있지만 다양한 통계처리를 위해서는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pandas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의 </a:t>
            </a:r>
            <a:r>
              <a:rPr lang="en-US" altLang="ko-KR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DataFrame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을 사용하는 것이 편리하다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08D503E-9DD2-45F0-AC96-132419105D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553" y="2559773"/>
            <a:ext cx="8915400" cy="3038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510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773425"/>
          </a:xfrm>
        </p:spPr>
        <p:txBody>
          <a:bodyPr/>
          <a:lstStyle/>
          <a:p>
            <a:pPr fontAlgn="base" latinLnBrk="1"/>
            <a:r>
              <a:rPr lang="en-US" altLang="ko-KR" dirty="0"/>
              <a:t>[</a:t>
            </a:r>
            <a:r>
              <a:rPr lang="ko-KR" altLang="en-US" dirty="0"/>
              <a:t>단원정리</a:t>
            </a:r>
            <a:r>
              <a:rPr lang="en-US" altLang="ko-KR" dirty="0"/>
              <a:t>] </a:t>
            </a:r>
            <a:r>
              <a:rPr lang="ko-KR" altLang="en-US" dirty="0"/>
              <a:t>데이터 구조의 변환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57</a:t>
            </a:fld>
            <a:endParaRPr lang="en-US" dirty="0">
              <a:latin typeface="+mn-lt"/>
            </a:endParaRP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52BAA388-41A0-479C-9162-EE2CE71051A6}"/>
              </a:ext>
            </a:extLst>
          </p:cNvPr>
          <p:cNvSpPr txBox="1">
            <a:spLocks/>
          </p:cNvSpPr>
          <p:nvPr/>
        </p:nvSpPr>
        <p:spPr>
          <a:xfrm>
            <a:off x="484177" y="1490598"/>
            <a:ext cx="11432088" cy="85364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기술통계와 같이 비교적 간단한 통계량을 계산한다면 </a:t>
            </a:r>
            <a:r>
              <a:rPr lang="en-US" altLang="ko-KR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numpy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의 리스트나 배열을 이용할 수 있지만 다양한 통계처리를 위해서는 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pandas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의 </a:t>
            </a:r>
            <a:r>
              <a:rPr lang="en-US" altLang="ko-KR" sz="22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DataFrame</a:t>
            </a:r>
            <a:r>
              <a:rPr lang="ko-KR" altLang="en-US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을 사용하는 것이 편리하다</a:t>
            </a:r>
            <a:r>
              <a:rPr lang="en-US" altLang="ko-KR" sz="22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179E843-B6E2-42A0-939F-C2BF8DAE9F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9073" y="2426970"/>
            <a:ext cx="8982075" cy="4029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94429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773425"/>
          </a:xfrm>
        </p:spPr>
        <p:txBody>
          <a:bodyPr/>
          <a:lstStyle/>
          <a:p>
            <a:pPr fontAlgn="base" latinLnBrk="1"/>
            <a:r>
              <a:rPr lang="en-US" altLang="ko-KR" dirty="0"/>
              <a:t>[</a:t>
            </a:r>
            <a:r>
              <a:rPr lang="ko-KR" altLang="en-US" dirty="0"/>
              <a:t>단원정리</a:t>
            </a:r>
            <a:r>
              <a:rPr lang="en-US" altLang="ko-KR" dirty="0"/>
              <a:t>] </a:t>
            </a:r>
            <a:r>
              <a:rPr lang="ko-KR" altLang="en-US" dirty="0"/>
              <a:t>데이터 파일 다루기 </a:t>
            </a: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58</a:t>
            </a:fld>
            <a:endParaRPr lang="en-US" dirty="0">
              <a:latin typeface="+mn-lt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6350EC1-F8BB-400D-99EE-B835FD2906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6827" y="1585447"/>
            <a:ext cx="7821007" cy="4280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70792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773425"/>
          </a:xfrm>
        </p:spPr>
        <p:txBody>
          <a:bodyPr/>
          <a:lstStyle/>
          <a:p>
            <a:pPr fontAlgn="base" latinLnBrk="1"/>
            <a:r>
              <a:rPr lang="en-US" altLang="ko-KR" sz="3500" dirty="0"/>
              <a:t>[</a:t>
            </a:r>
            <a:r>
              <a:rPr lang="ko-KR" altLang="en-US" sz="3500" dirty="0"/>
              <a:t>단원정리</a:t>
            </a:r>
            <a:r>
              <a:rPr lang="en-US" altLang="ko-KR" sz="3500" dirty="0"/>
              <a:t>] </a:t>
            </a:r>
            <a:r>
              <a:rPr lang="ko-KR" altLang="en-US" sz="3500" dirty="0"/>
              <a:t>데이터를 엑셀 파일로 저장하는 방법</a:t>
            </a:r>
            <a:r>
              <a:rPr lang="ko-KR" altLang="en-US" dirty="0"/>
              <a:t> </a:t>
            </a: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59</a:t>
            </a:fld>
            <a:endParaRPr lang="en-US" dirty="0">
              <a:latin typeface="+mn-lt"/>
            </a:endParaRPr>
          </a:p>
        </p:txBody>
      </p:sp>
      <p:sp>
        <p:nvSpPr>
          <p:cNvPr id="6" name="Title 8">
            <a:extLst>
              <a:ext uri="{FF2B5EF4-FFF2-40B4-BE49-F238E27FC236}">
                <a16:creationId xmlns:a16="http://schemas.microsoft.com/office/drawing/2014/main" id="{F6B501FC-920F-173C-9EC3-D0245A429FCA}"/>
              </a:ext>
            </a:extLst>
          </p:cNvPr>
          <p:cNvSpPr txBox="1">
            <a:spLocks/>
          </p:cNvSpPr>
          <p:nvPr/>
        </p:nvSpPr>
        <p:spPr>
          <a:xfrm>
            <a:off x="594360" y="1555329"/>
            <a:ext cx="11359411" cy="96484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프로그램 안에서 데이터를 엑셀 파일로 저장하려면 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pandas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의 </a:t>
            </a:r>
            <a:r>
              <a:rPr lang="en-US" altLang="ko-KR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DataFrame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으로 변환한 다음 함수 </a:t>
            </a:r>
            <a:r>
              <a:rPr lang="en-US" altLang="ko-KR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to_excel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()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을 이용한다</a:t>
            </a:r>
            <a:r>
              <a:rPr lang="en-US" altLang="ko-KR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. </a:t>
            </a:r>
            <a:endParaRPr lang="ko-KR" altLang="en-US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1A7D1D0-3F58-451F-B8CE-FB1F2A434B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638" y="2680092"/>
            <a:ext cx="9273136" cy="1378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6254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773425"/>
          </a:xfrm>
        </p:spPr>
        <p:txBody>
          <a:bodyPr/>
          <a:lstStyle/>
          <a:p>
            <a:pPr fontAlgn="base" latinLnBrk="1"/>
            <a:r>
              <a:rPr lang="en-US" altLang="ko-KR" dirty="0"/>
              <a:t>[</a:t>
            </a:r>
            <a:r>
              <a:rPr lang="ko-KR" altLang="en-US" dirty="0"/>
              <a:t>단원정리</a:t>
            </a:r>
            <a:r>
              <a:rPr lang="en-US" altLang="ko-KR" dirty="0"/>
              <a:t>] </a:t>
            </a:r>
            <a:r>
              <a:rPr lang="ko-KR" altLang="en-US" dirty="0" err="1"/>
              <a:t>결측값</a:t>
            </a:r>
            <a:r>
              <a:rPr lang="ko-KR" altLang="en-US" dirty="0"/>
              <a:t> 다루기</a:t>
            </a:r>
            <a:endParaRPr lang="ko-KR" altLang="en-US" sz="3000" dirty="0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60DD98-005F-44E7-AEC1-3B987AA25CFD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CF3B3A64-8F3A-45ED-987D-DEC8E6596A5C}" type="datetime1">
              <a:rPr lang="ko-KR" altLang="en-US" smtClean="0">
                <a:latin typeface="+mn-lt"/>
              </a:rPr>
              <a:t>2026-03-31</a:t>
            </a:fld>
            <a:endParaRPr lang="en-US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3C181-9747-47DD-A412-DA924169B4B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60</a:t>
            </a:fld>
            <a:endParaRPr lang="en-US" dirty="0">
              <a:latin typeface="+mn-lt"/>
            </a:endParaRPr>
          </a:p>
        </p:txBody>
      </p:sp>
      <p:sp>
        <p:nvSpPr>
          <p:cNvPr id="6" name="Title 8">
            <a:extLst>
              <a:ext uri="{FF2B5EF4-FFF2-40B4-BE49-F238E27FC236}">
                <a16:creationId xmlns:a16="http://schemas.microsoft.com/office/drawing/2014/main" id="{F6B501FC-920F-173C-9EC3-D0245A429FCA}"/>
              </a:ext>
            </a:extLst>
          </p:cNvPr>
          <p:cNvSpPr txBox="1">
            <a:spLocks/>
          </p:cNvSpPr>
          <p:nvPr/>
        </p:nvSpPr>
        <p:spPr>
          <a:xfrm>
            <a:off x="594360" y="1555329"/>
            <a:ext cx="11359411" cy="4184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fontAlgn="base" latinLnBrk="1">
              <a:lnSpc>
                <a:spcPct val="100000"/>
              </a:lnSpc>
            </a:pPr>
            <a:r>
              <a:rPr lang="ko-KR" altLang="en-US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결측값을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 처리하거나 다루는 메소드들은 </a:t>
            </a:r>
            <a:r>
              <a:rPr lang="en-US" altLang="ko-KR" sz="2100" b="0" dirty="0" err="1">
                <a:latin typeface="한컴 고딕" panose="02000500000000000000" pitchFamily="2" charset="-127"/>
                <a:ea typeface="한컴 고딕" panose="02000500000000000000" pitchFamily="2" charset="-127"/>
              </a:rPr>
              <a:t>Pandas.DataFrame</a:t>
            </a:r>
            <a:r>
              <a:rPr lang="ko-KR" altLang="en-US" sz="2100" b="0" dirty="0">
                <a:latin typeface="한컴 고딕" panose="02000500000000000000" pitchFamily="2" charset="-127"/>
                <a:ea typeface="한컴 고딕" panose="02000500000000000000" pitchFamily="2" charset="-127"/>
              </a:rPr>
              <a:t>을 이용</a:t>
            </a:r>
            <a:endParaRPr lang="en-US" altLang="ko-KR" sz="2100" b="0" dirty="0">
              <a:latin typeface="한컴 고딕" panose="02000500000000000000" pitchFamily="2" charset="-127"/>
              <a:ea typeface="한컴 고딕" panose="020005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6C8EF99-F405-4CBE-AA8D-7151E8E57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4537" y="2092446"/>
            <a:ext cx="7646855" cy="3449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864373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175">
      <a:majorFont>
        <a:latin typeface="Franklin Gothic Demi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0" tIns="0" rIns="0" bIns="0" rtlCol="0" anchor="ctr" anchorCtr="0">
        <a:noAutofit/>
      </a:bodyPr>
      <a:lstStyle>
        <a:defPPr algn="l" fontAlgn="base" latinLnBrk="1">
          <a:lnSpc>
            <a:spcPct val="100000"/>
          </a:lnSpc>
          <a:defRPr sz="2800" b="0" dirty="0" smtClean="0">
            <a:latin typeface="한컴 고딕" panose="02000500000000000000" pitchFamily="2" charset="-127"/>
            <a:ea typeface="한컴 고딕" panose="020005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M78853419_Win32_SL_V5" id="{958D2C9E-948D-4354-BF9D-DF8AE3C2B240}" vid="{22D4A967-05D2-4D72-8594-54CFF341483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A0FE134-9032-4C7F-BC57-C7DE3F833363}">
  <ds:schemaRefs>
    <ds:schemaRef ds:uri="http://purl.org/dc/terms/"/>
    <ds:schemaRef ds:uri="http://schemas.microsoft.com/office/2006/metadata/properties"/>
    <ds:schemaRef ds:uri="71af3243-3dd4-4a8d-8c0d-dd76da1f02a5"/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16c05727-aa75-4e4a-9b5f-8a80a1165891"/>
    <ds:schemaRef ds:uri="http://schemas.microsoft.com/sharepoint/v3"/>
    <ds:schemaRef ds:uri="230e9df3-be65-4c73-a93b-d1236ebd677e"/>
    <ds:schemaRef ds:uri="http://www.w3.org/XML/1998/namespac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36D24F1A-6251-4B9A-A918-7D6F3A8F7E2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8A8ECD1-788F-484B-9043-D957FCFDF1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270</TotalTime>
  <Words>2757</Words>
  <Application>Microsoft Office PowerPoint</Application>
  <PresentationFormat>와이드스크린</PresentationFormat>
  <Paragraphs>445</Paragraphs>
  <Slides>60</Slides>
  <Notes>57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60</vt:i4>
      </vt:variant>
    </vt:vector>
  </HeadingPairs>
  <TitlesOfParts>
    <vt:vector size="70" baseType="lpstr">
      <vt:lpstr>(한글 글꼴 사용)</vt:lpstr>
      <vt:lpstr>Noto Sans Light</vt:lpstr>
      <vt:lpstr>나눔스퀘어 네오 OTF Light</vt:lpstr>
      <vt:lpstr>한컴 고딕</vt:lpstr>
      <vt:lpstr>Arial</vt:lpstr>
      <vt:lpstr>Calibri</vt:lpstr>
      <vt:lpstr>Courier New</vt:lpstr>
      <vt:lpstr>Franklin Gothic Book</vt:lpstr>
      <vt:lpstr>Franklin Gothic Demi</vt:lpstr>
      <vt:lpstr>Custom</vt:lpstr>
      <vt:lpstr>빅데이터 분석 개론</vt:lpstr>
      <vt:lpstr>PowerPoint 프레젠테이션</vt:lpstr>
      <vt:lpstr>PowerPoint 프레젠테이션</vt:lpstr>
      <vt:lpstr>[참고 1] 스칼라 개념</vt:lpstr>
      <vt:lpstr>[참고 2] 벡터 개념</vt:lpstr>
      <vt:lpstr>[참고 3] 함수(function)와 메소드(method) </vt:lpstr>
      <vt:lpstr>4.1 데이터 구조인 리스트와 배열의 사용 방법</vt:lpstr>
      <vt:lpstr>4.1.1 리스트(list)</vt:lpstr>
      <vt:lpstr>4.1.1 리스트(list)</vt:lpstr>
      <vt:lpstr>&lt;예제 4-2&gt; 리스트의 메소드 사용법 </vt:lpstr>
      <vt:lpstr>[참고 4] 파이썬 프로그램의 오류들</vt:lpstr>
      <vt:lpstr>4.1.2 배열 </vt:lpstr>
      <vt:lpstr>4.1.2 배열 </vt:lpstr>
      <vt:lpstr>&lt;예제 4-5&gt; 1차원 배열의 연산 </vt:lpstr>
      <vt:lpstr>&lt;예제 4-6&gt; 2차원 배열의 합과 곱</vt:lpstr>
      <vt:lpstr>&lt;예제 4-7&gt; 배열에서 메소드를 사용한 기술통계 사용예</vt:lpstr>
      <vt:lpstr>&lt;예제 4-8&gt; 배열 초기화 </vt:lpstr>
      <vt:lpstr>&lt;예제 4-9&gt; 특정 조건의 배열 요소로 초기화</vt:lpstr>
      <vt:lpstr>4.2 데이터 구조의 변환</vt:lpstr>
      <vt:lpstr>&lt;예제 4-10&gt; 데이터프레임의 생성과 함수 melt()를 이용한                   데이터 재구조화</vt:lpstr>
      <vt:lpstr>&lt;예제 4-11&gt; 함수 concat()를 이용한 데이터 재구조화 </vt:lpstr>
      <vt:lpstr>&lt;예제 4-11&gt; 함수 concat()를 이용한 데이터 재구조화 </vt:lpstr>
      <vt:lpstr>&lt;예제 4-12&gt; 함수 merge()를 이용한 결합 </vt:lpstr>
      <vt:lpstr>&lt;예제 4-13&gt; 함수 pivot()을 이용한 행렬 전환 </vt:lpstr>
      <vt:lpstr>&lt;예제 4-14&gt; 함수 groupby()를 이용한 그룹화 </vt:lpstr>
      <vt:lpstr>&lt;예제 추가&gt; 함수 pivot_table()</vt:lpstr>
      <vt:lpstr>&lt;예제 4-15&gt;  메소드 sort_value를  이용한 데이터 정렬</vt:lpstr>
      <vt:lpstr>4.3 데이터 파일 다루기 </vt:lpstr>
      <vt:lpstr>4.3 데이터 파일 다루기 </vt:lpstr>
      <vt:lpstr>4.3.1 데이터 파일 불러오기 </vt:lpstr>
      <vt:lpstr>4.3.1 데이터 파일 불러오기 </vt:lpstr>
      <vt:lpstr>4.3.1 데이터 파일 불러오기 </vt:lpstr>
      <vt:lpstr>&lt;예제 4-16&gt; CSV 파일 불러오기 </vt:lpstr>
      <vt:lpstr>[참고 3] 이스케이프 시퀀스(escape sequence) 사용시 오류 해결</vt:lpstr>
      <vt:lpstr>[참고 3] 이스케이프 시퀀스(escape sequence) 사용시 오류 해결</vt:lpstr>
      <vt:lpstr>4.3.2 데이터 파일 생성하기 </vt:lpstr>
      <vt:lpstr>&lt;예제 4-17&gt; 데이터 파일의 생성</vt:lpstr>
      <vt:lpstr>그래프에 대한 이미지 파일 생성</vt:lpstr>
      <vt:lpstr>4.4 결측값 다루기</vt:lpstr>
      <vt:lpstr>4.4 결측값 다루기</vt:lpstr>
      <vt:lpstr>4.4 결측값 다루기</vt:lpstr>
      <vt:lpstr>&lt;예제 4-18&gt; 결측값이 포함된 데이터 </vt:lpstr>
      <vt:lpstr>4.4.1 결측값 확인하기 </vt:lpstr>
      <vt:lpstr>&lt;예제 4-19&gt; 사례수가 많은 경우에 결측값의 확인 </vt:lpstr>
      <vt:lpstr>&lt;예제 4-20&gt; 함수 isnull()을 이용한 결측값의 확인 </vt:lpstr>
      <vt:lpstr>&lt;예제 4-21&gt; 결측값의 개수 확인</vt:lpstr>
      <vt:lpstr>&lt;예제 4-22&gt; 함수 notnull()를 이용한 결측값의 확인 </vt:lpstr>
      <vt:lpstr>4.4.2 값을 대체하기 </vt:lpstr>
      <vt:lpstr>&lt;예제 4-23&gt; 결측값이 포함된 평균 계산 </vt:lpstr>
      <vt:lpstr>&lt;예제 4-24&gt; 함수 fillna()를 이용한 결측값의 대체</vt:lpstr>
      <vt:lpstr>&lt;예제 4-25&gt; 잘못 입력한 값의 대체(함수 replace()) </vt:lpstr>
      <vt:lpstr>4.4.3 결측 사례 삭제하기 </vt:lpstr>
      <vt:lpstr>&lt;예제 4-26&gt; 결측값이 포함된 사례(데이터 행)의 삭제</vt:lpstr>
      <vt:lpstr>&lt;예제 4-27&gt; 결측값이 포함된 사례(데이터 열)의 삭제 </vt:lpstr>
      <vt:lpstr>[단원정리] 리스트(list)와 배열(array)</vt:lpstr>
      <vt:lpstr>[단원정리] 데이터 구조의 변환</vt:lpstr>
      <vt:lpstr>[단원정리] 데이터 구조의 변환</vt:lpstr>
      <vt:lpstr>[단원정리] 데이터 파일 다루기 </vt:lpstr>
      <vt:lpstr>[단원정리] 데이터를 엑셀 파일로 저장하는 방법 </vt:lpstr>
      <vt:lpstr>[단원정리] 결측값 다루기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경화 강</cp:lastModifiedBy>
  <cp:revision>22</cp:revision>
  <dcterms:created xsi:type="dcterms:W3CDTF">2023-12-20T08:12:12Z</dcterms:created>
  <dcterms:modified xsi:type="dcterms:W3CDTF">2026-03-31T01:42:04Z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