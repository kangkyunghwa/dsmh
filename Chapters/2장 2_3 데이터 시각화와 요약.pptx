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ink/ink1.xml" ContentType="application/inkml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8" r:id="rId4"/>
  </p:sldMasterIdLst>
  <p:notesMasterIdLst>
    <p:notesMasterId r:id="rId63"/>
  </p:notesMasterIdLst>
  <p:handoutMasterIdLst>
    <p:handoutMasterId r:id="rId64"/>
  </p:handoutMasterIdLst>
  <p:sldIdLst>
    <p:sldId id="410" r:id="rId5"/>
    <p:sldId id="413" r:id="rId6"/>
    <p:sldId id="537" r:id="rId7"/>
    <p:sldId id="538" r:id="rId8"/>
    <p:sldId id="539" r:id="rId9"/>
    <p:sldId id="540" r:id="rId10"/>
    <p:sldId id="541" r:id="rId11"/>
    <p:sldId id="542" r:id="rId12"/>
    <p:sldId id="543" r:id="rId13"/>
    <p:sldId id="544" r:id="rId14"/>
    <p:sldId id="545" r:id="rId15"/>
    <p:sldId id="546" r:id="rId16"/>
    <p:sldId id="547" r:id="rId17"/>
    <p:sldId id="548" r:id="rId18"/>
    <p:sldId id="549" r:id="rId19"/>
    <p:sldId id="550" r:id="rId20"/>
    <p:sldId id="551" r:id="rId21"/>
    <p:sldId id="552" r:id="rId22"/>
    <p:sldId id="553" r:id="rId23"/>
    <p:sldId id="554" r:id="rId24"/>
    <p:sldId id="555" r:id="rId25"/>
    <p:sldId id="556" r:id="rId26"/>
    <p:sldId id="557" r:id="rId27"/>
    <p:sldId id="558" r:id="rId28"/>
    <p:sldId id="559" r:id="rId29"/>
    <p:sldId id="560" r:id="rId30"/>
    <p:sldId id="561" r:id="rId31"/>
    <p:sldId id="562" r:id="rId32"/>
    <p:sldId id="563" r:id="rId33"/>
    <p:sldId id="564" r:id="rId34"/>
    <p:sldId id="565" r:id="rId35"/>
    <p:sldId id="566" r:id="rId36"/>
    <p:sldId id="567" r:id="rId37"/>
    <p:sldId id="568" r:id="rId38"/>
    <p:sldId id="569" r:id="rId39"/>
    <p:sldId id="595" r:id="rId40"/>
    <p:sldId id="571" r:id="rId41"/>
    <p:sldId id="572" r:id="rId42"/>
    <p:sldId id="574" r:id="rId43"/>
    <p:sldId id="575" r:id="rId44"/>
    <p:sldId id="577" r:id="rId45"/>
    <p:sldId id="578" r:id="rId46"/>
    <p:sldId id="579" r:id="rId47"/>
    <p:sldId id="580" r:id="rId48"/>
    <p:sldId id="581" r:id="rId49"/>
    <p:sldId id="582" r:id="rId50"/>
    <p:sldId id="583" r:id="rId51"/>
    <p:sldId id="584" r:id="rId52"/>
    <p:sldId id="585" r:id="rId53"/>
    <p:sldId id="586" r:id="rId54"/>
    <p:sldId id="587" r:id="rId55"/>
    <p:sldId id="588" r:id="rId56"/>
    <p:sldId id="589" r:id="rId57"/>
    <p:sldId id="591" r:id="rId58"/>
    <p:sldId id="590" r:id="rId59"/>
    <p:sldId id="592" r:id="rId60"/>
    <p:sldId id="593" r:id="rId61"/>
    <p:sldId id="594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8" autoAdjust="0"/>
    <p:restoredTop sz="96327" autoAdjust="0"/>
  </p:normalViewPr>
  <p:slideViewPr>
    <p:cSldViewPr snapToGrid="0">
      <p:cViewPr varScale="1">
        <p:scale>
          <a:sx n="75" d="100"/>
          <a:sy n="75" d="100"/>
        </p:scale>
        <p:origin x="235" y="2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handoutMaster" Target="handoutMasters/handoutMaster1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UNIVERSITY    DEPARTMENT</a:t>
            </a:r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" units="cm"/>
          <inkml:channel name="Y" type="integer" max="1800" units="cm"/>
          <inkml:channel name="T" type="integer" max="2.14748E9" units="dev"/>
        </inkml:traceFormat>
        <inkml:channelProperties>
          <inkml:channelProperty channel="X" name="resolution" value="83.72093" units="1/cm"/>
          <inkml:channelProperty channel="Y" name="resolution" value="83.72093" units="1/cm"/>
          <inkml:channelProperty channel="T" name="resolution" value="1" units="1/dev"/>
        </inkml:channelProperties>
      </inkml:inkSource>
      <inkml:timestamp xml:id="ts0" timeString="2026-03-10T05:58:55.0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611 17007 0,'0'-19'63,"57"0"-48,-19-20 1,76-37-16,-56 0 15,-1 18-15,19-37 16,-19 38-16,39-39 16,-1 20-16,-37 19 15,18 38-15,19-96 16,-38 58-16,-37 0 16,94-77-16,-57 77 15,1-20-15,18 20 16,-57 0-16,38 0 15,19-1-15,-56 20 16,37-19-16,38-39 16,-76 77-16,38-57 15,-37 38 1,37-39-16,-19 58 16,-38-19-1,19 19-15,0 0 16,0-19-1,19 19-15,20-39 16,-39 39-16,0-57 16,19 38-16,0 19 15,0 0-15,19-39 16,-37 20-16,37 0 16,0-38-16,-19 18 15,58-37-15,-77 76 16,0 0-16,38-38 15,-38 18-15,38 1 16,-19 0-16,-18 19 16,-1 0-16,-19-19 15,38-1-15,-19 1 16,0 19-16,0 0 16,-19 0-1,57-38 1,-19-1-1,-18 20 1,18-19-16,-19 0 16,38 0-1,-19-1 1,-19 39 0,0-38-16,-19 57 15,38-19-15,-18-38 16,-1 37-16,38-37 15,-19 19-15,-38 0 16,57-19-16,-38-20 16,-19 58-16,39 0 15,18-76-15,-57 76 16,19-1-16,38-75 16,-57 76-16,57-57 15,-38 37-15,-19 20 16,58-57-16,-39 38 15,-19 0-15,76-20 16,-57-37-16,-19 57 16,57-20-16,-38 39 15,39-57-15,-20-19 16,-38 37-16,19 1 16,19 0-16,-19 19 15,19-1-15,-19-56 16,20 38-16,-20-1 15,19-18 1,19-19-16,19-1 16,-57 77-1,1-38-15,-20 0 16,38 38-16,-38-58 16,57-18-16,-19-39 15,-38 77 1,19 0-16,-19-1 15,38 1-15,-19 0 16,-19 0-16,0-39 16,39 39-16,-1-39 15,-38 1-15,19-1 16,-19 20-16,38-19 16,-19-1-16,19-37 15,0 37-15,-38 39 16,0 0-16,39-39 15,-20 39 1,-19 0-16,0-1 0,38 1 16,-38 0-16,19 0 15,19-1-15,-38 1 32,0 38-32,19-57 15,-19 18 1,0 39-16,0-38 15,19 38-15,19-19 16,-38 76 250,19 19-266,20 0 15,-20 39-15,19-1 16,-38-37-16,57-1 16,-57 38-16,38 1 15,19 37-15,-57-114 16,0 77-16,39-39 15,-1 0-15,-19 1 16,-19 37-16,38-38 16,-38-37-16,57 37 15,-38 38-15,19 1 16,-18-39-16,18 38 16,19-37-16,-19 75 15,57-37-15,-75-77 16,18 19-16,-19 38 15,19-18-15,19-1 16,-38 0-16,19-19 16,-38-19-16,58 39 15,-39-39-15,-19 0 16,57 38-16,-38-19 16,38 0-1,-38 1 1,20 18-16,-20 0 15,0-38-15,19 38 16,-19-37-16,0-1 16,38 38-16,-19-38 15,1 38-15,-1 1 16,19 18-16,0-19 16,-19-38-16,-19 0 15,39 77-15,-1-39 16,0 0-16,-19 1 15,20-1-15,-20 38 16,19-18-16,38 18 16,1 1-16,-58-77 15,38 114-15,-18-114 16,56 77-16,-19-20 16,1-19-16,-39 1 15,0 18-15,1-19 16,37 1-16,-19-1 15,20 19-15,-77-57 16,133 77-16,1 18 16,-134-95-16,76 39 15,-37-1 1,37-19-16,1 19 0,-39 20 16,38-58-1,39 57-15,-58-57 16,0 19-16,39 20 15,-39-20-15,115 38 16,0 39-16,0-77 16,18 76-16,-113-114 15,76 115-15,-77-77 16,96 38-16,0 1 16,-1-39-16,1 38 15,57 1-15,-57-39 16,0 38-16,-20-38 15,-75 0-15,-1-38 16,39 20-16,-1 18 16,58 0-16,-57-38 15,-1 76-15,58-38 16,38 39-16,19-77 16,-153 0-16,77 38 15,19 0-15,38 0 16,19 39-16,0-39 15,-19 0-15,-38-38 16,-19 38 0,18 0-16,-18-38 15,76 39-15,-57-1 16,38 19-16,19-57 16,-19 38-16,19 0 15,-57 1-15,38-39 16,0 0-16,-39 38 15,-18-38-15,-38 0 16,37 19-16,-75-19 16,133 38-16,-58-38 15,58 0-15,19 57 16,-114-38-16,95 20 16,19-1-16,-153-38 15,77 0-15,0 0 16,57 57-16,19-19 15,-191-38-15,115 0 16,-77 0-16,1 0 16,75 0-16,-56 19 15,133-19-15,-19 57 16,-38-57 0,38 0-16,-134 0 0,77 20 15,-1-20 1,58 0-16,19 38 15,0 19-15,-19-19 16,-57-38-16,76 38 16,-19-38-16,-38 0 15,-115 0-15,58 19 16,-96-19-16,-19 0 16</inkml:trace>
  <inkml:trace contextRef="#ctx0" brushRef="#br0" timeOffset="11691.04">9712 12292 0,'57'0'172,"-38"-38"-172,95 38 15,-18-19-15,37 19 16,-94 0-16,132 0 16,-75-38-16,-1 38 15,0-39-15,1 39 16,-39-19-16,0 19 16,39 0-16,-39 0 15,-38-19-15,57 19 16,-18 0-16,-39-38 15,76 19-15,0 19 16,-37-57 0,-39 19-1,95 18-15,-18-56 16,-1 57-16,-38-19 16,39 19-16,-39-58 15,0 58-15,0-19 16,20-19-16,-20 0 15,0 18-15,0 20 16,1-19-16,-1 19 16,0-38-16,39-20 15,-20 20-15,-57 0 16,38 19-16,39-58 16,-1 39-16,-19 0 15,20-20-15,37-56 16,-95 76-16,20 18 15,37-56-15,-57 38 16,20-1-16,-39 20 16,38-19-16,-38 38 15,38-38-15,0-1 16,-18 39-16,-20-38 16,0 38-16,19-19 15,-19 19 1,38-58-16,-38 39 15,0 19-15,20-38 16,56-39-16,-95 77 16,76-76-16,-38 76 15,20-39-15,-39 39 16,0-38-16,19 38 16,-19 0-16,0-19 15,19-20-15,-19 39 16,0-38-16,20 38 15,-20 0-15,38-38 16,-57 38 0,57-39-16,-38 20 15,0 0-15,39 0 16,18-20-16,-57 39 16,57-76-16,-38 38 15,58 19-15,-39-20 16,-38 39-16,19-38 15,20 0-15,-39 38 16,38-77-16,0 39 16,-19 38-16,19-39 15,1-37 1,-39 57 0,38-38-16,38-20 15,-95 77-15,39-19 16,-1-19-16,0-1 15,57 1-15,20-134 16,-96 172-16,38-38 16,-38 38-16,38-39 15,-18 1-15,18 0 16,57-96-16,-56 96 16,-39 0-16,38-1 15,57-37-15,-95 95 16,39-38-16,-1 19 15,-38-19-15,0-1 16,19 1-16,-19-19 16,0 38-16,39-38 15,-20 37-15,0 1 16,38-57-16,-57 57 16,0 0-16,1 0 15,37-19-15,0 18 16,-19-18-16,0 19 15,58 19 1,-39-38-16,0 19 16,39-19-1,-1 19-15,-38-19 16,39 38-16,-1-39 16,-38 20-16,1-19 15,-1 38-15,0 0 16,-38 0-16,76 0 15,-75-19-15,37 19 16,19 0-16,0-38 16,39 38-16,-20 0 15,1 0-15,-1 0 16,-38 0-16,20 0 16,-20 0-16,0 0 15,0 0-15,-38 0 16,96 0-16,-58 0 15,39 0-15,-1 19 16,77 19-16,-77-38 16,39 38-16,56 39 15,-170-77-15,75 19 16,0 19-16,1 0 16,-20-38-16,-19 0 15,39 57 1,-58-57-16,38 19 15,-19-19-15,-38 39 16,1-20-16,37 0 16,0-19-16,0 38 15,1-19-15,-39 19 16,38-38 0,-38 19-16,38 0 15,-19 20-15,-19-39 16,0 19-16,39 0 15,-39 19-15,19-19 32,-19 0-32,0 0 15,0 19 1,38-19-16,-37 1 16,18 18-16,19 19 31,0 0-16,-38-38 1,38 77 0,-37-77-16,18 38 15,-38-38 1,57 38-16,-57 1 31,19-39-31,0 38 16,19-38-1,-19 38-15,0-37 16,20 37-16,-20 38 16,-19-38-1,76 1-15,-76-39 16,19 38-16,-19-38 16,57 38-16,-38 39 15,20-1-15,-1-37 16,-19-1-16,57 38 15,-76-37-15,19-39 16,0 38-16,19 0 16,-38 0-1,19 1-15,20-1 16,-1 38 15,-19 1-15,0-58-1,19-19-15,-19 38 16,-19-38 0,19 1-1,19 37-15,-38 0 16,58 39-16,-39-77 16,19 38-16,-19-38 15,0 19-15,-19-19 16,38 39-16,-19-39 15,19 38-15,-18-38 16,37 38-16,-38-38 16,38 39-1,-38-39-15,38 76 16,-37-76-16,18 38 16,19-18-16,0 18 15,-38-38-15,38 38 16,-18-38-1,-20 0-15,0 20 16,0-20 0,38 38-16,-19-38 15,-19 0-15,58 77 16,-39-77-16,-19 19 16,57 0-16,20 38 15,-20-18 16,-19-20-31,-38-19 16,0 0-16,0 0 16,39 19-16,-1-19 15,0 20-15,-19-20 16,-19 0-16,0 19 16,39-19-16,-1 19 15,0-19-15,-19 19 16,-19-19-16,58 39 15,-39-58-15,0 19 16,0 0-16,0 19 16,1-38-16,18 19 15,-38-19-15,0 38 16,38-19-16,-38 1 16,96 37-16,-77-57 15,38 57-15,20-19 16,-39 0-16,0-18 15,0 18-15,39-19 16,-58-19 0,38 38-16,-19-19 15,-37-19-15,37 0 16,38 76-16,-76-76 16,39 19-1,-39-19-15,19 20 16,-19-20-16,0 38 15,38-38-15,-38 0 16,19 19 0,-19-19-16,39 0 15,-39 0 1,38 0-16,-19 0 16,19 0-16,-18 0 15,-1 19-15,57-19 16,-57 0-16,0 0 15,20 0-15,-1 38 16,0-38-16,0 0 16,-38 0-16,77 0 15,-20 0-15,-38 19 16,1-19-16,18 0 16,-19 0-1,0 0-15,57 0 16,-37 0-16,-1 0 15,38 0-15,-18 0 16,18 0-16,0 0 16,-75 0-1,75 38-15,-76-38 32</inkml:trace>
  <inkml:trace contextRef="#ctx0" brushRef="#br0" timeOffset="14820.4">8834 13113 0,'0'38'32,"95"-38"-32,-56 0 15,56 0-15,0 0 16,39 0-16,-39 0 0,-57 0 15,134 0-15,-38 0 16,-39 0-16,39 0 16,-20 0-16,-18 0 15,-39 0-15,38 0 16,-38 19-16,39-19 16,-1 0-16,1 38 15,-20-38-15,57 0 16,-37 0-16,37 0 15,-18 0-15,-20 0 16,39 38-16,57-18 16,-96-20-16,77 0 15,-39 38-15,-56-38 16,94 0-16,20 38 16,-19-38-16,-39 0 15,39 0-15,-76 0 16,-1 0-16,115 0 15,-115 0 1,39 0-16,-20 0 16,20 0-16,-39 0 15,115 0-15,-114 0 16,37 0-16,39 0 16,-77 0-16,115 0 15,-76 0-15,37 0 16,-56 0-16,57 0 15,18 0-15,-75 0 16,57 0-16,-39 0 16,39 0-16,76-19 15,-134 19-15,58 0 16,-38-38-16,-77 38 16,76-19-16,-37 19 15,37 0-15,-18 0 16,18 0-16,39 0 15,-38 0-15,76 0 16,-77 0-16,1 0 16,37 0-16,-56 0 15,18 0-15,1 0 16,38 0-16,-1 0 16,-37 0-16,76 0 15,-77 0-15,77 0 16,-19 0-1,-115 0-15,96 0 16,-76 0-16,-1 0 16,0-39-16,77 39 15,-38 0-15,76 0 16,-39 0-16,77-38 16,-152 38-16,18 0 15,58 0-15,-77 0 16,77 0-16,0 0 15,-77 0-15,77 0 16,0 0-16,76 0 16,-77 0-16,58 0 15,0 0-15,76 0 16,-76 0-16,58 0 16,-58 0-16,0 0 15,-39 0-15,-18 0 16,0 0-16,-77 0 15,77 0-15,0 0 16,-39 0-16,39 0 16,-77-38-16,39 38 15,-58 0-15,96 0 16,-77 0 0,134-38-16,-133 38 15,-20 0-15,96 0 16,-39 0-16,39 0 15,-77 0-15,39-19 16,-39 19-16,-37-38 16,18 38-16,19 0 15,39-39-15,-77 39 16,0 0-16,39 0 16,-20 0-16,-19 0 15,77 0-15,-39 0 16,39 0-16,-20 0 15,-18 0-15,-1 0 16,0 0-16,39 0 16,76 0-16,-77 0 15,77 0-15,-76 0 16,-20 0-16,20 0 16,-39 0-16,1 0 15,-77 0-15,95 0 16,-56 0-16,-39 0 15,38 0-15,-38 0 16,0 0 0,19 0-16,-19 0 31,0 0-31,19 0 16,-38 0-1,20 0 32,-1 0-47,0 0 16,19 0-16,-19 0 15,0 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UNIVERSITY    DEPARTMENT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BCA7E5-BC47-4B82-81BC-931F6059DA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A1A51F-8993-4C5E-A46B-A38B68D203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552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357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886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385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937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713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4701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622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2236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908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6066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427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735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9847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5127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6110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7644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6941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7793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1596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0536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9688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9556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7015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395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522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51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4597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7345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2118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7747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7126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1052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7785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A1A51F-8993-4C5E-A46B-A38B68D203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57499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0139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96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992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0889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1749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339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61598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48065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3134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06584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69186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21697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6080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91062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28080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80543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28665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31874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15252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3741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3284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355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83200" y="411479"/>
            <a:ext cx="6513104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283200" y="4005626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58" y="910627"/>
            <a:ext cx="6787747" cy="75854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BFD97A6B-37B9-4B45-8753-2537594BD9E7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59" y="2065713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1049714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77378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baseline="0">
                <a:latin typeface="(한글 글꼴 사용)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 baseline="0">
                <a:latin typeface="(한글 글꼴 사용)"/>
                <a:ea typeface="한컴 고딕" panose="02000500000000000000" pitchFamily="2" charset="-127"/>
              </a:defRPr>
            </a:lvl1pPr>
            <a:lvl2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2pPr>
            <a:lvl3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3pPr>
            <a:lvl4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4pPr>
            <a:lvl5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992629" y="6332220"/>
            <a:ext cx="1313180" cy="247651"/>
          </a:xfrm>
        </p:spPr>
        <p:txBody>
          <a:bodyPr/>
          <a:lstStyle/>
          <a:p>
            <a:fld id="{90DDAFA7-FFF2-4A51-B0D4-62CB76833446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585A4-AD97-439C-B4C7-AD5F647AA11E}"/>
              </a:ext>
            </a:extLst>
          </p:cNvPr>
          <p:cNvSpPr txBox="1"/>
          <p:nvPr userDrawn="1"/>
        </p:nvSpPr>
        <p:spPr>
          <a:xfrm>
            <a:off x="822039" y="6304512"/>
            <a:ext cx="523240" cy="24765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algn="l" fontAlgn="base" latinLnBrk="1">
              <a:lnSpc>
                <a:spcPct val="100000"/>
              </a:lnSpc>
            </a:pPr>
            <a:r>
              <a:rPr lang="en-US" altLang="ko-KR" sz="1100" b="0" dirty="0">
                <a:solidFill>
                  <a:srgbClr val="FF0000"/>
                </a:solidFill>
                <a:latin typeface="+mj-lt"/>
                <a:ea typeface="한컴 고딕" panose="02000500000000000000" pitchFamily="2" charset="-127"/>
              </a:rPr>
              <a:t>/58</a:t>
            </a:r>
            <a:endParaRPr lang="ko-KR" altLang="en-US" sz="1100" b="0" dirty="0">
              <a:solidFill>
                <a:srgbClr val="FF0000"/>
              </a:solidFill>
              <a:latin typeface="+mj-lt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72464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1638828"/>
            <a:ext cx="4490827" cy="4635167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943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1638828"/>
            <a:ext cx="4490827" cy="4635167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486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77F9F-A58C-4808-8074-96E40A336903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11882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1371600" indent="0">
              <a:spcBef>
                <a:spcPts val="1800"/>
              </a:spcBef>
              <a:buFont typeface="+mj-lt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486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9EDFA48-5BD9-4DF2-8D71-CED9532EBB86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7883C47-1A2A-4F57-A0D5-1FFCF1E9D1A7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1AB338-7267-4940-8A5B-18AADA9CD191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1993E2C-76D2-4EC0-8F76-FCD99F854036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142A697-CF5B-4AE4-BC7B-718A66428128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173018"/>
            <a:ext cx="10382250" cy="5003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604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76DE19D1-2384-4B4C-ADE9-983849E25309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5.png"/><Relationship Id="rId4" Type="http://schemas.openxmlformats.org/officeDocument/2006/relationships/customXml" Target="../ink/ink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7151" y="411479"/>
            <a:ext cx="6792685" cy="3291840"/>
          </a:xfrm>
        </p:spPr>
        <p:txBody>
          <a:bodyPr/>
          <a:lstStyle/>
          <a:p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 분석 개론</a:t>
            </a:r>
            <a:endParaRPr 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강의내용</a:t>
            </a:r>
            <a:endParaRPr 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0527" y="3776541"/>
            <a:ext cx="6260621" cy="2555679"/>
          </a:xfrm>
        </p:spPr>
        <p:txBody>
          <a:bodyPr>
            <a:normAutofit/>
          </a:bodyPr>
          <a:lstStyle/>
          <a:p>
            <a:pPr marL="0" indent="0" fontAlgn="base" latinLnBrk="1">
              <a:buNone/>
            </a:pPr>
            <a:r>
              <a:rPr lang="en-US" altLang="ko-KR" dirty="0">
                <a:solidFill>
                  <a:schemeClr val="tx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1. </a:t>
            </a:r>
            <a:r>
              <a:rPr lang="ko-KR" altLang="en-US" dirty="0" err="1">
                <a:solidFill>
                  <a:schemeClr val="tx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파이썬의</a:t>
            </a:r>
            <a:r>
              <a:rPr lang="ko-KR" altLang="en-US" dirty="0">
                <a:solidFill>
                  <a:schemeClr val="tx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설치와 프로그램 실행</a:t>
            </a:r>
          </a:p>
          <a:p>
            <a:pPr marL="0" indent="0" fontAlgn="base" latinLnBrk="1">
              <a:buNone/>
            </a:pPr>
            <a:r>
              <a:rPr lang="en-US" altLang="ko-KR" dirty="0">
                <a:solidFill>
                  <a:schemeClr val="tx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2. </a:t>
            </a:r>
            <a:r>
              <a:rPr lang="ko-KR" altLang="en-US" dirty="0">
                <a:solidFill>
                  <a:schemeClr val="tx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라이브러리의 설치와 활용</a:t>
            </a:r>
          </a:p>
          <a:p>
            <a:pPr marL="0" indent="0" fontAlgn="base" latinLnBrk="1">
              <a:buNone/>
            </a:pPr>
            <a:r>
              <a:rPr lang="en-US" altLang="ko-KR" dirty="0">
                <a:solidFill>
                  <a:schemeClr val="tx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3. </a:t>
            </a:r>
            <a:r>
              <a:rPr lang="ko-KR" altLang="en-US" dirty="0">
                <a:solidFill>
                  <a:schemeClr val="tx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파이썬 프로그램의 기본 문법</a:t>
            </a:r>
          </a:p>
          <a:p>
            <a:pPr marL="0" indent="0" fontAlgn="base" latinLnBrk="1">
              <a:buNone/>
            </a:pP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4. </a:t>
            </a: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그래프를 통하여 데이터의 특성을 나타내는 방법들</a:t>
            </a:r>
          </a:p>
          <a:p>
            <a:pPr marL="0" indent="0" fontAlgn="base" latinLnBrk="1">
              <a:buNone/>
            </a:pPr>
            <a:r>
              <a:rPr lang="en-US" altLang="ko-KR" dirty="0">
                <a:solidFill>
                  <a:schemeClr val="tx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5. </a:t>
            </a:r>
            <a:r>
              <a:rPr lang="ko-KR" altLang="en-US" dirty="0">
                <a:solidFill>
                  <a:schemeClr val="tx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데이터의 특성을 숫자로 요약하는 방법들</a:t>
            </a:r>
            <a:endParaRPr lang="en-US" dirty="0">
              <a:solidFill>
                <a:schemeClr val="tx1">
                  <a:lumMod val="75000"/>
                </a:schemeClr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8" name="Title 8">
            <a:extLst>
              <a:ext uri="{FF2B5EF4-FFF2-40B4-BE49-F238E27FC236}">
                <a16:creationId xmlns:a16="http://schemas.microsoft.com/office/drawing/2014/main" id="{5016B78D-D0BA-4B78-9E6A-BD29AFA51C75}"/>
              </a:ext>
            </a:extLst>
          </p:cNvPr>
          <p:cNvSpPr txBox="1">
            <a:spLocks/>
          </p:cNvSpPr>
          <p:nvPr/>
        </p:nvSpPr>
        <p:spPr>
          <a:xfrm>
            <a:off x="594360" y="1314434"/>
            <a:ext cx="4263610" cy="6132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3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</a:t>
            </a:r>
            <a:r>
              <a:rPr lang="ko-KR" altLang="en-US" sz="3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장 </a:t>
            </a:r>
            <a:r>
              <a:rPr lang="ko-KR" altLang="en-US" sz="3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</a:t>
            </a:r>
            <a:r>
              <a:rPr lang="ko-KR" altLang="en-US" sz="3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언어</a:t>
            </a:r>
            <a:endParaRPr lang="en-US" sz="3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EC111D-2696-43E1-BF67-2E25035E38DC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B1FDBE1-9B40-4F1C-A5A1-5AB40B13B3A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07D134-0280-41ED-A147-9DF1CC9B2A6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>
              <a:latin typeface="+mn-lt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91442BE-D279-47B8-BEC6-40EFEBE2A1F1}"/>
              </a:ext>
            </a:extLst>
          </p:cNvPr>
          <p:cNvSpPr txBox="1">
            <a:spLocks/>
          </p:cNvSpPr>
          <p:nvPr/>
        </p:nvSpPr>
        <p:spPr>
          <a:xfrm>
            <a:off x="855980" y="1866375"/>
            <a:ext cx="10015820" cy="1506327"/>
          </a:xfrm>
          <a:prstGeom prst="rect">
            <a:avLst/>
          </a:prstGeom>
        </p:spPr>
        <p:txBody>
          <a:bodyPr vert="horz" lIns="0" tIns="457200" rIns="0" bIns="0" rtlCol="0" anchor="ctr">
            <a:normAutofit fontScale="25000" lnSpcReduction="20000"/>
          </a:bodyPr>
          <a:lstStyle>
            <a:lvl1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빅데이터의 탐험 도구로 활용하려는 </a:t>
            </a:r>
            <a:r>
              <a:rPr lang="ko-KR" altLang="en-US" sz="96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파이썬의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특징과 설치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96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96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빅데이터분석과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처리와 분석을 위해 필요한 라이브러리들과 설치방법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언어 사용법과 시각화 기술에 대해서 알아봅니다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36336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2.3 </a:t>
            </a:r>
            <a:r>
              <a:rPr lang="ko-KR" altLang="en-US" dirty="0"/>
              <a:t>데이터 시각화와 요약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2CE7FB70-7158-4C1A-BBCB-74852AA06B6F}"/>
              </a:ext>
            </a:extLst>
          </p:cNvPr>
          <p:cNvSpPr txBox="1">
            <a:spLocks/>
          </p:cNvSpPr>
          <p:nvPr/>
        </p:nvSpPr>
        <p:spPr>
          <a:xfrm>
            <a:off x="484177" y="1280971"/>
            <a:ext cx="11139976" cy="2619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라이브러리인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Matplotlib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Seaborn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사용하여 데이터의 특성을 잘 표현해 주는 그래프를 소개하고 작성하는 방법에 대해서 설명합니다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2.3.1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그래프를 통하여 데이터의 특성을 나타내는 방법들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2.3.2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데이터의 특성을 숫자로 요약하는 방법들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7210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2.3.1 </a:t>
            </a:r>
            <a:r>
              <a:rPr lang="ko-KR" altLang="en-US" sz="3000" dirty="0"/>
              <a:t>그래프를 통하여 데이터의 특성을 나타내는 방법들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2CE7FB70-7158-4C1A-BBCB-74852AA06B6F}"/>
              </a:ext>
            </a:extLst>
          </p:cNvPr>
          <p:cNvSpPr txBox="1">
            <a:spLocks/>
          </p:cNvSpPr>
          <p:nvPr/>
        </p:nvSpPr>
        <p:spPr>
          <a:xfrm>
            <a:off x="484177" y="1280972"/>
            <a:ext cx="11139976" cy="10632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수집한 데이터를 보는 것만으로 데이터 전체의 모습이나 특징을 알아내기는 어렵다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따라서 데이터가 가지고 있는 모습과 전체적인 윤곽을 나타내기 위해서 정리가 필요하며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표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(table)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나 그래프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(graph)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통해 나타낸다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Matplotlib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시각화 기법</a:t>
            </a:r>
          </a:p>
          <a:p>
            <a:pPr algn="just" fontAlgn="base" latinLnBrk="1">
              <a:lnSpc>
                <a:spcPct val="100000"/>
              </a:lnSpc>
            </a:pPr>
            <a:endParaRPr lang="ko-KR" altLang="en-US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DF26CF-A0DD-4905-B5CD-8DCF94D57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77" y="2394930"/>
            <a:ext cx="5633928" cy="4400792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007792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2.3.1 </a:t>
            </a:r>
            <a:r>
              <a:rPr lang="ko-KR" altLang="en-US" sz="3000" dirty="0"/>
              <a:t>그래프를 통하여 데이터의 특성을 나타내는 방법들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2CE7FB70-7158-4C1A-BBCB-74852AA06B6F}"/>
              </a:ext>
            </a:extLst>
          </p:cNvPr>
          <p:cNvSpPr txBox="1">
            <a:spLocks/>
          </p:cNvSpPr>
          <p:nvPr/>
        </p:nvSpPr>
        <p:spPr>
          <a:xfrm>
            <a:off x="484177" y="1280972"/>
            <a:ext cx="11139976" cy="10632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Seaborn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제공하는 시각화 기법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2" name="Picture 10">
            <a:extLst>
              <a:ext uri="{FF2B5EF4-FFF2-40B4-BE49-F238E27FC236}">
                <a16:creationId xmlns:a16="http://schemas.microsoft.com/office/drawing/2014/main" id="{E1106192-9868-4C0E-890C-19EC9E910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997" y="1850034"/>
            <a:ext cx="4970050" cy="4938999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17385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2.3.1 </a:t>
            </a:r>
            <a:r>
              <a:rPr lang="ko-KR" altLang="en-US" sz="3000" dirty="0"/>
              <a:t>그래프를 통하여 데이터의 특성을 나타내는 방법들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2F5278-60CE-4F30-BF14-3E4746D51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077" y="1512708"/>
            <a:ext cx="8998238" cy="383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168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2.3.1 </a:t>
            </a:r>
            <a:r>
              <a:rPr lang="ko-KR" altLang="en-US" sz="3000" dirty="0"/>
              <a:t>그래프를 통하여 데이터의 특성을 나타내는 방법들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DCE8779-B0E7-46FE-BE23-88176E833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896" y="1015669"/>
            <a:ext cx="8721653" cy="549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640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2.3.1 </a:t>
            </a:r>
            <a:r>
              <a:rPr lang="ko-KR" altLang="en-US" sz="3000" dirty="0"/>
              <a:t>그래프를 통하여 데이터의 특성을 나타내는 방법들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80971"/>
            <a:ext cx="11139976" cy="27553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 히스토그램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ko-KR" altLang="en-US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히스토그램은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오른쪽과 같이 측정된 연속적인 값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나이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성적 등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나타내기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위하여 사용한다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막대그래프는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왼쪽과 같이 범주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(category)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구분되는 데이터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성별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종교 또는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직업 형태에 따른 사례 수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이용하므로 범주의 순서는 작성자의 의도에 따라 바뀔 수 있지만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히스토그램의 경우는 막대의 순서를 임의로 바꿀 수 없으며 주로 막대의 간격 없이 표현한다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11" name="Picture 12">
            <a:extLst>
              <a:ext uri="{FF2B5EF4-FFF2-40B4-BE49-F238E27FC236}">
                <a16:creationId xmlns:a16="http://schemas.microsoft.com/office/drawing/2014/main" id="{195E742A-4E42-43A9-8B82-0758C4D0A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954" y="3745282"/>
            <a:ext cx="6439180" cy="3008637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62116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2.3.1 </a:t>
            </a:r>
            <a:r>
              <a:rPr lang="ko-KR" altLang="en-US" sz="3000" dirty="0"/>
              <a:t>그래프를 통하여 데이터의 특성을 나타내는 방법들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80972"/>
            <a:ext cx="11139976" cy="24643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히스토그램을 작성하기 위하여 학생 건강검사 자료 중에서 고등학교 남학생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500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명의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신장 표본 데이터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데이터의 원시자료는 엑셀 파일로 되어있으며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[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표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일부만 표시한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것이다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 &lt;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예제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2-8&gt;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이용하여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막대수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개로 히스토그램을 작성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842147-577D-4EFA-809D-51B628274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243" y="2619753"/>
            <a:ext cx="9036984" cy="367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44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&lt;</a:t>
            </a:r>
            <a:r>
              <a:rPr lang="ko-KR" altLang="en-US" dirty="0"/>
              <a:t>예제 </a:t>
            </a:r>
            <a:r>
              <a:rPr lang="en-US" altLang="ko-KR" dirty="0"/>
              <a:t>2-8&gt; </a:t>
            </a:r>
            <a:r>
              <a:rPr lang="ko-KR" altLang="en-US" dirty="0"/>
              <a:t>히스토그램 작성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80971"/>
            <a:ext cx="10983924" cy="30279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엑셀 파일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고등학생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_samples.xlsx)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불러오기위하여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함수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read_excel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그래프를 작성할 때 라이브러리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matplotlib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사용하기 위해서 불러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(import)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오는데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matplotlib.pyplot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라이브러리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matplotlib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안의 모듈 중에서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pyplot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사용한다는 의미이고 이것을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plt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라는 이름으로 사용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프로그램에서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import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matplotlib.pyplot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as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plt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from matplotlib import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pyplot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as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plt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동일한 역할을 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히스토그램의 작성은 모듈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plt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함수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hist()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이용하고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함수의 인자 중에서 중요한 것만 사용하고자 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D0684F-7105-4BAD-8B39-2245895FC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673" y="4460889"/>
            <a:ext cx="8440475" cy="159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662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&lt;</a:t>
            </a:r>
            <a:r>
              <a:rPr lang="ko-KR" altLang="en-US" dirty="0"/>
              <a:t>예제 </a:t>
            </a:r>
            <a:r>
              <a:rPr lang="en-US" altLang="ko-KR" dirty="0"/>
              <a:t>2-8&gt; </a:t>
            </a:r>
            <a:r>
              <a:rPr lang="ko-KR" altLang="en-US" dirty="0"/>
              <a:t>히스토그램 작성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D0684F-7105-4BAD-8B39-2245895FC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17788"/>
            <a:ext cx="8440475" cy="159184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B863ECD-91C5-475D-9B12-3D4B0E9AE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827" y="3120275"/>
            <a:ext cx="8622781" cy="345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889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2.3.1 </a:t>
            </a:r>
            <a:r>
              <a:rPr lang="ko-KR" altLang="en-US" sz="3000" dirty="0"/>
              <a:t>그래프를 통하여 데이터의 특성을 나타내는 방법들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80971"/>
            <a:ext cx="11139976" cy="175779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 막대그래프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막대그래프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(bar chart)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히스토그램과 달리 범주형 데이터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(categorical data)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대해서 막대로 구분하여 표시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막대그래프를 나타날 때는 오름차순 또는 내림차순으로 정렬하여 나타내는 것이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보기에 좋으며 가독성이 높아진다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250B98-A07F-49F6-953C-99508E0B3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9473" y="3179733"/>
            <a:ext cx="7428784" cy="340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177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2-9&gt; </a:t>
            </a:r>
            <a:r>
              <a:rPr lang="ko-KR" altLang="en-US" sz="3000" dirty="0"/>
              <a:t>가로와 세로 막대그래프 작성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80971"/>
            <a:ext cx="11139976" cy="140809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일반적인 막대그래프는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세로형이며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이때는 함수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plt.bar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가로형의 막대그래프는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plt.barh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9204A3B-B069-4CC1-8589-CEAFFF0A0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815" y="3271515"/>
            <a:ext cx="9264431" cy="149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31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2-9&gt; </a:t>
            </a:r>
            <a:r>
              <a:rPr lang="ko-KR" altLang="en-US" sz="3000" dirty="0"/>
              <a:t>가로와 세로 막대그래프 작성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80972"/>
            <a:ext cx="11139976" cy="8536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그래프의 레이블로 한글을 사용하면 제대로 표시되지 않기 때문에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matplotlib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폰트를 지정하는 것으로 해결할 수 있으며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여기에서는 한글 폰트인 ‘맑은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고딕’을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사용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70C9B1-95BE-4021-AB27-29A00242D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226" y="1958571"/>
            <a:ext cx="6771698" cy="457137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FF70CEE-1DC4-4CD3-A057-16553D5DE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0839" y="4467500"/>
            <a:ext cx="4848301" cy="2219056"/>
          </a:xfrm>
          <a:prstGeom prst="rect">
            <a:avLst/>
          </a:prstGeom>
          <a:ln>
            <a:solidFill>
              <a:schemeClr val="accent1">
                <a:alpha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436922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2.3.1 </a:t>
            </a:r>
            <a:r>
              <a:rPr lang="ko-KR" altLang="en-US" sz="3000" dirty="0"/>
              <a:t>그래프를 통하여 데이터의 특성을 나타내는 방법들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80971"/>
            <a:ext cx="11139976" cy="175779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 파이 차트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파이 차트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(pie chart)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원그래프라고도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하며 막대그래프와 같이 범주형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데이터에 대한 시각화 표현 방법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파이 차트는 사례 수보다는 구성 비율을 퍼센트로 나타내는 것이 일반적이다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6E404555-C449-4FFA-B3CA-008E7041D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909" y="3038763"/>
            <a:ext cx="4205985" cy="354110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9B3E85A-3898-46F0-B0D4-A869D1A05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0518" y="3443435"/>
            <a:ext cx="2614574" cy="288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99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2-10&gt; </a:t>
            </a:r>
            <a:r>
              <a:rPr lang="ko-KR" altLang="en-US" sz="3000" dirty="0"/>
              <a:t>파이 차트 작성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FB4722-EF92-482A-B998-7B567173A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7" y="1204882"/>
            <a:ext cx="8659937" cy="4745327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644221B7-416A-45A6-91EB-6765A93AD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1481" y="2185640"/>
            <a:ext cx="3594943" cy="302665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itle 8">
            <a:extLst>
              <a:ext uri="{FF2B5EF4-FFF2-40B4-BE49-F238E27FC236}">
                <a16:creationId xmlns:a16="http://schemas.microsoft.com/office/drawing/2014/main" id="{248AB9BB-DC36-4E7B-A729-8063A6E5E955}"/>
              </a:ext>
            </a:extLst>
          </p:cNvPr>
          <p:cNvSpPr txBox="1">
            <a:spLocks/>
          </p:cNvSpPr>
          <p:nvPr/>
        </p:nvSpPr>
        <p:spPr>
          <a:xfrm>
            <a:off x="2959227" y="6074179"/>
            <a:ext cx="9084090" cy="6060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autopct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='%.1f%%'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소수 이하 첫째 자리까지 표시하고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%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기호를 표시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2677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2.3.1 </a:t>
            </a:r>
            <a:r>
              <a:rPr lang="ko-KR" altLang="en-US" sz="3000" dirty="0"/>
              <a:t>그래프를 통하여 데이터의 특성을 나타내는 방법들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>
              <a:latin typeface="+mn-lt"/>
            </a:endParaRPr>
          </a:p>
        </p:txBody>
      </p:sp>
      <p:pic>
        <p:nvPicPr>
          <p:cNvPr id="12" name="Picture 14">
            <a:extLst>
              <a:ext uri="{FF2B5EF4-FFF2-40B4-BE49-F238E27FC236}">
                <a16:creationId xmlns:a16="http://schemas.microsoft.com/office/drawing/2014/main" id="{64B8C79D-D925-438C-BC0C-2A21107C9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6643" y="1031391"/>
            <a:ext cx="4211503" cy="2916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094C9A1-26F6-4AF3-AA5B-C5858A0B9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59" y="1351009"/>
            <a:ext cx="7039174" cy="498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431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2-11&gt; </a:t>
            </a:r>
            <a:r>
              <a:rPr lang="ko-KR" altLang="en-US" sz="3000" dirty="0"/>
              <a:t>선 그래프 작성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80971"/>
            <a:ext cx="11139976" cy="30791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 선 그래프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시간의 경과에 따라 연속적으로 관측된 데이터에 대해 동일한 시간 간격으로 측정한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데이터를 시계열 데이터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(time series data)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 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시계열 데이터에는 물가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실업률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취업률 등이 포함되며 이러한 데이터를 그래프로 표현할 때 선 그래프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(line chart)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이용하여 변화의 추이를 파악한다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2010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년부터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2022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년까지 보통휘발유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1ℓ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서울우유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1ℓ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가격을 비교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2" name="Picture 14">
            <a:extLst>
              <a:ext uri="{FF2B5EF4-FFF2-40B4-BE49-F238E27FC236}">
                <a16:creationId xmlns:a16="http://schemas.microsoft.com/office/drawing/2014/main" id="{64B8C79D-D925-438C-BC0C-2A21107C9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178" y="2893644"/>
            <a:ext cx="5064174" cy="350664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16031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2.3.1 </a:t>
            </a:r>
            <a:r>
              <a:rPr lang="ko-KR" altLang="en-US" sz="3000" dirty="0"/>
              <a:t>그래프를 통하여 데이터의 특성을 나타내는 방법들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AEB039E-F57D-4744-AAD4-AF026B770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694" y="1521213"/>
            <a:ext cx="6515100" cy="4038600"/>
          </a:xfrm>
          <a:prstGeom prst="rect">
            <a:avLst/>
          </a:prstGeom>
        </p:spPr>
      </p:pic>
      <p:pic>
        <p:nvPicPr>
          <p:cNvPr id="13" name="Picture 14">
            <a:extLst>
              <a:ext uri="{FF2B5EF4-FFF2-40B4-BE49-F238E27FC236}">
                <a16:creationId xmlns:a16="http://schemas.microsoft.com/office/drawing/2014/main" id="{2DF63DEF-7CD0-4948-ADB5-8C327E5F3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927" y="1521213"/>
            <a:ext cx="4099860" cy="283891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5834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>
                <a:solidFill>
                  <a:schemeClr val="tx1"/>
                </a:solidFill>
                <a:highlight>
                  <a:srgbClr val="0000FF"/>
                </a:highlight>
              </a:rPr>
              <a:t>2.3.1 </a:t>
            </a:r>
            <a:r>
              <a:rPr lang="ko-KR" altLang="en-US" sz="3000" dirty="0">
                <a:solidFill>
                  <a:schemeClr val="tx1"/>
                </a:solidFill>
                <a:highlight>
                  <a:srgbClr val="0000FF"/>
                </a:highlight>
              </a:rPr>
              <a:t>그래프를 통하여 데이터의 특성을 나타내는 방법들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20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6" y="1164070"/>
            <a:ext cx="11103867" cy="33797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 상자 도형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데이터를 순서대로 나열한 다음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(quartiles)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이용하여 전체 데이터의 모양과 </a:t>
            </a:r>
            <a:endParaRPr lang="en-US" altLang="ko-KR" sz="18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18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특이값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(outlier)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존재 여부를 나타냄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18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사분위수란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데이터를 순서대로 나열했을 때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등분하는 위치에 해당하는 값으로 </a:t>
            </a:r>
            <a:endParaRPr lang="en-US" altLang="ko-KR" sz="18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 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(25%, Q1), 2 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(50%, Q2), 3 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(75%, Q3)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 부른다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상자의 테두리는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 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사분위수에서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 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사분위수로 나타내며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상자 가운데 직선은 중앙값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(2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Q2)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의미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18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최솟값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(min)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최댓값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(max)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상자 도형의 끝부분을 직선으로 연결하여 나타내며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 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 보다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1.5×IQR 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이상을 초과하는 값과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 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 보다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1.5×IQR 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이하 미달하는 값은 </a:t>
            </a:r>
            <a:endParaRPr lang="en-US" altLang="ko-KR" sz="18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18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특이값으로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간주하여 별표나 원으로 나타냄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41F79D-D2CA-4D52-90F3-7187EC292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071" y="4494947"/>
            <a:ext cx="5489529" cy="196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995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2800" dirty="0"/>
              <a:t>&lt;</a:t>
            </a:r>
            <a:r>
              <a:rPr lang="ko-KR" altLang="en-US" sz="2800" dirty="0"/>
              <a:t>예제 </a:t>
            </a:r>
            <a:r>
              <a:rPr lang="en-US" altLang="ko-KR" sz="2800" dirty="0"/>
              <a:t>2-12&gt; </a:t>
            </a:r>
            <a:r>
              <a:rPr lang="ko-KR" altLang="en-US" sz="2800" dirty="0"/>
              <a:t>주당 스마트폰 사용 시간에 대한 상자 도형 작성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21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80971"/>
            <a:ext cx="11139976" cy="20420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왼쪽의 작은 동그라미 표시는 </a:t>
            </a:r>
            <a:r>
              <a:rPr lang="ko-KR" altLang="en-US" sz="18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특이값을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나타내며 실제 값은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15.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실제로 계산하면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Q1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33.5, Q2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39, Q3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44.5, IQR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11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이므로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min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17, max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61.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18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프로그램에서 중앙값과 최솟값을 출력하기 위하여 </a:t>
            </a:r>
            <a:r>
              <a:rPr lang="en-US" altLang="ko-KR" sz="18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numpy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함수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median()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min()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사용하며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데이터에 대해 각각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39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15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출력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[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2-44]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min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min=Q1-1.5×IQR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계산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(17)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한 것으로 </a:t>
            </a:r>
            <a:endParaRPr lang="en-US" altLang="ko-KR" sz="18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최솟값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(15)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과는 다르다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[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표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2-5]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데이터는 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CSV 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형식으로 저장되어 있으며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이를 불러오기 위하여 </a:t>
            </a:r>
            <a:endParaRPr lang="en-US" altLang="ko-KR" sz="18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pandas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함수 </a:t>
            </a:r>
            <a:r>
              <a:rPr lang="en-US" altLang="ko-KR" sz="18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read_csv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</a:t>
            </a:r>
            <a:endParaRPr lang="en-US" altLang="ko-KR" sz="18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41F79D-D2CA-4D52-90F3-7187EC292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353" y="3534939"/>
            <a:ext cx="8240657" cy="294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559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2800" dirty="0"/>
              <a:t>&lt;</a:t>
            </a:r>
            <a:r>
              <a:rPr lang="ko-KR" altLang="en-US" sz="2800" dirty="0"/>
              <a:t>예제 </a:t>
            </a:r>
            <a:r>
              <a:rPr lang="en-US" altLang="ko-KR" sz="2800" dirty="0"/>
              <a:t>2-12&gt; </a:t>
            </a:r>
            <a:r>
              <a:rPr lang="ko-KR" altLang="en-US" sz="2800" dirty="0"/>
              <a:t>주당 스마트폰 사용 시간에 대한 상자 도형 작성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22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9F4F5D-5DF2-478D-90DF-10E0B28B2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148" y="1556982"/>
            <a:ext cx="2990850" cy="23431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56ED2E3-3A90-4F93-A993-DACF91875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20" y="1434709"/>
            <a:ext cx="6754585" cy="34318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ADFA092-9F23-4419-B5E6-FA35EE7F09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893" y="5127176"/>
            <a:ext cx="594360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78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2.3.1 </a:t>
            </a:r>
            <a:r>
              <a:rPr lang="ko-KR" altLang="en-US" sz="3000" dirty="0"/>
              <a:t>그래프를 통하여 데이터의 특성을 나타내는 방법들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23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80972"/>
            <a:ext cx="11139976" cy="23396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산점도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ko-KR" altLang="en-US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산점도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(scatter plot)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가로축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(x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세로축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(y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나타낼 수 있는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차원 평면상에서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관찰값을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점이나 문자 등으로 표현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가장 흔한 예로 몸무게와 키의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차원 데이터를 나타낼 때 사용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산점도는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축으로 표현되는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두 개의 데이터 즉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키와 몸무게 간의 연관성 정도나 추세를 파악하기 위해 사용하고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뒤에서 설명할 회귀분석에서 유용하게 사용한다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9B1E7E-D07D-438B-87E2-C3ACA3903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111" y="3472452"/>
            <a:ext cx="3419475" cy="3009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14382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2-13&gt; </a:t>
            </a:r>
            <a:r>
              <a:rPr lang="ko-KR" altLang="en-US" sz="3000" dirty="0"/>
              <a:t>초등학생의 키와 몸무게에 대한 </a:t>
            </a:r>
            <a:r>
              <a:rPr lang="ko-KR" altLang="en-US" sz="3000" dirty="0" err="1"/>
              <a:t>산점도</a:t>
            </a:r>
            <a:r>
              <a:rPr lang="ko-KR" altLang="en-US" sz="3000" dirty="0"/>
              <a:t> 작성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24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80972"/>
            <a:ext cx="11139976" cy="17008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초등학생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34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명에 대한 키와 몸무게를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산점도로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나타낸 것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예제에서 함수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DataFrame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pandas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데이터프레임을 생성하기 위하여 사용하는데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엑셀 파일을 불러온 다음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data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저장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데이터프레임을 사용하면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열 제목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(height, weight)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그대로 도형의 인자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data.height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data.weight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사용할 수 있는 장점이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02F395-BD2B-4F3A-B182-C910F1DFE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590" y="2946791"/>
            <a:ext cx="67056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36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2-13&gt; </a:t>
            </a:r>
            <a:r>
              <a:rPr lang="ko-KR" altLang="en-US" sz="3000" dirty="0"/>
              <a:t>초등학생의 키와 몸무게에 대한 </a:t>
            </a:r>
            <a:r>
              <a:rPr lang="ko-KR" altLang="en-US" sz="3000" dirty="0" err="1"/>
              <a:t>산점도</a:t>
            </a:r>
            <a:r>
              <a:rPr lang="ko-KR" altLang="en-US" sz="3000" dirty="0"/>
              <a:t> 작성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25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332BC03-238D-4BB7-BCC5-3E54755E5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65" y="1519410"/>
            <a:ext cx="7539008" cy="46227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4627228-1D5C-4BDF-8786-67FC57C66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755" y="1667866"/>
            <a:ext cx="4845480" cy="27806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8817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2-14&gt; </a:t>
            </a:r>
            <a:r>
              <a:rPr lang="ko-KR" altLang="en-US" sz="3000" dirty="0"/>
              <a:t>아이리스 데이터에 대한 </a:t>
            </a:r>
            <a:r>
              <a:rPr lang="ko-KR" altLang="en-US" sz="3000" dirty="0" err="1"/>
              <a:t>산점도</a:t>
            </a:r>
            <a:r>
              <a:rPr lang="ko-KR" altLang="en-US" sz="3000" dirty="0"/>
              <a:t> 행렬 작성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26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DFA3B954-7A59-49FF-9501-F12677A4C88D}"/>
              </a:ext>
            </a:extLst>
          </p:cNvPr>
          <p:cNvSpPr txBox="1">
            <a:spLocks/>
          </p:cNvSpPr>
          <p:nvPr/>
        </p:nvSpPr>
        <p:spPr>
          <a:xfrm>
            <a:off x="484177" y="1280972"/>
            <a:ext cx="11139976" cy="7734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다차원 데이터로 많이 인용되는 아이리스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붓꽃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데이터에 대한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산점도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행렬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아이리스 데이터는 네 개의 변수 즉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꽃받침 길이와 너비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꽃잎의 길이와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너비에 대한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150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개의 사례로 구성되어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EAEBB2-BA19-48AD-95A9-B04D7C49E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2412676"/>
            <a:ext cx="5705475" cy="14382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066AFD4-2585-449F-895F-64619D7B7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156" y="1995762"/>
            <a:ext cx="4629726" cy="481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386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2-14&gt; </a:t>
            </a:r>
            <a:r>
              <a:rPr lang="ko-KR" altLang="en-US" sz="3000" dirty="0"/>
              <a:t>아이리스 데이터에 대한 </a:t>
            </a:r>
            <a:r>
              <a:rPr lang="ko-KR" altLang="en-US" sz="3000" dirty="0" err="1"/>
              <a:t>산점도</a:t>
            </a:r>
            <a:r>
              <a:rPr lang="ko-KR" altLang="en-US" sz="3000" dirty="0"/>
              <a:t> 행렬 작성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27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DFA3B954-7A59-49FF-9501-F12677A4C88D}"/>
              </a:ext>
            </a:extLst>
          </p:cNvPr>
          <p:cNvSpPr txBox="1">
            <a:spLocks/>
          </p:cNvSpPr>
          <p:nvPr/>
        </p:nvSpPr>
        <p:spPr>
          <a:xfrm>
            <a:off x="484177" y="1280972"/>
            <a:ext cx="11139976" cy="10632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아이리스 데이터는 외부 라이브러리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seaborn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통해 불러옴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예제에서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seaborn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pairplot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사용한 매개변수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diag_kind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나타낼 대각 요소를 선택하며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히스토그램의 경우는 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hist’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CCB1F56-4D34-4A01-B801-58465C805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055" y="2032411"/>
            <a:ext cx="6231093" cy="454746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9F7D05D-1A2A-41B9-8865-10B2A383B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80" y="2476419"/>
            <a:ext cx="3518043" cy="365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593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데이터의 정리와 요약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28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1" y="1616927"/>
            <a:ext cx="11219462" cy="300587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조사한 데이터 자체만으로는 데이터가 가지고 있는 전체적인 윤곽과 특성을 쉽게 파악하기 어려우므로 정리와 요약이 필요하다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표를 이용하여 나타내는 방법으로 도수분포표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(frequency distribution table)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사용하고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그래프로 표현하는 방법으로는 히스토그램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(histogram),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막대그래프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(bar chart),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선 그래프 등이 있다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데이터를 그래프로 표현할 때 데이터의 형태나 성격에 따라 적절한 방법을 선택한다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71176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시각화 방법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29</a:t>
            </a:fld>
            <a:endParaRPr lang="en-US" dirty="0">
              <a:latin typeface="+mn-l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BB46C17-A489-49AE-BCDD-31FE91F5E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47" y="1634234"/>
            <a:ext cx="8697658" cy="379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9259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시각화 표현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30</a:t>
            </a:fld>
            <a:endParaRPr lang="en-US" dirty="0">
              <a:latin typeface="+mn-l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BE70ADD-9173-4C23-81B6-94C3117603FF}"/>
              </a:ext>
            </a:extLst>
          </p:cNvPr>
          <p:cNvSpPr txBox="1">
            <a:spLocks/>
          </p:cNvSpPr>
          <p:nvPr/>
        </p:nvSpPr>
        <p:spPr>
          <a:xfrm>
            <a:off x="594360" y="1118168"/>
            <a:ext cx="11359411" cy="24867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히스토그램과 막대그래프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히스토그램은 측정된 연속적인 값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나이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성적 등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나타내는 데이터를 이용하여 작성하고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막대그래프는 왼쪽과 같이 범주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(category)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구분되는 데이터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성별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종교 또는 직업 형태에 따른 사례 수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이용하므로 범주의 순서는 의도에 따라 바뀔 수 있지만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히스토그램의 경우는 막대의 순서를 임의로 바꿀 수 없으며 주로 막대의 간격 없이 표현한다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10" name="Picture 16">
            <a:extLst>
              <a:ext uri="{FF2B5EF4-FFF2-40B4-BE49-F238E27FC236}">
                <a16:creationId xmlns:a16="http://schemas.microsoft.com/office/drawing/2014/main" id="{9EC5D34A-49B2-401E-B57A-DDC9CE9F2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024" y="4477627"/>
            <a:ext cx="3296759" cy="193265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1" name="Picture 18">
            <a:extLst>
              <a:ext uri="{FF2B5EF4-FFF2-40B4-BE49-F238E27FC236}">
                <a16:creationId xmlns:a16="http://schemas.microsoft.com/office/drawing/2014/main" id="{1916AEA0-6EDE-44F0-8B68-73C341494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113" y="3819765"/>
            <a:ext cx="2844239" cy="2899677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4687786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시각화 표현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31</a:t>
            </a:fld>
            <a:endParaRPr lang="en-US" dirty="0">
              <a:latin typeface="+mn-l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BE70ADD-9173-4C23-81B6-94C3117603FF}"/>
              </a:ext>
            </a:extLst>
          </p:cNvPr>
          <p:cNvSpPr txBox="1">
            <a:spLocks/>
          </p:cNvSpPr>
          <p:nvPr/>
        </p:nvSpPr>
        <p:spPr>
          <a:xfrm>
            <a:off x="594360" y="1616927"/>
            <a:ext cx="11359411" cy="24867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파이차트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파이 차트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(pie chart)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원그래프라고도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하며 막대그래프와 같이 범주형 데이터에 대한 시각화 표현 방법입니다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파이차트에서는 사례 수보다 구성 비율을 퍼센트로 나타내는 것이 일반적이다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8" name="Picture 19">
            <a:extLst>
              <a:ext uri="{FF2B5EF4-FFF2-40B4-BE49-F238E27FC236}">
                <a16:creationId xmlns:a16="http://schemas.microsoft.com/office/drawing/2014/main" id="{DF442B45-E5AE-4F92-8B46-E4C74D7A0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065" y="3429000"/>
            <a:ext cx="3315984" cy="310325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1504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시각화 표현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32</a:t>
            </a:fld>
            <a:endParaRPr lang="en-US" dirty="0">
              <a:latin typeface="+mn-l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BE70ADD-9173-4C23-81B6-94C3117603FF}"/>
              </a:ext>
            </a:extLst>
          </p:cNvPr>
          <p:cNvSpPr txBox="1">
            <a:spLocks/>
          </p:cNvSpPr>
          <p:nvPr/>
        </p:nvSpPr>
        <p:spPr>
          <a:xfrm>
            <a:off x="594360" y="1199238"/>
            <a:ext cx="11359411" cy="24867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선 그래프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시간의 경과에 따라 연속적으로 관측된 데이터에 대해 동일한 시간 간격으로 측정한 데이터를 시계열 데이터라 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시계열 데이터에는 물가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실업률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취업률 등이 포함되며 이러한 데이터를 그래프로 표현할 때 선 그래프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(line chart)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이용하여 변화의 추이를 파악할 수 있다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913768E5-157E-4B5C-A52D-3A2CA1984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463" y="3589633"/>
            <a:ext cx="4099860" cy="283891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91613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시각화 표현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33</a:t>
            </a:fld>
            <a:endParaRPr lang="en-US" dirty="0">
              <a:latin typeface="+mn-l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BE70ADD-9173-4C23-81B6-94C3117603FF}"/>
              </a:ext>
            </a:extLst>
          </p:cNvPr>
          <p:cNvSpPr txBox="1">
            <a:spLocks/>
          </p:cNvSpPr>
          <p:nvPr/>
        </p:nvSpPr>
        <p:spPr>
          <a:xfrm>
            <a:off x="594360" y="1616927"/>
            <a:ext cx="11359411" cy="24867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상자 도형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상자 도형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(box plot)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데이터를 순서대로 나열한 다음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(quartiles)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이용하여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전체 데이터의 모양과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특이값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(outlier)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존재 여부를 나타낼 수 있는 그래프이다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C09196B-1591-48EA-8037-FD8A76D5D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188" y="3300762"/>
            <a:ext cx="6681753" cy="238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3939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시각화 표현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34</a:t>
            </a:fld>
            <a:endParaRPr lang="en-US" dirty="0">
              <a:latin typeface="+mn-l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BE70ADD-9173-4C23-81B6-94C3117603FF}"/>
              </a:ext>
            </a:extLst>
          </p:cNvPr>
          <p:cNvSpPr txBox="1">
            <a:spLocks/>
          </p:cNvSpPr>
          <p:nvPr/>
        </p:nvSpPr>
        <p:spPr>
          <a:xfrm>
            <a:off x="645993" y="1260088"/>
            <a:ext cx="11359411" cy="24867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산점도</a:t>
            </a:r>
            <a:endParaRPr lang="ko-KR" altLang="en-US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산점도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(scatter plot)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가로축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(x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축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세로축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(y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축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나타낼 수 있는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차원 평면상에서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관찰값을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점이나 문자 등으로 표현한다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769A35-0E5E-444D-B0B3-392FAB1ED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023" y="2836834"/>
            <a:ext cx="3419475" cy="3009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912098D-A423-4D27-875B-022C1BDC5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528" y="2380025"/>
            <a:ext cx="4075096" cy="423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8651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도형 작성 함수들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35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870857-528E-422D-B14C-4C08018F6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647" y="1697307"/>
            <a:ext cx="8992043" cy="374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7857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강의내용</a:t>
            </a:r>
            <a:endParaRPr 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0527" y="3776541"/>
            <a:ext cx="6260621" cy="2555679"/>
          </a:xfrm>
        </p:spPr>
        <p:txBody>
          <a:bodyPr>
            <a:normAutofit/>
          </a:bodyPr>
          <a:lstStyle/>
          <a:p>
            <a:pPr marL="0" indent="0" fontAlgn="base" latinLnBrk="1">
              <a:buNone/>
            </a:pPr>
            <a:r>
              <a:rPr lang="en-US" altLang="ko-KR" dirty="0">
                <a:solidFill>
                  <a:schemeClr val="tx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1. </a:t>
            </a:r>
            <a:r>
              <a:rPr lang="ko-KR" altLang="en-US" dirty="0" err="1">
                <a:solidFill>
                  <a:schemeClr val="tx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파이썬의</a:t>
            </a:r>
            <a:r>
              <a:rPr lang="ko-KR" altLang="en-US" dirty="0">
                <a:solidFill>
                  <a:schemeClr val="tx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설치와 프로그램 실행</a:t>
            </a:r>
          </a:p>
          <a:p>
            <a:pPr marL="0" indent="0" fontAlgn="base" latinLnBrk="1">
              <a:buNone/>
            </a:pPr>
            <a:r>
              <a:rPr lang="en-US" altLang="ko-KR" dirty="0">
                <a:solidFill>
                  <a:schemeClr val="tx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2. </a:t>
            </a:r>
            <a:r>
              <a:rPr lang="ko-KR" altLang="en-US" dirty="0">
                <a:solidFill>
                  <a:schemeClr val="tx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라이브러리의 설치와 활용</a:t>
            </a:r>
          </a:p>
          <a:p>
            <a:pPr marL="0" indent="0" fontAlgn="base" latinLnBrk="1">
              <a:buNone/>
            </a:pPr>
            <a:r>
              <a:rPr lang="en-US" altLang="ko-KR" dirty="0">
                <a:solidFill>
                  <a:schemeClr val="tx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3. </a:t>
            </a:r>
            <a:r>
              <a:rPr lang="ko-KR" altLang="en-US" dirty="0">
                <a:solidFill>
                  <a:schemeClr val="tx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파이썬 프로그램의 기본 문법</a:t>
            </a:r>
          </a:p>
          <a:p>
            <a:pPr marL="0" indent="0" fontAlgn="base" latinLnBrk="1">
              <a:buNone/>
            </a:pPr>
            <a:r>
              <a:rPr lang="en-US" altLang="ko-KR" dirty="0">
                <a:solidFill>
                  <a:schemeClr val="tx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4. </a:t>
            </a:r>
            <a:r>
              <a:rPr lang="ko-KR" altLang="en-US" dirty="0">
                <a:solidFill>
                  <a:schemeClr val="tx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그래프를 통하여 데이터의 특성을 나타내는 방법들</a:t>
            </a:r>
          </a:p>
          <a:p>
            <a:pPr marL="0" indent="0" fontAlgn="base" latinLnBrk="1">
              <a:buNone/>
            </a:pP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5. </a:t>
            </a: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데이터의 특성을 숫자로 요약하는 방법들</a:t>
            </a:r>
            <a:endParaRPr 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8" name="Title 8">
            <a:extLst>
              <a:ext uri="{FF2B5EF4-FFF2-40B4-BE49-F238E27FC236}">
                <a16:creationId xmlns:a16="http://schemas.microsoft.com/office/drawing/2014/main" id="{5016B78D-D0BA-4B78-9E6A-BD29AFA51C75}"/>
              </a:ext>
            </a:extLst>
          </p:cNvPr>
          <p:cNvSpPr txBox="1">
            <a:spLocks/>
          </p:cNvSpPr>
          <p:nvPr/>
        </p:nvSpPr>
        <p:spPr>
          <a:xfrm>
            <a:off x="304800" y="1319583"/>
            <a:ext cx="4263610" cy="6132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3200">
                <a:latin typeface="한컴 고딕" panose="02000500000000000000" pitchFamily="2" charset="-127"/>
                <a:ea typeface="한컴 고딕" panose="02000500000000000000" pitchFamily="2" charset="-127"/>
              </a:rPr>
              <a:t>2</a:t>
            </a:r>
            <a:r>
              <a:rPr lang="ko-KR" altLang="en-US" sz="3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장 </a:t>
            </a:r>
            <a:r>
              <a:rPr lang="ko-KR" altLang="en-US" sz="3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</a:t>
            </a:r>
            <a:r>
              <a:rPr lang="ko-KR" altLang="en-US" sz="3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언어</a:t>
            </a:r>
            <a:endParaRPr lang="en-US" sz="3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EC111D-2696-43E1-BF67-2E25035E38DC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B1FDBE1-9B40-4F1C-A5A1-5AB40B13B3A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07D134-0280-41ED-A147-9DF1CC9B2A6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36</a:t>
            </a:fld>
            <a:endParaRPr lang="en-US" dirty="0">
              <a:latin typeface="+mn-lt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91442BE-D279-47B8-BEC6-40EFEBE2A1F1}"/>
              </a:ext>
            </a:extLst>
          </p:cNvPr>
          <p:cNvSpPr txBox="1">
            <a:spLocks/>
          </p:cNvSpPr>
          <p:nvPr/>
        </p:nvSpPr>
        <p:spPr>
          <a:xfrm>
            <a:off x="855980" y="1866375"/>
            <a:ext cx="10015820" cy="1506327"/>
          </a:xfrm>
          <a:prstGeom prst="rect">
            <a:avLst/>
          </a:prstGeom>
        </p:spPr>
        <p:txBody>
          <a:bodyPr vert="horz" lIns="0" tIns="457200" rIns="0" bIns="0" rtlCol="0" anchor="ctr">
            <a:normAutofit fontScale="25000" lnSpcReduction="20000"/>
          </a:bodyPr>
          <a:lstStyle>
            <a:lvl1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빅데이터의 탐험 도구로 활용하려는 </a:t>
            </a:r>
            <a:r>
              <a:rPr lang="ko-KR" altLang="en-US" sz="96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파이썬의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특징과 설치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96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96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빅데이터분석과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처리와 분석을 위해 필요한 라이브러리들과 설치방법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언어 사용법과 시각화 기술에 대해서 알아봅니다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974762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algn="just" fontAlgn="base" latinLnBrk="1">
              <a:lnSpc>
                <a:spcPct val="100000"/>
              </a:lnSpc>
            </a:pPr>
            <a:r>
              <a:rPr lang="en-US" altLang="ko-KR" sz="3000" b="0" dirty="0">
                <a:latin typeface="한컴 고딕" panose="02000500000000000000" pitchFamily="2" charset="-127"/>
              </a:rPr>
              <a:t>2.3.2 </a:t>
            </a:r>
            <a:r>
              <a:rPr lang="ko-KR" altLang="en-US" sz="3000" b="0" dirty="0">
                <a:latin typeface="한컴 고딕" panose="02000500000000000000" pitchFamily="2" charset="-127"/>
              </a:rPr>
              <a:t>데이터의 특성을 숫자로 요약하는 방법들</a:t>
            </a:r>
            <a:endParaRPr lang="en-US" altLang="ko-KR" sz="3000" b="0" dirty="0">
              <a:latin typeface="한컴 고딕" panose="02000500000000000000" pitchFamily="2" charset="-127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37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2CE7FB70-7158-4C1A-BBCB-74852AA06B6F}"/>
              </a:ext>
            </a:extLst>
          </p:cNvPr>
          <p:cNvSpPr txBox="1">
            <a:spLocks/>
          </p:cNvSpPr>
          <p:nvPr/>
        </p:nvSpPr>
        <p:spPr>
          <a:xfrm>
            <a:off x="484177" y="1280971"/>
            <a:ext cx="11139976" cy="45605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데이터에 대해서 그 데이터의 특징이나 성격을 잘 표현해 줄 수 있는 대표적인 것에 관심을 둔다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관심의 대상은 데이터의 중심위치와 데이터들이 흩어져 있는 정도를 나타내는 것으로 요약할 수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데이터를 대표하는 값을 대푯값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(representative value)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이라 하며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데이터의 중심위치를 나타내는 값이 그 데이터를 대표한다고 보고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평균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중앙값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최빈수 등을 사용한다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데이터들이 흩어진 정도를 산포도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(measure of dispersion)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 하고 범위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표준편차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사분위편차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등을 산포도의 지표로 사용합니다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따라서 데이터의 요약은 데이터의 중심위치와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산포도를 나타내는 것이다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중심위치를 나타내는 대푯값 </a:t>
            </a: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흩어진 정도를 나타내는 산포도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31310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>
                <a:latin typeface="한컴 고딕" panose="02000500000000000000" pitchFamily="2" charset="-127"/>
              </a:rPr>
              <a:t>1. </a:t>
            </a:r>
            <a:r>
              <a:rPr lang="ko-KR" altLang="en-US" dirty="0">
                <a:latin typeface="한컴 고딕" panose="02000500000000000000" pitchFamily="2" charset="-127"/>
              </a:rPr>
              <a:t>중심위치를 나타내는 대푯값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38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80971"/>
            <a:ext cx="11139976" cy="26999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■ </a:t>
            </a:r>
            <a:r>
              <a:rPr lang="ko-KR" altLang="en-US" sz="2200" b="0" dirty="0">
                <a:solidFill>
                  <a:schemeClr val="tx1"/>
                </a:solidFill>
                <a:highlight>
                  <a:srgbClr val="0000FF"/>
                </a:highlight>
                <a:latin typeface="한컴 고딕" panose="02000500000000000000" pitchFamily="2" charset="-127"/>
                <a:ea typeface="한컴 고딕" panose="02000500000000000000" pitchFamily="2" charset="-127"/>
              </a:rPr>
              <a:t>평균</a:t>
            </a:r>
            <a:endParaRPr lang="en-US" altLang="ko-KR" sz="2200" b="0" dirty="0">
              <a:solidFill>
                <a:schemeClr val="tx1"/>
              </a:solidFill>
              <a:highlight>
                <a:srgbClr val="0000FF"/>
              </a:highligh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ko-KR" altLang="en-US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평균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(mean)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가장 많이 사용하는 대푯값으로서 수식과 같이 모든 데이터의 합을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데이터의 개수로 나누어 계산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평균은 모든 데이터를 고려하여 계산된 값이므로 데이터에 극단적인 값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특이값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포함될 경우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 값으로 인해 평균이 왜곡되는 경향이 있으며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경우에는 대푯값으로 중앙값을 사용하는 것이 좋다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B11C71-D39F-45E7-B0A1-7ECE70AA0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825" y="4284542"/>
            <a:ext cx="5938324" cy="108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3015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>
                <a:latin typeface="한컴 고딕" panose="02000500000000000000" pitchFamily="2" charset="-127"/>
              </a:rPr>
              <a:t>1. </a:t>
            </a:r>
            <a:r>
              <a:rPr lang="ko-KR" altLang="en-US" dirty="0">
                <a:latin typeface="한컴 고딕" panose="02000500000000000000" pitchFamily="2" charset="-127"/>
              </a:rPr>
              <a:t>중심위치를 나타내는 대푯값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39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80971"/>
            <a:ext cx="11139976" cy="505124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■ 중앙값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ko-KR" altLang="en-US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중앙값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(median)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데이터를 크기 순서대로 나열할 때 가운데 위치하는 값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중앙값은 데이터의 개수가 홀수인 경우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가운데 위치하는 유일한 값으로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짝수일 경우에는 가운데 인접한 두 값의 평균으로 계산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중앙값은 평균과는 달리 극단적인 값에 영향을 받지 않는 장점이 있지만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데이터를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순서대로 나열했을 때 가운데 위치하는 한 개 또는 두 개의 값으로만 계산된다는 단점이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B4B9DEE-893C-4F24-A6CF-CC8EAE337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366" y="3345872"/>
            <a:ext cx="6495907" cy="184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0560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>
                <a:latin typeface="한컴 고딕" panose="02000500000000000000" pitchFamily="2" charset="-127"/>
              </a:rPr>
              <a:t>1. </a:t>
            </a:r>
            <a:r>
              <a:rPr lang="ko-KR" altLang="en-US" dirty="0">
                <a:latin typeface="한컴 고딕" panose="02000500000000000000" pitchFamily="2" charset="-127"/>
              </a:rPr>
              <a:t>중심위치를 나타내는 대푯값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40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80971"/>
            <a:ext cx="11139976" cy="44825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■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최빈값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ko-KR" altLang="en-US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최빈값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(mode)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데이터 중에 가장 많이 관찰된 값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즉 가장 자주 나타난 숫자를 말한다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예를 들어 학생들에게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부터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9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까지의 숫자 중에서 가장 좋아하는 숫자를 조사했을 때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평균이나 중앙값으로 대푯값을 계산하는 것이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바람직한가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경우에는 가장 많이 선택한 숫자인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최빈값을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대푯값으로 정하는 것이 좋다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평균과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중앙값은 유일하게 계산되지만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최빈값은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경우에 따라 존재하지 않을 수도 있고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두 개 이상이 될 수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169483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>
                <a:latin typeface="한컴 고딕" panose="02000500000000000000" pitchFamily="2" charset="-127"/>
              </a:rPr>
              <a:t>&lt;</a:t>
            </a:r>
            <a:r>
              <a:rPr lang="ko-KR" altLang="en-US" sz="3000" dirty="0">
                <a:latin typeface="한컴 고딕" panose="02000500000000000000" pitchFamily="2" charset="-127"/>
              </a:rPr>
              <a:t>예제 </a:t>
            </a:r>
            <a:r>
              <a:rPr lang="en-US" altLang="ko-KR" sz="3000" dirty="0">
                <a:latin typeface="한컴 고딕" panose="02000500000000000000" pitchFamily="2" charset="-127"/>
              </a:rPr>
              <a:t>2-15&gt; </a:t>
            </a:r>
            <a:r>
              <a:rPr lang="ko-KR" altLang="en-US" sz="3000" dirty="0">
                <a:latin typeface="한컴 고딕" panose="02000500000000000000" pitchFamily="2" charset="-127"/>
              </a:rPr>
              <a:t>중학교 남학생들의 몸무게에 대한 대푯값 출력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41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5734010" y="1237874"/>
            <a:ext cx="6365627" cy="51191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학생 건강검사 자료 중에서 중학교 남학생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(4,933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명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몸무게를 사용하여 대푯값을 계산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read_excel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통해 읽어 들인 데이터는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Excel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형식과 같은 행과 열로 만들어진 데이터프레임 구조를 가지므로 배열 데이터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np.array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대해 평균을 계산할 때 함수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np.average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또는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np.mean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사용할 수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중앙값의 계산은 각각 함수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np.median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사용하였고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최빈값의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경우에는 두가지 방법 즉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np.unique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stats.mode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사용할 수 있지만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np.unique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보다는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stats.mode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사용하는 것이 편리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9740D2-0880-4A00-B2C4-003F352F0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60" y="1237874"/>
            <a:ext cx="5353050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2674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>
                <a:latin typeface="한컴 고딕" panose="02000500000000000000" pitchFamily="2" charset="-127"/>
              </a:rPr>
              <a:t>2. </a:t>
            </a:r>
            <a:r>
              <a:rPr lang="ko-KR" altLang="en-US" dirty="0">
                <a:latin typeface="한컴 고딕" panose="02000500000000000000" pitchFamily="2" charset="-127"/>
              </a:rPr>
              <a:t>흩어진 정도를 나타내는 산포도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42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170140"/>
            <a:ext cx="11139976" cy="30601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대푯값과 더불어 데이터의 특성을 파악하기 위해서 데이터들이 대푯값을 중심으로 흩어져 있는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정도를 나타내는데 이를 산포도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(measure of dispersion)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 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산포도는 그 값이 작을수록 데이터들이 중심위치에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몰려있으며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클수록 데이터들이 중심위치로부터 멀리 흩어져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예를 들어 성적 점수를 이용하여 두 반의 특성을 파악하거나 비교하고자 할 때 점수의 평균이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같다고 해서 두 반의 특성이 동일하다고 판단할 수 없다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아래의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A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반과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B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반의 평균은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모두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70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동일하지만 데이터의 전체적인 윤곽을 나타내는 히스토그램을 비교해보면 차이가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있음을 알 수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BCD087-3052-4AC9-803E-285649AF7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439" y="4000500"/>
            <a:ext cx="672465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2592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>
                <a:latin typeface="한컴 고딕" panose="02000500000000000000" pitchFamily="2" charset="-127"/>
              </a:rPr>
              <a:t>2. </a:t>
            </a:r>
            <a:r>
              <a:rPr lang="ko-KR" altLang="en-US" dirty="0">
                <a:latin typeface="한컴 고딕" panose="02000500000000000000" pitchFamily="2" charset="-127"/>
              </a:rPr>
              <a:t>흩어진 정도를 나타내는 산포도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43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25556"/>
            <a:ext cx="11139976" cy="30601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■ 범위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(range)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범위는 데이터의 최댓값과 최솟값의 차이로써 데이터가 퍼져 있는 정도를 나타내는 가장 간단한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방법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범위가 넓을수록 산포가 크다고 말할 수 있지만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범위는 중앙값과 마찬가지로 극단적인 값에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영향을 받고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 중에서 오직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개의 정보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최댓값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최솟값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만을 이용하므로 적절한 척도로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사용하기가 어렵다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7AA9D6-794E-4128-B97E-E1C8E698B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794" y="3821401"/>
            <a:ext cx="4943765" cy="81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2636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>
                <a:latin typeface="한컴 고딕" panose="02000500000000000000" pitchFamily="2" charset="-127"/>
              </a:rPr>
              <a:t>2. </a:t>
            </a:r>
            <a:r>
              <a:rPr lang="ko-KR" altLang="en-US" dirty="0">
                <a:latin typeface="한컴 고딕" panose="02000500000000000000" pitchFamily="2" charset="-127"/>
              </a:rPr>
              <a:t>흩어진 정도를 나타내는 산포도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44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25556"/>
            <a:ext cx="11139976" cy="436244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■ 사분위수 편차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(quartile deviation)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 편차는 범위의 문제점을 보완한 척도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 편차를 계산하기 위해서 먼저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사분위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범위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(interquartile range)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계산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사분위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범위는 데이터를 크기 순서로 나열한 다음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전체 개수를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등분할 때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첫 번째 사분위수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(:1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25%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지점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세 번째 사분위수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(:3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75%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지점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차이를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말하며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 편차는 이 값을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나눈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사분위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범위의 평균값이다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 편차는 중앙값과 마찬가지로 데이터에 포함된 극단적인 값의 영향을 감소시키는 장점이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상자 도형을 작성하는데 사분위수와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-(IQR,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InterQuartile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Range)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사용하였다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015AE7-08AA-4EBE-9F5F-676095615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56622"/>
            <a:ext cx="5252268" cy="875378"/>
          </a:xfrm>
          <a:prstGeom prst="rect">
            <a:avLst/>
          </a:prstGeom>
        </p:spPr>
      </p:pic>
      <p:pic>
        <p:nvPicPr>
          <p:cNvPr id="8" name="Picture 0">
            <a:extLst>
              <a:ext uri="{FF2B5EF4-FFF2-40B4-BE49-F238E27FC236}">
                <a16:creationId xmlns:a16="http://schemas.microsoft.com/office/drawing/2014/main" id="{05F2E64D-A6FA-480C-879D-EEBDC0B28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2230" y="4910301"/>
            <a:ext cx="3699807" cy="166957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669343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>
                <a:latin typeface="한컴 고딕" panose="02000500000000000000" pitchFamily="2" charset="-127"/>
              </a:rPr>
              <a:t>2. </a:t>
            </a:r>
            <a:r>
              <a:rPr lang="ko-KR" altLang="en-US" dirty="0">
                <a:latin typeface="한컴 고딕" panose="02000500000000000000" pitchFamily="2" charset="-127"/>
              </a:rPr>
              <a:t>흩어진 정도를 나타내는 산포도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45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25556"/>
            <a:ext cx="11139976" cy="30601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■ 분산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(variance)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표준편차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(standard deviation)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분산은 산포도의 척도로써 가장 널리 사용되는 방법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분산은 데이터가 퍼져 있는 정도의 기준으로 평균을 사용하며 계산 방법은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각 데이터와 평균과의 차이를 제곱하여 합한 값의 평균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40B32B-115A-403A-8FDB-29F401B6E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728" y="3358582"/>
            <a:ext cx="4202299" cy="16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7027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>
                <a:latin typeface="한컴 고딕" panose="02000500000000000000" pitchFamily="2" charset="-127"/>
              </a:rPr>
              <a:t>2. </a:t>
            </a:r>
            <a:r>
              <a:rPr lang="ko-KR" altLang="en-US" dirty="0">
                <a:latin typeface="한컴 고딕" panose="02000500000000000000" pitchFamily="2" charset="-127"/>
              </a:rPr>
              <a:t>흩어진 정도를 나타내는 산포도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46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25556"/>
            <a:ext cx="11139976" cy="337243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■ 분산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(variance)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표준편차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(standard deviation)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분산을 계산할 때 데이터가 모집단 전체일 경우에는 데이터의 개수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(n)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나누어 주고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표본일 경우에는 위의 식과 같이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(n-1)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나누어 준다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이렇게 계산하는 이유는 표본의 경우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n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나누어주는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것보다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(n-1)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나누어 주는 것이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더 좋은 척도가 되기 때문인데 표본의 크기가 큰 경우에는 별 차이가 없다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표준편차는 분산의 제곱근으로 계산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표준편차는 산포도를 나타내는 데 있어서 평균을 중심으로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일정한 거리에 포함된 데이터의 비율이 얼마인가를 계산할 때 사용되는 척도이며 단위를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사용할 수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40B32B-115A-403A-8FDB-29F401B6E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691" y="4666220"/>
            <a:ext cx="4202299" cy="16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98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>
                <a:latin typeface="한컴 고딕" panose="02000500000000000000" pitchFamily="2" charset="-127"/>
              </a:rPr>
              <a:t>2. </a:t>
            </a:r>
            <a:r>
              <a:rPr lang="ko-KR" altLang="en-US" dirty="0">
                <a:latin typeface="한컴 고딕" panose="02000500000000000000" pitchFamily="2" charset="-127"/>
              </a:rPr>
              <a:t>흩어진 정도를 나타내는 산포도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47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25556"/>
            <a:ext cx="11139976" cy="337243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■ 분산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(variance)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표준편차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(standard deviation)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분산과 표준편차는 모든 데이터를 고려한 척도이며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모든 데이터가 같은 값을 갖는다면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분산과 표준편차는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0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계산된다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분산과 표준편차는 모든 데이터에 동일한 값을 더해 주거나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빼주어도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변하지 않는다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모든 데이터에 동일한 값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(C)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곱하면 다음과 같이 분산은 분산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×C</a:t>
            </a:r>
            <a:r>
              <a:rPr lang="en-US" altLang="ko-KR" sz="2000" b="0" baseline="30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커지고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표준편차는 표준편차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×C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만큼 커진다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CD47A0DA-35C4-4A78-8FE8-DE385E649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182" y="3564465"/>
            <a:ext cx="4033856" cy="301540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2973984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>
                <a:latin typeface="한컴 고딕" panose="02000500000000000000" pitchFamily="2" charset="-127"/>
              </a:rPr>
              <a:t>&lt;</a:t>
            </a:r>
            <a:r>
              <a:rPr lang="ko-KR" altLang="en-US" sz="3000" dirty="0">
                <a:latin typeface="한컴 고딕" panose="02000500000000000000" pitchFamily="2" charset="-127"/>
              </a:rPr>
              <a:t>예제 </a:t>
            </a:r>
            <a:r>
              <a:rPr lang="en-US" altLang="ko-KR" sz="3000" dirty="0">
                <a:latin typeface="한컴 고딕" panose="02000500000000000000" pitchFamily="2" charset="-127"/>
              </a:rPr>
              <a:t>2-16&gt; </a:t>
            </a:r>
            <a:r>
              <a:rPr lang="ko-KR" altLang="en-US" sz="3000" dirty="0">
                <a:latin typeface="한컴 고딕" panose="02000500000000000000" pitchFamily="2" charset="-127"/>
              </a:rPr>
              <a:t>산포도 출력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48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6406365" y="1644664"/>
            <a:ext cx="5284934" cy="26620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학생 건강검사 자료 중에서 고등학교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남학생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500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명의 신장과 몸무게 표본 데이터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각 변수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외식종류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대해 범위는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최댓값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최솟값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np.max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(data)-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np.min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(data))  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계산하고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분산과 표준편차는 각각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np.var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(data)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np.std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(data)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계산하며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출력 결과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참고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2C293F0-C765-4942-91A5-FC989EA0B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17" y="1302529"/>
            <a:ext cx="5934075" cy="36766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50E1036-163A-419E-809D-DBCB0236C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364" y="4637044"/>
            <a:ext cx="5059862" cy="203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4495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>
                <a:latin typeface="한컴 고딕" panose="02000500000000000000" pitchFamily="2" charset="-127"/>
              </a:rPr>
              <a:t>3. </a:t>
            </a:r>
            <a:r>
              <a:rPr lang="ko-KR" altLang="en-US" sz="3000" dirty="0">
                <a:latin typeface="한컴 고딕" panose="02000500000000000000" pitchFamily="2" charset="-127"/>
              </a:rPr>
              <a:t>대푯값과 </a:t>
            </a:r>
            <a:r>
              <a:rPr lang="ko-KR" altLang="en-US" sz="3000" dirty="0" err="1">
                <a:latin typeface="한컴 고딕" panose="02000500000000000000" pitchFamily="2" charset="-127"/>
              </a:rPr>
              <a:t>산점도를</a:t>
            </a:r>
            <a:r>
              <a:rPr lang="ko-KR" altLang="en-US" sz="3000" dirty="0">
                <a:latin typeface="한컴 고딕" panose="02000500000000000000" pitchFamily="2" charset="-127"/>
              </a:rPr>
              <a:t> 한 번에 모두 나타내기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49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594360" y="1358335"/>
            <a:ext cx="11067704" cy="29923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대푯값과 산포도를 한 번에 나타내기 위하여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pandas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메소드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describe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stats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모듈의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describe()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각각에서 계산하여 출력하는 내용을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OX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정리하면 다음과 같다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5375635-8014-4026-9527-E6CBC1E5D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339" y="2600903"/>
            <a:ext cx="6200775" cy="42386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C6AC3242-361D-C3C2-D6E1-C5C32B755D9D}"/>
                  </a:ext>
                </a:extLst>
              </p14:cNvPr>
              <p14:cNvContentPartPr/>
              <p14:nvPr/>
            </p14:nvContentPartPr>
            <p14:xfrm>
              <a:off x="219960" y="2150640"/>
              <a:ext cx="11058840" cy="397224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C6AC3242-361D-C3C2-D6E1-C5C32B755D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0600" y="2141280"/>
                <a:ext cx="11077560" cy="399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26881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>
                <a:latin typeface="한컴 고딕" panose="02000500000000000000" pitchFamily="2" charset="-127"/>
              </a:rPr>
              <a:t>&lt;</a:t>
            </a:r>
            <a:r>
              <a:rPr lang="ko-KR" altLang="en-US" sz="3000" dirty="0">
                <a:latin typeface="한컴 고딕" panose="02000500000000000000" pitchFamily="2" charset="-127"/>
              </a:rPr>
              <a:t>예제 </a:t>
            </a:r>
            <a:r>
              <a:rPr lang="en-US" altLang="ko-KR" sz="3000" dirty="0">
                <a:latin typeface="한컴 고딕" panose="02000500000000000000" pitchFamily="2" charset="-127"/>
              </a:rPr>
              <a:t>2-17&gt; </a:t>
            </a:r>
            <a:r>
              <a:rPr lang="ko-KR" altLang="en-US" sz="3000" dirty="0">
                <a:latin typeface="한컴 고딕" panose="02000500000000000000" pitchFamily="2" charset="-127"/>
              </a:rPr>
              <a:t>대푯값과 산포도 모두 출력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50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6651147" y="1644663"/>
            <a:ext cx="5393071" cy="29923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앞에서 사용한 고등학생의 키와 몸무게 데이터에 대해 대푯값과 산포도를 출력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328C33A-A1DE-4CC4-811D-E50BD093A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19" y="1455966"/>
            <a:ext cx="5773881" cy="336977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27A0184-5FA2-49ED-9B27-E0217CB38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147" y="3041360"/>
            <a:ext cx="5312399" cy="319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5841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>
                <a:latin typeface="한컴 고딕" panose="02000500000000000000" pitchFamily="2" charset="-127"/>
              </a:rPr>
              <a:t>[</a:t>
            </a:r>
            <a:r>
              <a:rPr lang="ko-KR" altLang="en-US" dirty="0">
                <a:latin typeface="한컴 고딕" panose="02000500000000000000" pitchFamily="2" charset="-127"/>
              </a:rPr>
              <a:t>참고 </a:t>
            </a:r>
            <a:r>
              <a:rPr lang="en-US" altLang="ko-KR" dirty="0">
                <a:latin typeface="한컴 고딕" panose="02000500000000000000" pitchFamily="2" charset="-127"/>
              </a:rPr>
              <a:t>5] </a:t>
            </a:r>
            <a:r>
              <a:rPr lang="ko-KR" altLang="en-US" dirty="0">
                <a:latin typeface="한컴 고딕" panose="02000500000000000000" pitchFamily="2" charset="-127"/>
              </a:rPr>
              <a:t>로또와 당첨확률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51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25556"/>
            <a:ext cx="11139976" cy="1582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■ 로또는 얼마나 팔리는가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우리나라에서 판매된 온라인 복권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로또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년도별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그래프 </a:t>
            </a: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2011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년에는 총 판매액이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28,000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억원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회차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평균액은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531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억에 비해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2023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년 총판매액은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56,500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억원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회차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평균액은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1,086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억으로 두배 정도 증가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71F1CBD-0515-49AD-828E-4DCC4F5A6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072" y="2880974"/>
            <a:ext cx="7126947" cy="3615769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850518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>
                <a:latin typeface="한컴 고딕" panose="02000500000000000000" pitchFamily="2" charset="-127"/>
              </a:rPr>
              <a:t>[</a:t>
            </a:r>
            <a:r>
              <a:rPr lang="ko-KR" altLang="en-US" dirty="0">
                <a:latin typeface="한컴 고딕" panose="02000500000000000000" pitchFamily="2" charset="-127"/>
              </a:rPr>
              <a:t>참고 </a:t>
            </a:r>
            <a:r>
              <a:rPr lang="en-US" altLang="ko-KR" dirty="0">
                <a:latin typeface="한컴 고딕" panose="02000500000000000000" pitchFamily="2" charset="-127"/>
              </a:rPr>
              <a:t>5] </a:t>
            </a:r>
            <a:r>
              <a:rPr lang="ko-KR" altLang="en-US" dirty="0">
                <a:latin typeface="한컴 고딕" panose="02000500000000000000" pitchFamily="2" charset="-127"/>
              </a:rPr>
              <a:t>로또와 당첨확률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52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25556"/>
            <a:ext cx="11139976" cy="18963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■ 로또는 얼마나 팔리는가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2022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년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월에 있었던 제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20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대 대통령선거에서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20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대 이상의 유권자수는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43,187,964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명으로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모든 유권자가 온라인복권을 구매했다고 가정한다면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2022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년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회차평균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판매액을 기준으로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인당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2,400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원 이상을 구매한 것이며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만약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인당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10,000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원의 온라인복권을 구매했다고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가정한다면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10,410,600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명이 복권을 구매한 것으로 예상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6405D8-FBFE-42EF-880E-8406F550B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500" y="3250679"/>
            <a:ext cx="7646400" cy="332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3175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>
                <a:latin typeface="한컴 고딕" panose="02000500000000000000" pitchFamily="2" charset="-127"/>
              </a:rPr>
              <a:t>[</a:t>
            </a:r>
            <a:r>
              <a:rPr lang="ko-KR" altLang="en-US" dirty="0">
                <a:latin typeface="한컴 고딕" panose="02000500000000000000" pitchFamily="2" charset="-127"/>
              </a:rPr>
              <a:t>참고 </a:t>
            </a:r>
            <a:r>
              <a:rPr lang="en-US" altLang="ko-KR" dirty="0">
                <a:latin typeface="한컴 고딕" panose="02000500000000000000" pitchFamily="2" charset="-127"/>
              </a:rPr>
              <a:t>5] </a:t>
            </a:r>
            <a:r>
              <a:rPr lang="ko-KR" altLang="en-US" dirty="0">
                <a:latin typeface="한컴 고딕" panose="02000500000000000000" pitchFamily="2" charset="-127"/>
              </a:rPr>
              <a:t>로또와 당첨확률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53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0036A8-F9E5-4B6C-8BEF-681F24390CB2}"/>
              </a:ext>
            </a:extLst>
          </p:cNvPr>
          <p:cNvSpPr txBox="1">
            <a:spLocks/>
          </p:cNvSpPr>
          <p:nvPr/>
        </p:nvSpPr>
        <p:spPr>
          <a:xfrm>
            <a:off x="484177" y="1225556"/>
            <a:ext cx="11139976" cy="23027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■ 로또의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등 당첨확률은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로또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(lotto)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부터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45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까지 번호가 있는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45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개의 공을 추첨기기에 넣고 돌려서 순서대로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추출한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개의 공의 숫자를 당첨번호로 하는 복권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로또는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부터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45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까지 숫자 중에서 중복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없이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개를 선택하는 것이므로 모든 경우의 수는 조합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(combination)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이용하여 계산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각 등수별로 계산된 경우의 수를 전체 경우의 수인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8,145,060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나눠주면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등수별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확률을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계산할 수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6082444-22FD-429F-B9A6-889831C34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119" y="710045"/>
            <a:ext cx="3845534" cy="8416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F92E1C3-3A7A-47CA-927B-F8FD0C616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278" y="3201468"/>
            <a:ext cx="681037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110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>
                <a:latin typeface="한컴 고딕" panose="02000500000000000000" pitchFamily="2" charset="-127"/>
              </a:rPr>
              <a:t>[</a:t>
            </a:r>
            <a:r>
              <a:rPr lang="ko-KR" altLang="en-US" dirty="0">
                <a:latin typeface="한컴 고딕" panose="02000500000000000000" pitchFamily="2" charset="-127"/>
              </a:rPr>
              <a:t>참고 </a:t>
            </a:r>
            <a:r>
              <a:rPr lang="en-US" altLang="ko-KR" dirty="0">
                <a:latin typeface="한컴 고딕" panose="02000500000000000000" pitchFamily="2" charset="-127"/>
              </a:rPr>
              <a:t>5] </a:t>
            </a:r>
            <a:r>
              <a:rPr lang="ko-KR" altLang="en-US" dirty="0">
                <a:latin typeface="한컴 고딕" panose="02000500000000000000" pitchFamily="2" charset="-127"/>
              </a:rPr>
              <a:t>로또와 당첨확률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54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6082444-22FD-429F-B9A6-889831C34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230" y="1551709"/>
            <a:ext cx="3845534" cy="84166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9112AE1-1037-40FE-B614-813068DC2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01" y="1551709"/>
            <a:ext cx="4200525" cy="45529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B758E84-3B22-4A1C-A614-5A80F2B1A2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0084" y="3142384"/>
            <a:ext cx="6800850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7468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데이터의 요약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55</a:t>
            </a:fld>
            <a:endParaRPr lang="en-US" dirty="0">
              <a:latin typeface="+mn-l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BE70ADD-9173-4C23-81B6-94C3117603FF}"/>
              </a:ext>
            </a:extLst>
          </p:cNvPr>
          <p:cNvSpPr txBox="1">
            <a:spLocks/>
          </p:cNvSpPr>
          <p:nvPr/>
        </p:nvSpPr>
        <p:spPr>
          <a:xfrm>
            <a:off x="594360" y="1616927"/>
            <a:ext cx="11359411" cy="24867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데이터의 요약은 데이터의 성질이나 특징을 대표적인 수치로 표현하는 방법으로서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요약의 대상으로 데이터의 중심위치가 어디인가를 나타내는 수치를 대푯값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(representative value)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이라 하고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데이터들이 대푯값을 기준으로 얼마나 흩어져 있는가를 나타내는 것을 산포도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(measure of dispersion)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 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13545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데이터의 요약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56</a:t>
            </a:fld>
            <a:endParaRPr lang="en-US" dirty="0">
              <a:latin typeface="+mn-l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BE70ADD-9173-4C23-81B6-94C3117603FF}"/>
              </a:ext>
            </a:extLst>
          </p:cNvPr>
          <p:cNvSpPr txBox="1">
            <a:spLocks/>
          </p:cNvSpPr>
          <p:nvPr/>
        </p:nvSpPr>
        <p:spPr>
          <a:xfrm>
            <a:off x="594361" y="1219762"/>
            <a:ext cx="11134796" cy="48208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■ 대푯값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평균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(mean)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평균은 가장 많이 사용되는 대푯값으로서 아래의 수식과 같이 모든 데이터의 합을 데이터의 개수로 나눈 값을 말하며 통계분석에서 가장 많이 사용된다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평균은 모든 데이터를 고려하므로 데이터에 극단적인 값이 포함될 경우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 값으로 인해 평균이 왜곡되는 경향이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중앙값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(median)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중앙값은 데이터를 크기 순서대로 나열할 때 가운데 위치하는 숫자를 말한다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데이터의 개수가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홀수일 때는 가운데 위치하는 유일한 숫자를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짝수일 경우에는 가운데 위치하는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개의 평균값을 이용한다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중앙값은 평균과는 달리 극단적인 값에 영향을 받지 않는 장점이 있지만 가운데 위치하는 한 개 또는 두 개의 데이터만으로 계산된다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최빈값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(mode)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데이터 중에 가장 많이 관찰된 값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즉 가장 자주 나타난 숫자를 말한다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평균과 중앙값은 유일하게 계산되지만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최빈값은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경우에 따라 존재하지 않을 수도 있고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두 개 이상이 될 수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286405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데이터의 요약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57</a:t>
            </a:fld>
            <a:endParaRPr lang="en-US" dirty="0">
              <a:latin typeface="+mn-l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BE70ADD-9173-4C23-81B6-94C3117603FF}"/>
              </a:ext>
            </a:extLst>
          </p:cNvPr>
          <p:cNvSpPr txBox="1">
            <a:spLocks/>
          </p:cNvSpPr>
          <p:nvPr/>
        </p:nvSpPr>
        <p:spPr>
          <a:xfrm>
            <a:off x="594360" y="1219762"/>
            <a:ext cx="11359411" cy="44790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■ 산포도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ko-KR" altLang="en-US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 편차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(quartile deviation)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 편차는 범위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최댓값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최솟값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문제점을 보완한 척도이다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 편차를 계산하기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위해서 먼저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사분위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범위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(interquartile range)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계산해야 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사분위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범위는 데이터를 크기 순서로 나열한 다음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개수로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등분할 때 첫 번째 사분위수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(:1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25%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지점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세 번째 사분위수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(:3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75%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지점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차이를 말하며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사분위수 편차는 이 값을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나눈 값으로써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사분위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범위의 평균값이다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(variance)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표준편차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(standard deviation)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분산과 표준편차는 산포도의 척도로써 가장 널리 사용되는 방법으로 통계학에서는 분산 보다도 표준편차를 더 많이 사용한다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분산은 각 데이터와 평균과의 차이를 제곱하여 합한 값의 평균이며 표준편차는 분산의 양의 제곱근이다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96929A-C2D2-4331-871B-2E12B94AD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372" y="953422"/>
            <a:ext cx="5252268" cy="8753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B0A32CF-2E28-4253-A49E-DF8432EC0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957" y="5121564"/>
            <a:ext cx="3512418" cy="139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860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데이터의 요약내용 출력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58</a:t>
            </a:fld>
            <a:endParaRPr lang="en-US" dirty="0">
              <a:latin typeface="+mn-l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BE70ADD-9173-4C23-81B6-94C3117603FF}"/>
              </a:ext>
            </a:extLst>
          </p:cNvPr>
          <p:cNvSpPr txBox="1">
            <a:spLocks/>
          </p:cNvSpPr>
          <p:nvPr/>
        </p:nvSpPr>
        <p:spPr>
          <a:xfrm>
            <a:off x="594360" y="1219762"/>
            <a:ext cx="11359411" cy="7734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대푯값과 산포도를 한 번에 나타내기 위하여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pandas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메소드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describe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stats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모듈의 함수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describe()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C3517F4-640B-4742-8CC7-1D07551AB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84" y="2062180"/>
            <a:ext cx="5773881" cy="336977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C4EE1E5-CDE8-4710-BB9E-679EFE439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988" y="2568891"/>
            <a:ext cx="5049517" cy="345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1617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0" rIns="0" bIns="0" rtlCol="0" anchor="ctr" anchorCtr="0">
        <a:noAutofit/>
      </a:bodyPr>
      <a:lstStyle>
        <a:defPPr algn="l" fontAlgn="base" latinLnBrk="1">
          <a:lnSpc>
            <a:spcPct val="100000"/>
          </a:lnSpc>
          <a:defRPr sz="2800" b="0" dirty="0" smtClean="0">
            <a:latin typeface="한컴 고딕" panose="02000500000000000000" pitchFamily="2" charset="-127"/>
            <a:ea typeface="한컴 고딕" panose="020005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0FE134-9032-4C7F-BC57-C7DE3F833363}">
  <ds:schemaRefs>
    <ds:schemaRef ds:uri="http://schemas.microsoft.com/office/2006/documentManagement/types"/>
    <ds:schemaRef ds:uri="16c05727-aa75-4e4a-9b5f-8a80a1165891"/>
    <ds:schemaRef ds:uri="http://purl.org/dc/dcmitype/"/>
    <ds:schemaRef ds:uri="http://schemas.openxmlformats.org/package/2006/metadata/core-properties"/>
    <ds:schemaRef ds:uri="http://www.w3.org/XML/1998/namespace"/>
    <ds:schemaRef ds:uri="http://purl.org/dc/elements/1.1/"/>
    <ds:schemaRef ds:uri="71af3243-3dd4-4a8d-8c0d-dd76da1f02a5"/>
    <ds:schemaRef ds:uri="http://schemas.microsoft.com/office/infopath/2007/PartnerControls"/>
    <ds:schemaRef ds:uri="230e9df3-be65-4c73-a93b-d1236ebd677e"/>
    <ds:schemaRef ds:uri="http://schemas.microsoft.com/sharepoint/v3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3410</Words>
  <Application>Microsoft Office PowerPoint</Application>
  <PresentationFormat>와이드스크린</PresentationFormat>
  <Paragraphs>561</Paragraphs>
  <Slides>58</Slides>
  <Notes>58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5" baseType="lpstr">
      <vt:lpstr>(한글 글꼴 사용)</vt:lpstr>
      <vt:lpstr>한컴 고딕</vt:lpstr>
      <vt:lpstr>Arial</vt:lpstr>
      <vt:lpstr>Calibri</vt:lpstr>
      <vt:lpstr>Franklin Gothic Book</vt:lpstr>
      <vt:lpstr>Franklin Gothic Demi</vt:lpstr>
      <vt:lpstr>Custom</vt:lpstr>
      <vt:lpstr>빅데이터 분석 개론</vt:lpstr>
      <vt:lpstr>강의내용</vt:lpstr>
      <vt:lpstr>2.3 데이터 시각화와 요약 </vt:lpstr>
      <vt:lpstr>2.3.1 그래프를 통하여 데이터의 특성을 나타내는 방법들</vt:lpstr>
      <vt:lpstr>2.3.1 그래프를 통하여 데이터의 특성을 나타내는 방법들</vt:lpstr>
      <vt:lpstr>2.3.1 그래프를 통하여 데이터의 특성을 나타내는 방법들</vt:lpstr>
      <vt:lpstr>2.3.1 그래프를 통하여 데이터의 특성을 나타내는 방법들</vt:lpstr>
      <vt:lpstr>2.3.1 그래프를 통하여 데이터의 특성을 나타내는 방법들</vt:lpstr>
      <vt:lpstr>2.3.1 그래프를 통하여 데이터의 특성을 나타내는 방법들</vt:lpstr>
      <vt:lpstr>&lt;예제 2-8&gt; 히스토그램 작성</vt:lpstr>
      <vt:lpstr>&lt;예제 2-8&gt; 히스토그램 작성</vt:lpstr>
      <vt:lpstr>2.3.1 그래프를 통하여 데이터의 특성을 나타내는 방법들</vt:lpstr>
      <vt:lpstr>&lt;예제 2-9&gt; 가로와 세로 막대그래프 작성</vt:lpstr>
      <vt:lpstr>&lt;예제 2-9&gt; 가로와 세로 막대그래프 작성</vt:lpstr>
      <vt:lpstr>2.3.1 그래프를 통하여 데이터의 특성을 나타내는 방법들</vt:lpstr>
      <vt:lpstr>&lt;예제 2-10&gt; 파이 차트 작성</vt:lpstr>
      <vt:lpstr>2.3.1 그래프를 통하여 데이터의 특성을 나타내는 방법들</vt:lpstr>
      <vt:lpstr>&lt;예제 2-11&gt; 선 그래프 작성</vt:lpstr>
      <vt:lpstr>2.3.1 그래프를 통하여 데이터의 특성을 나타내는 방법들</vt:lpstr>
      <vt:lpstr>2.3.1 그래프를 통하여 데이터의 특성을 나타내는 방법들</vt:lpstr>
      <vt:lpstr>&lt;예제 2-12&gt; 주당 스마트폰 사용 시간에 대한 상자 도형 작성</vt:lpstr>
      <vt:lpstr>&lt;예제 2-12&gt; 주당 스마트폰 사용 시간에 대한 상자 도형 작성</vt:lpstr>
      <vt:lpstr>2.3.1 그래프를 통하여 데이터의 특성을 나타내는 방법들</vt:lpstr>
      <vt:lpstr>&lt;예제 2-13&gt; 초등학생의 키와 몸무게에 대한 산점도 작성</vt:lpstr>
      <vt:lpstr>&lt;예제 2-13&gt; 초등학생의 키와 몸무게에 대한 산점도 작성</vt:lpstr>
      <vt:lpstr>&lt;예제 2-14&gt; 아이리스 데이터에 대한 산점도 행렬 작성</vt:lpstr>
      <vt:lpstr>&lt;예제 2-14&gt; 아이리스 데이터에 대한 산점도 행렬 작성</vt:lpstr>
      <vt:lpstr>[단원정리] 데이터의 정리와 요약 </vt:lpstr>
      <vt:lpstr>[단원정리] 시각화 방법</vt:lpstr>
      <vt:lpstr>[단원정리] 시각화 표현 </vt:lpstr>
      <vt:lpstr>[단원정리] 시각화 표현 </vt:lpstr>
      <vt:lpstr>[단원정리] 시각화 표현 </vt:lpstr>
      <vt:lpstr>[단원정리] 시각화 표현 </vt:lpstr>
      <vt:lpstr>[단원정리] 시각화 표현 </vt:lpstr>
      <vt:lpstr>[단원정리] 도형 작성 함수들</vt:lpstr>
      <vt:lpstr>강의내용</vt:lpstr>
      <vt:lpstr>2.3.2 데이터의 특성을 숫자로 요약하는 방법들</vt:lpstr>
      <vt:lpstr>1. 중심위치를 나타내는 대푯값 </vt:lpstr>
      <vt:lpstr>1. 중심위치를 나타내는 대푯값 </vt:lpstr>
      <vt:lpstr>1. 중심위치를 나타내는 대푯값 </vt:lpstr>
      <vt:lpstr>&lt;예제 2-15&gt; 중학교 남학생들의 몸무게에 대한 대푯값 출력</vt:lpstr>
      <vt:lpstr>2. 흩어진 정도를 나타내는 산포도</vt:lpstr>
      <vt:lpstr>2. 흩어진 정도를 나타내는 산포도</vt:lpstr>
      <vt:lpstr>2. 흩어진 정도를 나타내는 산포도</vt:lpstr>
      <vt:lpstr>2. 흩어진 정도를 나타내는 산포도</vt:lpstr>
      <vt:lpstr>2. 흩어진 정도를 나타내는 산포도</vt:lpstr>
      <vt:lpstr>2. 흩어진 정도를 나타내는 산포도</vt:lpstr>
      <vt:lpstr>&lt;예제 2-16&gt; 산포도 출력 </vt:lpstr>
      <vt:lpstr>3. 대푯값과 산점도를 한 번에 모두 나타내기</vt:lpstr>
      <vt:lpstr>&lt;예제 2-17&gt; 대푯값과 산포도 모두 출력</vt:lpstr>
      <vt:lpstr>[참고 5] 로또와 당첨확률 </vt:lpstr>
      <vt:lpstr>[참고 5] 로또와 당첨확률 </vt:lpstr>
      <vt:lpstr>[참고 5] 로또와 당첨확률 </vt:lpstr>
      <vt:lpstr>[참고 5] 로또와 당첨확률 </vt:lpstr>
      <vt:lpstr>[단원정리] 데이터의 요약</vt:lpstr>
      <vt:lpstr>[단원정리] 데이터의 요약</vt:lpstr>
      <vt:lpstr>[단원정리] 데이터의 요약</vt:lpstr>
      <vt:lpstr>[단원정리] 데이터의 요약내용 출력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2023-12-20T08:12:12Z</dcterms:created>
  <dcterms:modified xsi:type="dcterms:W3CDTF">2026-03-10T07:38:06Z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