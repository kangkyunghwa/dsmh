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58" r:id="rId4"/>
  </p:sldMasterIdLst>
  <p:notesMasterIdLst>
    <p:notesMasterId r:id="rId42"/>
  </p:notesMasterIdLst>
  <p:handoutMasterIdLst>
    <p:handoutMasterId r:id="rId43"/>
  </p:handoutMasterIdLst>
  <p:sldIdLst>
    <p:sldId id="410" r:id="rId5"/>
    <p:sldId id="413" r:id="rId6"/>
    <p:sldId id="416" r:id="rId7"/>
    <p:sldId id="678" r:id="rId8"/>
    <p:sldId id="679" r:id="rId9"/>
    <p:sldId id="680" r:id="rId10"/>
    <p:sldId id="681" r:id="rId11"/>
    <p:sldId id="682" r:id="rId12"/>
    <p:sldId id="683" r:id="rId13"/>
    <p:sldId id="685" r:id="rId14"/>
    <p:sldId id="684" r:id="rId15"/>
    <p:sldId id="686" r:id="rId16"/>
    <p:sldId id="687" r:id="rId17"/>
    <p:sldId id="688" r:id="rId18"/>
    <p:sldId id="518" r:id="rId19"/>
    <p:sldId id="689" r:id="rId20"/>
    <p:sldId id="690" r:id="rId21"/>
    <p:sldId id="691" r:id="rId22"/>
    <p:sldId id="692" r:id="rId23"/>
    <p:sldId id="693" r:id="rId24"/>
    <p:sldId id="675" r:id="rId25"/>
    <p:sldId id="694" r:id="rId26"/>
    <p:sldId id="695" r:id="rId27"/>
    <p:sldId id="696" r:id="rId28"/>
    <p:sldId id="697" r:id="rId29"/>
    <p:sldId id="676" r:id="rId30"/>
    <p:sldId id="698" r:id="rId31"/>
    <p:sldId id="699" r:id="rId32"/>
    <p:sldId id="700" r:id="rId33"/>
    <p:sldId id="701" r:id="rId34"/>
    <p:sldId id="702" r:id="rId35"/>
    <p:sldId id="580" r:id="rId36"/>
    <p:sldId id="705" r:id="rId37"/>
    <p:sldId id="706" r:id="rId38"/>
    <p:sldId id="707" r:id="rId39"/>
    <p:sldId id="708" r:id="rId40"/>
    <p:sldId id="709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8" autoAdjust="0"/>
    <p:restoredTop sz="96238" autoAdjust="0"/>
  </p:normalViewPr>
  <p:slideViewPr>
    <p:cSldViewPr snapToGrid="0">
      <p:cViewPr varScale="1">
        <p:scale>
          <a:sx n="70" d="100"/>
          <a:sy n="70" d="100"/>
        </p:scale>
        <p:origin x="432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4" d="100"/>
          <a:sy n="84" d="100"/>
        </p:scale>
        <p:origin x="233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UNIVERSITY    DEPARTMENT</a:t>
            </a:r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UNIVERSITY    DEPARTMENT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pPr/>
              <a:t>‹#›</a:t>
            </a:fld>
            <a:r>
              <a:rPr lang="en-US" dirty="0"/>
              <a:t>/60</a:t>
            </a:r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BCA7E5-BC47-4B82-81BC-931F6059DA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A1A51F-8993-4C5E-A46B-A38B68D203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552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998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183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320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229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661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9047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3209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6754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2865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078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4764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2464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451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3768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2028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6054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0248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2432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0155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4901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1113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591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2791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6737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231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0600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8471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0806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0317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4273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9685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9042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35352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0710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59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83200" y="411479"/>
            <a:ext cx="6513104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283200" y="4005626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58" y="910627"/>
            <a:ext cx="6787747" cy="75854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C7E6CA08-7602-4BBF-800D-0500B2C538AF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59" y="2065713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1049714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77378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baseline="0">
                <a:latin typeface="(한글 글꼴 사용)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 baseline="0">
                <a:latin typeface="(한글 글꼴 사용)"/>
                <a:ea typeface="한컴 고딕" panose="02000500000000000000" pitchFamily="2" charset="-127"/>
              </a:defRPr>
            </a:lvl1pPr>
            <a:lvl2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2pPr>
            <a:lvl3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3pPr>
            <a:lvl4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4pPr>
            <a:lvl5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714437" y="6377736"/>
            <a:ext cx="275435" cy="247651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r>
              <a:rPr lang="en-US" dirty="0"/>
              <a:t> </a:t>
            </a:r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793484" y="6387975"/>
            <a:ext cx="1313180" cy="247651"/>
          </a:xfrm>
        </p:spPr>
        <p:txBody>
          <a:bodyPr/>
          <a:lstStyle/>
          <a:p>
            <a:fld id="{74C2D93F-F902-4A64-A85E-B05CDF529F0E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72464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1638828"/>
            <a:ext cx="4490827" cy="4635167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283464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5943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8229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10058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1638828"/>
            <a:ext cx="4490827" cy="4635167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283464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5486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8229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10058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r>
              <a:rPr lang="en-US" dirty="0"/>
              <a:t> </a:t>
            </a:r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C1A343C-CF34-4CC0-B1E0-DFD14494129A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11882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1371600" indent="0">
              <a:spcBef>
                <a:spcPts val="1800"/>
              </a:spcBef>
              <a:buFont typeface="+mj-lt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283464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5486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8229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10058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r>
              <a:rPr lang="en-US" dirty="0"/>
              <a:t> </a:t>
            </a:r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61EAF93-F6DD-4966-B4ED-226E4F0B2B3B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r>
              <a:rPr lang="en-US" dirty="0"/>
              <a:t> </a:t>
            </a:r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043E474-04FF-41B8-9363-FD94C965B7DA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r>
              <a:rPr lang="en-US" dirty="0"/>
              <a:t> </a:t>
            </a:r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A48E407-D200-4276-84A3-02ECA142D0C7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68AA46C-C75E-4A33-A2EC-DB99BB84EC04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r>
              <a:rPr lang="en-US" dirty="0"/>
              <a:t> 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r>
              <a:rPr lang="en-US" dirty="0"/>
              <a:t> </a:t>
            </a:r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4991972-94E3-4881-91A4-6471795D1299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173018"/>
            <a:ext cx="10382250" cy="5003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604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45523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7A0978C8-04C9-46D2-936D-2A1254E7DD8E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27543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CBECB3-D5A7-40DA-BDE0-E1B4D1CB80B8}"/>
              </a:ext>
            </a:extLst>
          </p:cNvPr>
          <p:cNvSpPr txBox="1"/>
          <p:nvPr userDrawn="1"/>
        </p:nvSpPr>
        <p:spPr>
          <a:xfrm>
            <a:off x="880949" y="6350692"/>
            <a:ext cx="490654" cy="24765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algn="l" fontAlgn="base" latinLnBrk="1">
              <a:lnSpc>
                <a:spcPct val="100000"/>
              </a:lnSpc>
            </a:pPr>
            <a:r>
              <a:rPr lang="en-US" altLang="ko-KR" sz="1100" b="1" dirty="0">
                <a:solidFill>
                  <a:srgbClr val="FF0000"/>
                </a:solidFill>
              </a:rPr>
              <a:t>/40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2460" y="490202"/>
            <a:ext cx="6792685" cy="3291840"/>
          </a:xfrm>
        </p:spPr>
        <p:txBody>
          <a:bodyPr/>
          <a:lstStyle/>
          <a:p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 분석 개론</a:t>
            </a:r>
            <a:endParaRPr 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r>
              <a:rPr lang="ko-KR" altLang="en-US">
                <a:latin typeface="한컴 고딕" panose="02000500000000000000" pitchFamily="2" charset="-127"/>
                <a:ea typeface="한컴 고딕" panose="02000500000000000000" pitchFamily="2" charset="-127"/>
              </a:rPr>
              <a:t>강의내용</a:t>
            </a:r>
            <a:endParaRPr 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16850" y="3429000"/>
            <a:ext cx="7582776" cy="3150871"/>
          </a:xfrm>
        </p:spPr>
        <p:txBody>
          <a:bodyPr>
            <a:normAutofit/>
          </a:bodyPr>
          <a:lstStyle/>
          <a:p>
            <a:pPr marL="0" indent="0" fontAlgn="base" latinLnBrk="1">
              <a:buNone/>
            </a:pPr>
            <a:r>
              <a:rPr lang="en-US" altLang="ko-KR" dirty="0">
                <a:latin typeface="한컴 고딕" panose="02000500000000000000" pitchFamily="2" charset="-127"/>
              </a:rPr>
              <a:t>1. </a:t>
            </a:r>
            <a:r>
              <a:rPr lang="ko-KR" altLang="en-US" dirty="0">
                <a:latin typeface="한컴 고딕" panose="02000500000000000000" pitchFamily="2" charset="-127"/>
              </a:rPr>
              <a:t>상관분석과 회귀분석</a:t>
            </a:r>
          </a:p>
          <a:p>
            <a:pPr marL="0" indent="0" fontAlgn="base" latinLnBrk="1">
              <a:buNone/>
            </a:pPr>
            <a:r>
              <a:rPr lang="en-US" altLang="ko-KR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2. </a:t>
            </a:r>
            <a:r>
              <a:rPr lang="ko-KR" altLang="en-US" dirty="0" err="1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다변량</a:t>
            </a:r>
            <a:r>
              <a:rPr lang="ko-KR" altLang="en-US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 분석</a:t>
            </a:r>
          </a:p>
          <a:p>
            <a:pPr marL="0" indent="0" fontAlgn="base" latinLnBrk="1">
              <a:buNone/>
            </a:pPr>
            <a:r>
              <a:rPr lang="ko-KR" altLang="en-US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 주성분분석</a:t>
            </a:r>
            <a:r>
              <a:rPr lang="en-US" altLang="ko-KR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, </a:t>
            </a:r>
            <a:r>
              <a:rPr lang="ko-KR" altLang="en-US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인자분석</a:t>
            </a:r>
            <a:r>
              <a:rPr lang="en-US" altLang="ko-KR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, </a:t>
            </a:r>
            <a:r>
              <a:rPr lang="ko-KR" altLang="en-US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군집분석</a:t>
            </a:r>
            <a:r>
              <a:rPr lang="en-US" altLang="ko-KR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, </a:t>
            </a:r>
            <a:r>
              <a:rPr lang="ko-KR" altLang="en-US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판별분석</a:t>
            </a:r>
            <a:endParaRPr lang="ko-KR" altLang="en-US" dirty="0">
              <a:solidFill>
                <a:srgbClr val="C00000"/>
              </a:solidFill>
              <a:latin typeface="한컴 고딕" panose="02000500000000000000" pitchFamily="2" charset="-127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8" name="Title 8">
            <a:extLst>
              <a:ext uri="{FF2B5EF4-FFF2-40B4-BE49-F238E27FC236}">
                <a16:creationId xmlns:a16="http://schemas.microsoft.com/office/drawing/2014/main" id="{5016B78D-D0BA-4B78-9E6A-BD29AFA51C75}"/>
              </a:ext>
            </a:extLst>
          </p:cNvPr>
          <p:cNvSpPr txBox="1">
            <a:spLocks/>
          </p:cNvSpPr>
          <p:nvPr/>
        </p:nvSpPr>
        <p:spPr>
          <a:xfrm>
            <a:off x="547868" y="1183108"/>
            <a:ext cx="8758177" cy="6132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z="3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7</a:t>
            </a:r>
            <a:r>
              <a:rPr lang="ko-KR" altLang="en-US" sz="3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장</a:t>
            </a:r>
            <a:r>
              <a:rPr lang="en-US" altLang="ko-KR" sz="3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</a:t>
            </a:r>
            <a:r>
              <a:rPr lang="ko-KR" altLang="en-US" sz="3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분석 기법</a:t>
            </a:r>
            <a:endParaRPr lang="en-US" sz="3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6EC111D-2696-43E1-BF67-2E25035E38DC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EDD0E39B-DECB-434E-A081-3429056DE106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07D134-0280-41ED-A147-9DF1CC9B2A6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r>
              <a:rPr lang="en-US" dirty="0"/>
              <a:t> </a:t>
            </a:r>
            <a:endParaRPr lang="en-US" dirty="0">
              <a:latin typeface="+mn-lt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91442BE-D279-47B8-BEC6-40EFEBE2A1F1}"/>
              </a:ext>
            </a:extLst>
          </p:cNvPr>
          <p:cNvSpPr txBox="1">
            <a:spLocks/>
          </p:cNvSpPr>
          <p:nvPr/>
        </p:nvSpPr>
        <p:spPr>
          <a:xfrm>
            <a:off x="492373" y="1518325"/>
            <a:ext cx="11207253" cy="1631187"/>
          </a:xfrm>
          <a:prstGeom prst="rect">
            <a:avLst/>
          </a:prstGeom>
        </p:spPr>
        <p:txBody>
          <a:bodyPr vert="horz" lIns="0" tIns="457200" rIns="0" bIns="0" rtlCol="0" anchor="t">
            <a:normAutofit fontScale="25000" lnSpcReduction="20000"/>
          </a:bodyPr>
          <a:lstStyle>
            <a:lvl1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대부분의 빅데이터에 대한 통계 기반 분석은 </a:t>
            </a:r>
            <a:r>
              <a:rPr lang="ko-KR" altLang="en-US" sz="96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다변량</a:t>
            </a: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분석에 해당하며 회귀분석</a:t>
            </a:r>
            <a:r>
              <a:rPr lang="en-US" altLang="ko-KR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주성분분석</a:t>
            </a:r>
            <a:r>
              <a:rPr lang="en-US" altLang="ko-KR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인자분석</a:t>
            </a:r>
            <a:r>
              <a:rPr lang="en-US" altLang="ko-KR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판별분석</a:t>
            </a:r>
            <a:r>
              <a:rPr lang="en-US" altLang="ko-KR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군집분석 등에 대해서 알아봅니다</a:t>
            </a:r>
            <a:r>
              <a:rPr lang="en-US" altLang="ko-KR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36336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432087" cy="773425"/>
          </a:xfrm>
        </p:spPr>
        <p:txBody>
          <a:bodyPr/>
          <a:lstStyle/>
          <a:p>
            <a:pPr fontAlgn="base" latinLnBrk="1"/>
            <a:r>
              <a:rPr lang="ko-KR" altLang="en-US" dirty="0"/>
              <a:t>통계기반 데이터 분석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1B917CA-D121-451D-AE8E-14C52648CDC9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itle 8">
                <a:extLst>
                  <a:ext uri="{FF2B5EF4-FFF2-40B4-BE49-F238E27FC236}">
                    <a16:creationId xmlns:a16="http://schemas.microsoft.com/office/drawing/2014/main" id="{A0105A53-BB4D-44A0-AD4D-07122EECD6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4177" y="1453019"/>
                <a:ext cx="11432088" cy="1941419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sz="4400" b="1" i="0" kern="1200" spc="100" baseline="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fontAlgn="base" latinLnBrk="1">
                  <a:lnSpc>
                    <a:spcPct val="100000"/>
                  </a:lnSpc>
                </a:pP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대부분의 빅데이터에 대한 통계 기반 분석은 </a:t>
                </a:r>
                <a:r>
                  <a:rPr lang="ko-KR" altLang="en-US" sz="2200" b="0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다변량</a:t>
                </a: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분석에 해당</a:t>
                </a:r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 </a:t>
                </a:r>
              </a:p>
              <a:p>
                <a:pPr fontAlgn="base" latinLnBrk="1">
                  <a:lnSpc>
                    <a:spcPct val="100000"/>
                  </a:lnSpc>
                </a:pPr>
                <a:r>
                  <a:rPr lang="ko-KR" altLang="en-US" sz="2200" b="0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다변량</a:t>
                </a: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분석</a:t>
                </a:r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(multivariate analysis)</a:t>
                </a: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200" b="0" i="1" dirty="0" smtClean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p</m:t>
                    </m:r>
                  </m:oMath>
                </a14:m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개의 변수에 대해서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200" b="0" i="1" dirty="0" smtClean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n</m:t>
                    </m:r>
                  </m:oMath>
                </a14:m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번 관측으로 </a:t>
                </a:r>
                <a:endParaRPr lang="en-US" altLang="ko-KR" sz="22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fontAlgn="base" latinLnBrk="1">
                  <a:lnSpc>
                    <a:spcPct val="100000"/>
                  </a:lnSpc>
                </a:pP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얻어진 데이터에 대해 </a:t>
                </a:r>
                <a:r>
                  <a:rPr lang="ko-KR" altLang="en-US" sz="2200" b="0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변수간의</a:t>
                </a: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관계 또는 </a:t>
                </a:r>
                <a:r>
                  <a:rPr lang="ko-KR" altLang="en-US" sz="2200" b="0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개체간의</a:t>
                </a: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관계를 파악하려는 통계적 분석방법을 말하며 </a:t>
                </a:r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[</a:t>
                </a: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표 </a:t>
                </a:r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7-1]</a:t>
                </a: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과 같이 구분</a:t>
                </a:r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 </a:t>
                </a:r>
              </a:p>
            </p:txBody>
          </p:sp>
        </mc:Choice>
        <mc:Fallback>
          <p:sp>
            <p:nvSpPr>
              <p:cNvPr id="10" name="Title 8">
                <a:extLst>
                  <a:ext uri="{FF2B5EF4-FFF2-40B4-BE49-F238E27FC236}">
                    <a16:creationId xmlns:a16="http://schemas.microsoft.com/office/drawing/2014/main" id="{A0105A53-BB4D-44A0-AD4D-07122EECD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77" y="1453019"/>
                <a:ext cx="11432088" cy="1941419"/>
              </a:xfrm>
              <a:prstGeom prst="rect">
                <a:avLst/>
              </a:prstGeom>
              <a:blipFill>
                <a:blip r:embed="rId3"/>
                <a:stretch>
                  <a:fillRect l="-1493" t="-4389" r="-6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5ED48CE4-E3BD-4F45-9B59-EC839027B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7522" y="3529749"/>
            <a:ext cx="9015774" cy="236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690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432087" cy="773425"/>
          </a:xfrm>
        </p:spPr>
        <p:txBody>
          <a:bodyPr/>
          <a:lstStyle/>
          <a:p>
            <a:pPr fontAlgn="base" latinLnBrk="1"/>
            <a:r>
              <a:rPr lang="ko-KR" altLang="en-US" dirty="0" err="1"/>
              <a:t>다변량분석</a:t>
            </a:r>
            <a:endParaRPr lang="ko-KR" alt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1B917CA-D121-451D-AE8E-14C52648CDC9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0105A53-BB4D-44A0-AD4D-07122EECD627}"/>
              </a:ext>
            </a:extLst>
          </p:cNvPr>
          <p:cNvSpPr txBox="1">
            <a:spLocks/>
          </p:cNvSpPr>
          <p:nvPr/>
        </p:nvSpPr>
        <p:spPr>
          <a:xfrm>
            <a:off x="484177" y="1453019"/>
            <a:ext cx="11432088" cy="194141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변수간의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관계를 다루는 방법으로는 주성분분석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(PCA, principal components analysis)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인자분석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(factor analysis,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요인분석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있고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개체간의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관계를 다루는 방법으로는 판별분석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(discriminant analysis)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군집분석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(cluster analysis)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 외에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변수들간의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인과 관계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 관계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상관 관계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분석하는 방법으로 상관분석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회귀분석 등이 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ED48CE4-E3BD-4F45-9B59-EC839027B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522" y="3880477"/>
            <a:ext cx="9015774" cy="236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705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432087" cy="773425"/>
          </a:xfrm>
        </p:spPr>
        <p:txBody>
          <a:bodyPr/>
          <a:lstStyle/>
          <a:p>
            <a:pPr fontAlgn="base" latinLnBrk="1"/>
            <a:r>
              <a:rPr lang="ko-KR" altLang="en-US" dirty="0" err="1"/>
              <a:t>머신러닝</a:t>
            </a:r>
            <a:r>
              <a:rPr lang="ko-KR" altLang="en-US" dirty="0"/>
              <a:t> 기반 분석 모형과 알고리즘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1B917CA-D121-451D-AE8E-14C52648CDC9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0105A53-BB4D-44A0-AD4D-07122EECD627}"/>
              </a:ext>
            </a:extLst>
          </p:cNvPr>
          <p:cNvSpPr txBox="1">
            <a:spLocks/>
          </p:cNvSpPr>
          <p:nvPr/>
        </p:nvSpPr>
        <p:spPr>
          <a:xfrm>
            <a:off x="484177" y="1202499"/>
            <a:ext cx="11432088" cy="194141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머신러닝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기반 분석 모형을 위한 방법을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머신러닝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알고리즘이라 하며 크게 세 가지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즉 지도 학습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비지도 학습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강화 학습으로 분류하고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분류된 알고리즘은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7-2]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같다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67F1287-59DF-40AA-AB64-CFFD02071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37" y="1977901"/>
            <a:ext cx="5953125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237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432087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7.1 </a:t>
            </a:r>
            <a:r>
              <a:rPr lang="ko-KR" altLang="en-US" dirty="0"/>
              <a:t>상관분석과 회귀분석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1B917CA-D121-451D-AE8E-14C52648CDC9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0105A53-BB4D-44A0-AD4D-07122EECD627}"/>
              </a:ext>
            </a:extLst>
          </p:cNvPr>
          <p:cNvSpPr txBox="1">
            <a:spLocks/>
          </p:cNvSpPr>
          <p:nvPr/>
        </p:nvSpPr>
        <p:spPr>
          <a:xfrm>
            <a:off x="484177" y="1528175"/>
            <a:ext cx="11432088" cy="38860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매출액과 광고비 지출과의 관계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부모의 키와 자식의 키와의 관계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입학성적과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졸업성적간의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관계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온도와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수확량간의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관계 등 연구하고자 하는 변수들 간의 상호 관련성을 파악하고자 하는 경우의 분석방법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이러한 관련성을 분석하는 통계적 방법으로 상관분석과 회귀분석이 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상관분석은 변수들 간의 단순한 관련성의 정도를 파악하는 것이고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회귀분석은 변수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간의 인과 관계를 분석하는 방법으로 변수들 중 하나를 종속변수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영향을 받는 변수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나머지를 독립변수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영향을 주는 변수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하여 이들의 함수관계를 통해 관련성의 본질을 나타내는 방법이다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678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432087" cy="773425"/>
          </a:xfrm>
        </p:spPr>
        <p:txBody>
          <a:bodyPr/>
          <a:lstStyle/>
          <a:p>
            <a:pPr fontAlgn="base" latinLnBrk="1"/>
            <a:r>
              <a:rPr lang="en-US" altLang="ko-KR" sz="3200" dirty="0"/>
              <a:t>7.1.1 </a:t>
            </a:r>
            <a:r>
              <a:rPr lang="ko-KR" altLang="en-US" sz="3200" dirty="0"/>
              <a:t>상관분석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1B917CA-D121-451D-AE8E-14C52648CDC9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8">
                <a:extLst>
                  <a:ext uri="{FF2B5EF4-FFF2-40B4-BE49-F238E27FC236}">
                    <a16:creationId xmlns:a16="http://schemas.microsoft.com/office/drawing/2014/main" id="{A0105A53-BB4D-44A0-AD4D-07122EECD6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4177" y="1202499"/>
                <a:ext cx="11432088" cy="5035463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sz="4400" b="1" i="0" kern="1200" spc="100" baseline="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fontAlgn="base" latinLnBrk="1">
                  <a:lnSpc>
                    <a:spcPct val="100000"/>
                  </a:lnSpc>
                </a:pP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상관분석은 변수들 간의 단순한 상호 관계성의 정도를 분석하는 통계적 기법</a:t>
                </a:r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 </a:t>
                </a:r>
              </a:p>
              <a:p>
                <a:pPr fontAlgn="base" latinLnBrk="1">
                  <a:lnSpc>
                    <a:spcPct val="100000"/>
                  </a:lnSpc>
                </a:pP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상관분석은 두 변수의 순서쌍으로 구성된 개의 표본요소 에 대해서 두 </a:t>
                </a:r>
                <a:r>
                  <a:rPr lang="ko-KR" altLang="en-US" sz="2200" b="0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변수간의</a:t>
                </a: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endParaRPr lang="en-US" altLang="ko-KR" sz="22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fontAlgn="base" latinLnBrk="1">
                  <a:lnSpc>
                    <a:spcPct val="100000"/>
                  </a:lnSpc>
                </a:pP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상관관계를 다음의 표본 상관계수</a:t>
                </a:r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(correlation coefficient)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200" b="0" i="1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r</m:t>
                    </m:r>
                  </m:oMath>
                </a14:m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을 통해 나타낸다</a:t>
                </a:r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</a:t>
                </a:r>
              </a:p>
              <a:p>
                <a:pPr fontAlgn="base" latinLnBrk="1">
                  <a:lnSpc>
                    <a:spcPct val="100000"/>
                  </a:lnSpc>
                </a:pPr>
                <a:endParaRPr lang="en-US" altLang="ko-KR" sz="22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fontAlgn="base" latinLnBrk="1">
                  <a:lnSpc>
                    <a:spcPct val="100000"/>
                  </a:lnSpc>
                </a:pPr>
                <a:endParaRPr lang="en-US" altLang="ko-KR" sz="22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fontAlgn="base" latinLnBrk="1">
                  <a:lnSpc>
                    <a:spcPct val="100000"/>
                  </a:lnSpc>
                </a:pPr>
                <a:endParaRPr lang="en-US" altLang="ko-KR" sz="22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fontAlgn="base" latinLnBrk="1">
                  <a:lnSpc>
                    <a:spcPct val="100000"/>
                  </a:lnSpc>
                </a:pPr>
                <a:endParaRPr lang="en-US" altLang="ko-KR" sz="22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fontAlgn="base" latinLnBrk="1">
                  <a:lnSpc>
                    <a:spcPct val="100000"/>
                  </a:lnSpc>
                </a:pPr>
                <a:endParaRPr lang="en-US" altLang="ko-KR" sz="22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fontAlgn="base" latinLnBrk="1">
                  <a:lnSpc>
                    <a:spcPct val="100000"/>
                  </a:lnSpc>
                </a:pPr>
                <a:endParaRPr lang="en-US" altLang="ko-KR" sz="22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fontAlgn="base" latinLnBrk="1">
                  <a:lnSpc>
                    <a:spcPct val="100000"/>
                  </a:lnSpc>
                </a:pPr>
                <a:endParaRPr lang="en-US" altLang="ko-KR" sz="22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fontAlgn="base" latinLnBrk="1">
                  <a:lnSpc>
                    <a:spcPct val="100000"/>
                  </a:lnSpc>
                </a:pP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위 식에서 </a:t>
                </a:r>
                <a14:m>
                  <m:oMath xmlns:m="http://schemas.openxmlformats.org/officeDocument/2006/math">
                    <m:r>
                      <a:rPr lang="ko-KR" altLang="en-US" sz="2200" b="0" i="1" smtClean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𝜌</m:t>
                    </m:r>
                  </m:oMath>
                </a14:m>
                <a:r>
                  <a:rPr lang="ko-KR" altLang="en-US" sz="2200" b="0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를</a:t>
                </a: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모집단 상관계수라 하고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200" b="0" i="1" dirty="0" smtClean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V</m:t>
                    </m:r>
                    <m:r>
                      <a:rPr lang="en-US" altLang="ko-KR" sz="2200" b="0" dirty="0" smtClean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2200" b="0" dirty="0" smtClean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X</m:t>
                    </m:r>
                    <m:r>
                      <a:rPr lang="en-US" altLang="ko-KR" sz="2200" b="0" dirty="0" smtClean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)</m:t>
                    </m:r>
                  </m:oMath>
                </a14:m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200" b="0" i="1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V</m:t>
                    </m:r>
                    <m:r>
                      <a:rPr lang="en-US" altLang="ko-KR" sz="2200" b="0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2200" b="0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Y</m:t>
                    </m:r>
                    <m:r>
                      <a:rPr lang="en-US" altLang="ko-KR" sz="2200" b="0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)</m:t>
                    </m:r>
                  </m:oMath>
                </a14:m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는 각각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200" b="0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X</m:t>
                    </m:r>
                  </m:oMath>
                </a14:m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200" b="0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Y</m:t>
                    </m:r>
                  </m:oMath>
                </a14:m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의 분산이고</a:t>
                </a:r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</a:p>
              <a:p>
                <a:pPr fontAlgn="base" latinLnBrk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200" b="0" i="1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C</m:t>
                    </m:r>
                    <m:r>
                      <m:rPr>
                        <m:sty m:val="p"/>
                      </m:rPr>
                      <a:rPr lang="en-US" altLang="ko-KR" sz="2200" b="0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ov</m:t>
                    </m:r>
                    <m:r>
                      <a:rPr lang="en-US" altLang="ko-KR" sz="2200" b="0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2200" b="0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X</m:t>
                    </m:r>
                  </m:oMath>
                </a14:m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200" b="0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Y</m:t>
                    </m:r>
                  </m:oMath>
                </a14:m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)</a:t>
                </a: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200" b="0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X</m:t>
                    </m:r>
                  </m:oMath>
                </a14:m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200" b="0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Y</m:t>
                    </m:r>
                  </m:oMath>
                </a14:m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에 대한 공분산</a:t>
                </a:r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(covariance)</a:t>
                </a: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을 의미</a:t>
                </a:r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 </a:t>
                </a: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공분산은 변수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200" b="0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X</m:t>
                    </m:r>
                  </m:oMath>
                </a14:m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200" b="0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Y</m:t>
                    </m:r>
                  </m:oMath>
                </a14:m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에 대한 </a:t>
                </a:r>
                <a:endParaRPr lang="en-US" altLang="ko-KR" sz="22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fontAlgn="base" latinLnBrk="1">
                  <a:lnSpc>
                    <a:spcPct val="100000"/>
                  </a:lnSpc>
                </a:pP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편차의 곱으로 계산</a:t>
                </a:r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</a:t>
                </a:r>
              </a:p>
            </p:txBody>
          </p:sp>
        </mc:Choice>
        <mc:Fallback xmlns="">
          <p:sp>
            <p:nvSpPr>
              <p:cNvPr id="10" name="Title 8">
                <a:extLst>
                  <a:ext uri="{FF2B5EF4-FFF2-40B4-BE49-F238E27FC236}">
                    <a16:creationId xmlns:a16="http://schemas.microsoft.com/office/drawing/2014/main" id="{A0105A53-BB4D-44A0-AD4D-07122EECD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77" y="1202499"/>
                <a:ext cx="11432088" cy="5035463"/>
              </a:xfrm>
              <a:prstGeom prst="rect">
                <a:avLst/>
              </a:prstGeom>
              <a:blipFill>
                <a:blip r:embed="rId3"/>
                <a:stretch>
                  <a:fillRect l="-1493" t="-16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C3CF079A-25DE-4AF4-BC4D-0CB9B998C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0538" y="2380940"/>
            <a:ext cx="7727609" cy="194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741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432087" cy="773425"/>
          </a:xfrm>
        </p:spPr>
        <p:txBody>
          <a:bodyPr/>
          <a:lstStyle/>
          <a:p>
            <a:pPr fontAlgn="base" latinLnBrk="1"/>
            <a:r>
              <a:rPr lang="en-US" altLang="ko-KR" sz="3200" dirty="0"/>
              <a:t>7.1.1 </a:t>
            </a:r>
            <a:r>
              <a:rPr lang="ko-KR" altLang="en-US" sz="3200" dirty="0"/>
              <a:t>상관분석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1B917CA-D121-451D-AE8E-14C52648CDC9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0105A53-BB4D-44A0-AD4D-07122EECD627}"/>
              </a:ext>
            </a:extLst>
          </p:cNvPr>
          <p:cNvSpPr txBox="1">
            <a:spLocks/>
          </p:cNvSpPr>
          <p:nvPr/>
        </p:nvSpPr>
        <p:spPr>
          <a:xfrm>
            <a:off x="379956" y="3410832"/>
            <a:ext cx="11432088" cy="51356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위의 상관계수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r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피어슨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(Pearson)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상관계수라 하며 다음과 같은 특징을 갖고 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18A2AFF-3E0E-4301-AEB0-0B802EF8D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875" y="1293049"/>
            <a:ext cx="3699699" cy="189315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BEB95BB-A615-41EF-B2FF-5191E1F00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226" y="4024411"/>
            <a:ext cx="5026148" cy="241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307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432087" cy="773425"/>
          </a:xfrm>
        </p:spPr>
        <p:txBody>
          <a:bodyPr/>
          <a:lstStyle/>
          <a:p>
            <a:pPr fontAlgn="base" latinLnBrk="1"/>
            <a:r>
              <a:rPr lang="en-US" altLang="ko-KR" sz="3200" dirty="0"/>
              <a:t>7.1.1 </a:t>
            </a:r>
            <a:r>
              <a:rPr lang="ko-KR" altLang="en-US" sz="3200" dirty="0"/>
              <a:t>상관분석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1B917CA-D121-451D-AE8E-14C52648CDC9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8">
                <a:extLst>
                  <a:ext uri="{FF2B5EF4-FFF2-40B4-BE49-F238E27FC236}">
                    <a16:creationId xmlns:a16="http://schemas.microsoft.com/office/drawing/2014/main" id="{A0105A53-BB4D-44A0-AD4D-07122EECD6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9203" y="1158658"/>
                <a:ext cx="11432088" cy="1179034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sz="4400" b="1" i="0" kern="1200" spc="100" baseline="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fontAlgn="base" latinLnBrk="1">
                  <a:lnSpc>
                    <a:spcPct val="100000"/>
                  </a:lnSpc>
                </a:pP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상관계수는 </a:t>
                </a:r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-1</a:t>
                </a:r>
                <a14:m>
                  <m:oMath xmlns:m="http://schemas.openxmlformats.org/officeDocument/2006/math">
                    <m:r>
                      <a:rPr lang="en-US" altLang="ko-KR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r</a:t>
                </a:r>
                <a14:m>
                  <m:oMath xmlns:m="http://schemas.openxmlformats.org/officeDocument/2006/math">
                    <m:r>
                      <a:rPr lang="en-US" altLang="ko-KR" sz="22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1 </a:t>
                </a: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사이의 값을 갖고</a:t>
                </a:r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-1</a:t>
                </a:r>
                <a14:m>
                  <m:oMath xmlns:m="http://schemas.openxmlformats.org/officeDocument/2006/math">
                    <m:r>
                      <a:rPr lang="en-US" altLang="ko-KR" sz="22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r</a:t>
                </a:r>
                <a14:m>
                  <m:oMath xmlns:m="http://schemas.openxmlformats.org/officeDocument/2006/math">
                    <m:r>
                      <a:rPr lang="en-US" altLang="ko-KR" sz="2200" b="0" i="1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&lt;</m:t>
                    </m:r>
                  </m:oMath>
                </a14:m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0 </a:t>
                </a: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이면 음의 상관관계</a:t>
                </a:r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</m:oMath>
                </a14:m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r</a:t>
                </a:r>
                <a14:m>
                  <m:oMath xmlns:m="http://schemas.openxmlformats.org/officeDocument/2006/math">
                    <m:r>
                      <a:rPr lang="en-US" altLang="ko-KR" sz="22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1 </a:t>
                </a: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이면 양의 </a:t>
                </a:r>
                <a:endParaRPr lang="en-US" altLang="ko-KR" sz="22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fontAlgn="base" latinLnBrk="1">
                  <a:lnSpc>
                    <a:spcPct val="100000"/>
                  </a:lnSpc>
                </a:pP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상관관계라 한다</a:t>
                </a:r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 </a:t>
                </a: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상관계수는 </a:t>
                </a:r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[</a:t>
                </a: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그림 </a:t>
                </a:r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7-1]</a:t>
                </a: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과 같이 두 변수 와 에 대한 </a:t>
                </a:r>
                <a:r>
                  <a:rPr lang="ko-KR" altLang="en-US" sz="2200" b="0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산점도</a:t>
                </a:r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(scatter diagram)</a:t>
                </a: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를 </a:t>
                </a:r>
                <a:r>
                  <a:rPr lang="ko-KR" altLang="en-US" sz="2200" b="0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그려봄으로써</a:t>
                </a:r>
                <a:r>
                  <a:rPr lang="ko-KR" altLang="en-US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어느 정도 파악이 가능</a:t>
                </a:r>
                <a:r>
                  <a:rPr lang="en-US" altLang="ko-KR" sz="22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</a:t>
                </a:r>
              </a:p>
              <a:p>
                <a:pPr fontAlgn="base" latinLnBrk="1">
                  <a:lnSpc>
                    <a:spcPct val="100000"/>
                  </a:lnSpc>
                </a:pPr>
                <a:endParaRPr lang="en-US" altLang="ko-KR" sz="22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fontAlgn="base" latinLnBrk="1">
                  <a:lnSpc>
                    <a:spcPct val="100000"/>
                  </a:lnSpc>
                </a:pPr>
                <a:endParaRPr lang="en-US" altLang="ko-KR" sz="22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fontAlgn="base" latinLnBrk="1">
                  <a:lnSpc>
                    <a:spcPct val="100000"/>
                  </a:lnSpc>
                </a:pPr>
                <a:endParaRPr lang="en-US" altLang="ko-KR" sz="22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fontAlgn="base" latinLnBrk="1">
                  <a:lnSpc>
                    <a:spcPct val="100000"/>
                  </a:lnSpc>
                </a:pPr>
                <a:endParaRPr lang="en-US" altLang="ko-KR" sz="22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fontAlgn="base" latinLnBrk="1">
                  <a:lnSpc>
                    <a:spcPct val="100000"/>
                  </a:lnSpc>
                </a:pPr>
                <a:endParaRPr lang="en-US" altLang="ko-KR" sz="22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fontAlgn="base" latinLnBrk="1">
                  <a:lnSpc>
                    <a:spcPct val="100000"/>
                  </a:lnSpc>
                </a:pPr>
                <a:endParaRPr lang="en-US" altLang="ko-KR" sz="22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mc:Choice>
        <mc:Fallback xmlns="">
          <p:sp>
            <p:nvSpPr>
              <p:cNvPr id="10" name="Title 8">
                <a:extLst>
                  <a:ext uri="{FF2B5EF4-FFF2-40B4-BE49-F238E27FC236}">
                    <a16:creationId xmlns:a16="http://schemas.microsoft.com/office/drawing/2014/main" id="{A0105A53-BB4D-44A0-AD4D-07122EECD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203" y="1158658"/>
                <a:ext cx="11432088" cy="1179034"/>
              </a:xfrm>
              <a:prstGeom prst="rect">
                <a:avLst/>
              </a:prstGeom>
              <a:blipFill>
                <a:blip r:embed="rId3"/>
                <a:stretch>
                  <a:fillRect l="-1493" t="-67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C3FB3E74-3877-4C5B-B44D-B02BDB1C3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0830" y="2337692"/>
            <a:ext cx="5928399" cy="433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21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432087" cy="773425"/>
          </a:xfrm>
        </p:spPr>
        <p:txBody>
          <a:bodyPr/>
          <a:lstStyle/>
          <a:p>
            <a:pPr fontAlgn="base" latinLnBrk="1"/>
            <a:r>
              <a:rPr lang="en-US" altLang="ko-KR" sz="3200" dirty="0"/>
              <a:t>7.1.1 </a:t>
            </a:r>
            <a:r>
              <a:rPr lang="ko-KR" altLang="en-US" sz="3200" dirty="0"/>
              <a:t>상관분석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1B917CA-D121-451D-AE8E-14C52648CDC9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0105A53-BB4D-44A0-AD4D-07122EECD627}"/>
              </a:ext>
            </a:extLst>
          </p:cNvPr>
          <p:cNvSpPr txBox="1">
            <a:spLocks/>
          </p:cNvSpPr>
          <p:nvPr/>
        </p:nvSpPr>
        <p:spPr>
          <a:xfrm>
            <a:off x="594358" y="4154459"/>
            <a:ext cx="11432088" cy="117903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7-1]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②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같이 와 간의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산점도가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직선으로 표시된 경우는 두 변수 간에 뚜렷한 함수관계가 존재하는 경우로서 각각의 상관계수는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-1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계산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③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④는 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②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와는 달리 직선 주변에 몰려 있는 경우를 나타낸다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20D74BA-C830-4B11-90FA-0A233C960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887" y="1577285"/>
            <a:ext cx="8919545" cy="235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073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432087" cy="773425"/>
          </a:xfrm>
        </p:spPr>
        <p:txBody>
          <a:bodyPr/>
          <a:lstStyle/>
          <a:p>
            <a:pPr fontAlgn="base" latinLnBrk="1"/>
            <a:r>
              <a:rPr lang="en-US" altLang="ko-KR" sz="3200" dirty="0"/>
              <a:t>7.1.1 </a:t>
            </a:r>
            <a:r>
              <a:rPr lang="ko-KR" altLang="en-US" sz="3200" dirty="0"/>
              <a:t>상관분석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1B917CA-D121-451D-AE8E-14C52648CDC9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0105A53-BB4D-44A0-AD4D-07122EECD627}"/>
              </a:ext>
            </a:extLst>
          </p:cNvPr>
          <p:cNvSpPr txBox="1">
            <a:spLocks/>
          </p:cNvSpPr>
          <p:nvPr/>
        </p:nvSpPr>
        <p:spPr>
          <a:xfrm>
            <a:off x="1852896" y="4331103"/>
            <a:ext cx="9181125" cy="117903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⑤와 ⑥은 상관계수가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0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되는 경우이며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상관계수의 특징에서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변수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X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Y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서로 독립이라면 상관계수는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0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되지만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상관계수가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0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일 경우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X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Y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서로 독립이 아닐 수 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35FA277-FFCE-497B-B9E4-FB46373A6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6664" y="1601270"/>
            <a:ext cx="4488932" cy="222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868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432087" cy="773425"/>
          </a:xfrm>
        </p:spPr>
        <p:txBody>
          <a:bodyPr/>
          <a:lstStyle/>
          <a:p>
            <a:pPr fontAlgn="base" latinLnBrk="1"/>
            <a:r>
              <a:rPr lang="en-US" altLang="ko-KR" sz="3200" dirty="0"/>
              <a:t>&lt;</a:t>
            </a:r>
            <a:r>
              <a:rPr lang="ko-KR" altLang="en-US" sz="3200" dirty="0"/>
              <a:t>예제 </a:t>
            </a:r>
            <a:r>
              <a:rPr lang="en-US" altLang="ko-KR" sz="3200" dirty="0"/>
              <a:t>7-1&gt; </a:t>
            </a:r>
            <a:r>
              <a:rPr lang="ko-KR" altLang="en-US" sz="3200" dirty="0" err="1"/>
              <a:t>산점도와</a:t>
            </a:r>
            <a:r>
              <a:rPr lang="ko-KR" altLang="en-US" sz="3200" dirty="0"/>
              <a:t> 상관계수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1B917CA-D121-451D-AE8E-14C52648CDC9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0105A53-BB4D-44A0-AD4D-07122EECD627}"/>
              </a:ext>
            </a:extLst>
          </p:cNvPr>
          <p:cNvSpPr txBox="1">
            <a:spLocks/>
          </p:cNvSpPr>
          <p:nvPr/>
        </p:nvSpPr>
        <p:spPr>
          <a:xfrm>
            <a:off x="484177" y="1296443"/>
            <a:ext cx="11009925" cy="14912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학생 건강검사 자료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2019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년도 학생 건강검사 중 서울지역 초등학교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3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학년 남학생에 대한 표본에 대해 키와 몸무게를 이용하여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산점도를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나타내고 상관계수를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계산하시오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산점도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그래프는 함수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scatter()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이용하고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상관계수는 함수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pearsonr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이용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BF0FD4-F855-49A1-BCBD-07B03C550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226" y="2893120"/>
            <a:ext cx="8774828" cy="299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641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432087" cy="773425"/>
          </a:xfrm>
        </p:spPr>
        <p:txBody>
          <a:bodyPr/>
          <a:lstStyle/>
          <a:p>
            <a:pPr fontAlgn="base" latinLnBrk="1"/>
            <a:r>
              <a:rPr lang="en-US" altLang="ko-KR" sz="3200" dirty="0"/>
              <a:t>&lt;</a:t>
            </a:r>
            <a:r>
              <a:rPr lang="ko-KR" altLang="en-US" sz="3200" dirty="0"/>
              <a:t>예제 </a:t>
            </a:r>
            <a:r>
              <a:rPr lang="en-US" altLang="ko-KR" sz="3200" dirty="0"/>
              <a:t>7-1&gt; </a:t>
            </a:r>
            <a:r>
              <a:rPr lang="ko-KR" altLang="en-US" sz="3200" dirty="0" err="1"/>
              <a:t>산점도와</a:t>
            </a:r>
            <a:r>
              <a:rPr lang="ko-KR" altLang="en-US" sz="3200" dirty="0"/>
              <a:t> 상관계수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1B917CA-D121-451D-AE8E-14C52648CDC9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C890C86-75AF-4546-AE4D-B6604936A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38" y="1230804"/>
            <a:ext cx="4829175" cy="50768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349D7D8-BFE5-4500-91C0-211F6B883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759" y="5487448"/>
            <a:ext cx="6977603" cy="67946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ECB6A32-F1AA-42C8-9502-B2AD095E5E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6843" y="2437515"/>
            <a:ext cx="3547724" cy="303516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A8B4ED6-75EB-4976-B1B4-68665469BF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4831" y="1493121"/>
            <a:ext cx="2986276" cy="220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678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432087" cy="773425"/>
          </a:xfrm>
        </p:spPr>
        <p:txBody>
          <a:bodyPr/>
          <a:lstStyle/>
          <a:p>
            <a:pPr fontAlgn="base" latinLnBrk="1"/>
            <a:r>
              <a:rPr lang="en-US" altLang="ko-KR" sz="3200" dirty="0"/>
              <a:t>&lt;</a:t>
            </a:r>
            <a:r>
              <a:rPr lang="ko-KR" altLang="en-US" sz="3200" dirty="0"/>
              <a:t>예제 </a:t>
            </a:r>
            <a:r>
              <a:rPr lang="en-US" altLang="ko-KR" sz="3200" dirty="0"/>
              <a:t>7-1&gt; </a:t>
            </a:r>
            <a:r>
              <a:rPr lang="ko-KR" altLang="en-US" sz="3200" dirty="0" err="1"/>
              <a:t>산점도와</a:t>
            </a:r>
            <a:r>
              <a:rPr lang="ko-KR" altLang="en-US" sz="3200" dirty="0"/>
              <a:t> 상관계수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1B917CA-D121-451D-AE8E-14C52648CDC9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C890C86-75AF-4546-AE4D-B6604936A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38" y="1230804"/>
            <a:ext cx="4829175" cy="50768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349D7D8-BFE5-4500-91C0-211F6B883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575" y="2454419"/>
            <a:ext cx="6977603" cy="679467"/>
          </a:xfrm>
          <a:prstGeom prst="rect">
            <a:avLst/>
          </a:prstGeom>
        </p:spPr>
      </p:pic>
      <p:sp>
        <p:nvSpPr>
          <p:cNvPr id="13" name="Title 8">
            <a:extLst>
              <a:ext uri="{FF2B5EF4-FFF2-40B4-BE49-F238E27FC236}">
                <a16:creationId xmlns:a16="http://schemas.microsoft.com/office/drawing/2014/main" id="{B88B3BC3-BECA-495A-B9E5-DF9249435B3A}"/>
              </a:ext>
            </a:extLst>
          </p:cNvPr>
          <p:cNvSpPr txBox="1">
            <a:spLocks/>
          </p:cNvSpPr>
          <p:nvPr/>
        </p:nvSpPr>
        <p:spPr>
          <a:xfrm>
            <a:off x="4527575" y="3429000"/>
            <a:ext cx="6693237" cy="117903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값은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0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가까우므로 아래의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H0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귀무가설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기각하고 상관계수가 통계적으로 의미가 있는 것으로 결론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5FB052-6D28-4E53-8747-21E3A020B1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7575" y="4655646"/>
            <a:ext cx="6066452" cy="123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381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200" dirty="0"/>
              <a:t>7.1.2 </a:t>
            </a:r>
            <a:r>
              <a:rPr lang="ko-KR" altLang="en-US" sz="3200" dirty="0"/>
              <a:t>회귀 분석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B937749-A331-466F-B9D8-11CEC4830775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52BAA388-41A0-479C-9162-EE2CE71051A6}"/>
              </a:ext>
            </a:extLst>
          </p:cNvPr>
          <p:cNvSpPr txBox="1">
            <a:spLocks/>
          </p:cNvSpPr>
          <p:nvPr/>
        </p:nvSpPr>
        <p:spPr>
          <a:xfrm>
            <a:off x="594360" y="1288247"/>
            <a:ext cx="10540486" cy="504397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회귀 분석은 매출액 또는 주택 가격 등 연속적인 범위에 속하는 값을 예측하는 데 사용하는 통계적 분석 방법이며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머신러닝에서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지도 학습 알고리즘에 속한다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회귀 분석은 단어 앞에 선형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(linear)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이라는 단어를 넣는 경우가 많은데 이는 분석에 있어서 입력 값으로 사용하는 독립변수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(X)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출력 값을 의미하는 종속변수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(Y)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사이의 관계를 선형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함수식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절편과 기울기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으로 나타내기 때문이다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53288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200" dirty="0"/>
              <a:t>7.1.2 </a:t>
            </a:r>
            <a:r>
              <a:rPr lang="ko-KR" altLang="en-US" sz="3200" dirty="0"/>
              <a:t>회귀 분석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B937749-A331-466F-B9D8-11CEC4830775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52BAA388-41A0-479C-9162-EE2CE71051A6}"/>
              </a:ext>
            </a:extLst>
          </p:cNvPr>
          <p:cNvSpPr txBox="1">
            <a:spLocks/>
          </p:cNvSpPr>
          <p:nvPr/>
        </p:nvSpPr>
        <p:spPr>
          <a:xfrm>
            <a:off x="594360" y="1125409"/>
            <a:ext cx="10540486" cy="504397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예를 들어 선형 회귀 분석은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7-2]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같이 키와 몸무게를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차원 평면상에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산점도로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나타낼 때 각각의 점으로 표시된 데이터에 가장 적합한 직선 식을 찾는 방법이고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직선 식을 이용하여 독립 변수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몸무게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X)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대해 종속 변수의 값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Y)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추정하거나 예측할 수 있다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7-2]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몸무게와 키 사이의 함수 관계는 다음과 같으며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만약 몸무게가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60kg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이라면 키는 함수식에 의해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0.7507×60 + 124.36 = 169.4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예상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추측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D54C35-E79D-4AAB-88DF-6004F7F8B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83076"/>
            <a:ext cx="4934641" cy="357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563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200" dirty="0"/>
              <a:t>7.1.2 </a:t>
            </a:r>
            <a:r>
              <a:rPr lang="ko-KR" altLang="en-US" sz="3200" dirty="0"/>
              <a:t>회귀 분석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B937749-A331-466F-B9D8-11CEC4830775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8">
                <a:extLst>
                  <a:ext uri="{FF2B5EF4-FFF2-40B4-BE49-F238E27FC236}">
                    <a16:creationId xmlns:a16="http://schemas.microsoft.com/office/drawing/2014/main" id="{52BAA388-41A0-479C-9162-EE2CE71051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4360" y="1254088"/>
                <a:ext cx="10540486" cy="3870485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sz="4400" b="1" i="0" kern="1200" spc="100" baseline="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fontAlgn="base" latinLnBrk="1">
                  <a:lnSpc>
                    <a:spcPct val="100000"/>
                  </a:lnSpc>
                </a:pP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회귀분석은 대부분 종속변수가 연속형 데이터로 선형분석이 이루어지지만 종속변수가 이산형 또는 범주형 데이터의 경우에는 로지스틱 회귀분석을 이용한다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 </a:t>
                </a:r>
              </a:p>
              <a:p>
                <a:pPr fontAlgn="base" latinLnBrk="1">
                  <a:lnSpc>
                    <a:spcPct val="100000"/>
                  </a:lnSpc>
                </a:pPr>
                <a:endParaRPr lang="en-US" altLang="ko-KR" sz="21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fontAlgn="base" latinLnBrk="1">
                  <a:lnSpc>
                    <a:spcPct val="100000"/>
                  </a:lnSpc>
                </a:pP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독립 변수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(X)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가 한 개인 경우를 단순회귀모형이라 하고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종속변수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(Y) 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사이의 관계를 </a:t>
                </a:r>
                <a:endParaRPr lang="en-US" altLang="ko-KR" sz="21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fontAlgn="base" latinLnBrk="1">
                  <a:lnSpc>
                    <a:spcPct val="100000"/>
                  </a:lnSpc>
                </a:pP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기울기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100" b="0" i="1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b</m:t>
                    </m:r>
                  </m:oMath>
                </a14:m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와 절편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100" b="0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a</m:t>
                    </m:r>
                  </m:oMath>
                </a14:m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를 추정하여                   로 나타낸다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 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이때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100" b="0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a</m:t>
                    </m:r>
                  </m:oMath>
                </a14:m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100" b="0" i="1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b</m:t>
                    </m:r>
                  </m:oMath>
                </a14:m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를 계산하기 위하여 </a:t>
                </a:r>
                <a:r>
                  <a:rPr lang="ko-KR" altLang="en-US" sz="2100" b="0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최소제곱법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(method of least square)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을 이용</a:t>
                </a:r>
                <a:endParaRPr lang="en-US" altLang="ko-KR" sz="21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fontAlgn="base" latinLnBrk="1">
                  <a:lnSpc>
                    <a:spcPct val="100000"/>
                  </a:lnSpc>
                </a:pPr>
                <a:endParaRPr lang="en-US" altLang="ko-KR" sz="21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fontAlgn="base" latinLnBrk="1">
                  <a:lnSpc>
                    <a:spcPct val="100000"/>
                  </a:lnSpc>
                </a:pP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[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그림 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7-2]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를 살펴보면 추정된 함수 직선이 데이터 포인트를 지나가는 경우도 있지만 대부분의 포인트들은 함수 직선과 차이가 있다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 </a:t>
                </a:r>
              </a:p>
              <a:p>
                <a:pPr fontAlgn="base" latinLnBrk="1">
                  <a:lnSpc>
                    <a:spcPct val="100000"/>
                  </a:lnSpc>
                </a:pP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실제 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X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와 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Y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에 대한 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[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그림 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7-2]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의 </a:t>
                </a:r>
                <a:r>
                  <a:rPr lang="ko-KR" altLang="en-US" sz="2100" b="0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산점도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상에서 이 점들에 대해 가장 적합한 직선식을  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            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라고 하자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</a:t>
                </a:r>
              </a:p>
            </p:txBody>
          </p:sp>
        </mc:Choice>
        <mc:Fallback xmlns="">
          <p:sp>
            <p:nvSpPr>
              <p:cNvPr id="10" name="Title 8">
                <a:extLst>
                  <a:ext uri="{FF2B5EF4-FFF2-40B4-BE49-F238E27FC236}">
                    <a16:creationId xmlns:a16="http://schemas.microsoft.com/office/drawing/2014/main" id="{52BAA388-41A0-479C-9162-EE2CE7105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1254088"/>
                <a:ext cx="10540486" cy="3870485"/>
              </a:xfrm>
              <a:prstGeom prst="rect">
                <a:avLst/>
              </a:prstGeom>
              <a:blipFill>
                <a:blip r:embed="rId3"/>
                <a:stretch>
                  <a:fillRect l="-1562" t="-2205" r="-13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86702F24-635F-4DC0-B1F1-307F617B7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164" y="2540390"/>
            <a:ext cx="1485836" cy="33928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B7C18D4-45E9-4225-BB44-7840FC54EA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5370" y="4421304"/>
            <a:ext cx="1236227" cy="44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192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200" dirty="0"/>
              <a:t>7.1.2 </a:t>
            </a:r>
            <a:r>
              <a:rPr lang="ko-KR" altLang="en-US" sz="3200" dirty="0"/>
              <a:t>회귀 분석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B937749-A331-466F-B9D8-11CEC4830775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18</a:t>
            </a:fld>
            <a:endParaRPr 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CD5C9DD-762B-4D6C-A76F-EDAB3D88F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66" y="1150613"/>
            <a:ext cx="9412248" cy="4168281"/>
          </a:xfrm>
          <a:prstGeom prst="rect">
            <a:avLst/>
          </a:prstGeom>
        </p:spPr>
      </p:pic>
      <p:sp>
        <p:nvSpPr>
          <p:cNvPr id="13" name="Title 8">
            <a:extLst>
              <a:ext uri="{FF2B5EF4-FFF2-40B4-BE49-F238E27FC236}">
                <a16:creationId xmlns:a16="http://schemas.microsoft.com/office/drawing/2014/main" id="{0586A346-0476-4C08-9736-6B1B988EA821}"/>
              </a:ext>
            </a:extLst>
          </p:cNvPr>
          <p:cNvSpPr txBox="1">
            <a:spLocks/>
          </p:cNvSpPr>
          <p:nvPr/>
        </p:nvSpPr>
        <p:spPr>
          <a:xfrm>
            <a:off x="6821662" y="5593207"/>
            <a:ext cx="4276398" cy="92885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7-4]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7-3]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사각형 부분을 확대한 것이다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1002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200" dirty="0"/>
              <a:t>7.1.2 </a:t>
            </a:r>
            <a:r>
              <a:rPr lang="ko-KR" altLang="en-US" sz="3200" dirty="0"/>
              <a:t>회귀 분석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B937749-A331-466F-B9D8-11CEC4830775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19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8FA1A96-2381-4526-A68D-5064BA7D1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08" y="1363304"/>
            <a:ext cx="3404165" cy="29760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C1CB529-BD44-4BC3-86CE-051309073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6381" y="2865518"/>
            <a:ext cx="8584711" cy="297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1759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200" dirty="0"/>
              <a:t>7.1.2 </a:t>
            </a:r>
            <a:r>
              <a:rPr lang="ko-KR" altLang="en-US" sz="3200" dirty="0"/>
              <a:t>회귀 분석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B937749-A331-466F-B9D8-11CEC4830775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20</a:t>
            </a:fld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le 8">
                <a:extLst>
                  <a:ext uri="{FF2B5EF4-FFF2-40B4-BE49-F238E27FC236}">
                    <a16:creationId xmlns:a16="http://schemas.microsoft.com/office/drawing/2014/main" id="{F4C68049-7A99-422E-808A-B7306C0A82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729" y="2618107"/>
                <a:ext cx="11346446" cy="1621785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sz="4400" b="1" i="0" kern="1200" spc="100" baseline="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fontAlgn="base" latinLnBrk="1">
                  <a:lnSpc>
                    <a:spcPct val="100000"/>
                  </a:lnSpc>
                </a:pPr>
                <a:r>
                  <a:rPr lang="ko-KR" altLang="en-US" sz="2100" b="0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윗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식에서 회귀계수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100" b="0" i="1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a</m:t>
                    </m:r>
                  </m:oMath>
                </a14:m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100" b="0" i="1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b</m:t>
                    </m:r>
                  </m:oMath>
                </a14:m>
                <a:r>
                  <a:rPr lang="ko-KR" altLang="en-US" sz="2100" b="0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를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계산하는 방법으로 </a:t>
                </a:r>
                <a:r>
                  <a:rPr lang="ko-KR" altLang="en-US" sz="2100" b="0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최소제곱법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(method of least square)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을 이용</a:t>
                </a:r>
                <a:endParaRPr lang="en-US" altLang="ko-KR" sz="21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fontAlgn="base" latinLnBrk="1">
                  <a:lnSpc>
                    <a:spcPct val="100000"/>
                  </a:lnSpc>
                </a:pPr>
                <a:endParaRPr lang="en-US" altLang="ko-KR" sz="21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fontAlgn="base" latinLnBrk="1">
                  <a:lnSpc>
                    <a:spcPct val="100000"/>
                  </a:lnSpc>
                </a:pP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이는 모든 에 대한 </a:t>
                </a:r>
                <a:r>
                  <a:rPr lang="ko-KR" altLang="en-US" sz="2100" b="0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제곱합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(SSE : Sum of Squares for Error)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을 최소로 만드는 </a:t>
                </a:r>
                <a:endParaRPr lang="en-US" altLang="ko-KR" sz="21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fontAlgn="base" latinLnBrk="1">
                  <a:lnSpc>
                    <a:spcPct val="100000"/>
                  </a:lnSpc>
                </a:pP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회귀계수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100" b="0" i="1" dirty="0" smtClean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a</m:t>
                    </m:r>
                  </m:oMath>
                </a14:m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100" b="0" i="1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b</m:t>
                    </m:r>
                  </m:oMath>
                </a14:m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를 찾는 것이다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</a:t>
                </a:r>
              </a:p>
            </p:txBody>
          </p:sp>
        </mc:Choice>
        <mc:Fallback xmlns="">
          <p:sp>
            <p:nvSpPr>
              <p:cNvPr id="11" name="Title 8">
                <a:extLst>
                  <a:ext uri="{FF2B5EF4-FFF2-40B4-BE49-F238E27FC236}">
                    <a16:creationId xmlns:a16="http://schemas.microsoft.com/office/drawing/2014/main" id="{F4C68049-7A99-422E-808A-B7306C0A8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729" y="2618107"/>
                <a:ext cx="11346446" cy="1621785"/>
              </a:xfrm>
              <a:prstGeom prst="rect">
                <a:avLst/>
              </a:prstGeom>
              <a:blipFill>
                <a:blip r:embed="rId3"/>
                <a:stretch>
                  <a:fillRect l="-1451" t="-48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37270831-F2B4-4B6F-8E80-3E30D97F8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629" y="1551941"/>
            <a:ext cx="4470774" cy="77342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65B7C21-51A5-49EC-B3A3-C0B4DDCF7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833" y="4417694"/>
            <a:ext cx="8614992" cy="100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230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545D3755-C3E2-975E-DE68-CDECC4B526E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94359" y="102875"/>
                <a:ext cx="11280729" cy="773425"/>
              </a:xfrm>
            </p:spPr>
            <p:txBody>
              <a:bodyPr/>
              <a:lstStyle/>
              <a:p>
                <a:pPr fontAlgn="base" latinLnBrk="1"/>
                <a:r>
                  <a:rPr lang="en-US" altLang="ko-KR" sz="3200" dirty="0"/>
                  <a:t>[</a:t>
                </a:r>
                <a:r>
                  <a:rPr lang="ko-KR" altLang="en-US" sz="3200" dirty="0"/>
                  <a:t>참고 </a:t>
                </a:r>
                <a:r>
                  <a:rPr lang="en-US" altLang="ko-KR" sz="3200" dirty="0"/>
                  <a:t>1] </a:t>
                </a:r>
                <a:r>
                  <a:rPr lang="ko-KR" altLang="en-US" sz="3200" dirty="0" err="1"/>
                  <a:t>최소제곱법을</a:t>
                </a:r>
                <a:r>
                  <a:rPr lang="ko-KR" altLang="en-US" sz="3200" dirty="0"/>
                  <a:t> 사용한 회귀계수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3200" i="1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ko-KR" altLang="en-US" sz="3200" dirty="0"/>
                  <a:t>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3200" i="1" dirty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ko-KR" altLang="en-US" sz="3200" dirty="0"/>
                  <a:t>에 대한 추정</a:t>
                </a: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545D3755-C3E2-975E-DE68-CDECC4B526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94359" y="102875"/>
                <a:ext cx="11280729" cy="773425"/>
              </a:xfrm>
              <a:blipFill>
                <a:blip r:embed="rId3"/>
                <a:stretch>
                  <a:fillRect l="-2161" r="-270" b="-307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B937749-A331-466F-B9D8-11CEC4830775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21</a:t>
            </a:fld>
            <a:endParaRPr 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9A31848-A899-40B4-9BB6-65A3E3580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0392" y="1551765"/>
            <a:ext cx="8691649" cy="447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295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545D3755-C3E2-975E-DE68-CDECC4B526E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94360" y="102875"/>
                <a:ext cx="10873740" cy="773425"/>
              </a:xfrm>
            </p:spPr>
            <p:txBody>
              <a:bodyPr/>
              <a:lstStyle/>
              <a:p>
                <a:pPr fontAlgn="base" latinLnBrk="1"/>
                <a:r>
                  <a:rPr lang="en-US" altLang="ko-KR" sz="3200" dirty="0"/>
                  <a:t>[</a:t>
                </a:r>
                <a:r>
                  <a:rPr lang="ko-KR" altLang="en-US" sz="3200" dirty="0"/>
                  <a:t>참고 </a:t>
                </a:r>
                <a:r>
                  <a:rPr lang="en-US" altLang="ko-KR" sz="3200" dirty="0"/>
                  <a:t>1] </a:t>
                </a:r>
                <a:r>
                  <a:rPr lang="ko-KR" altLang="en-US" sz="3200" dirty="0" err="1"/>
                  <a:t>최소제곱법을</a:t>
                </a:r>
                <a:r>
                  <a:rPr lang="ko-KR" altLang="en-US" sz="3200" dirty="0"/>
                  <a:t> 사용한 회귀계수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3200" i="1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ko-KR" altLang="en-US" sz="3200" dirty="0"/>
                  <a:t>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3200" i="1" dirty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ko-KR" altLang="en-US" sz="3200" dirty="0"/>
                  <a:t>에 대한 추정</a:t>
                </a: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545D3755-C3E2-975E-DE68-CDECC4B526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94360" y="102875"/>
                <a:ext cx="10873740" cy="773425"/>
              </a:xfrm>
              <a:blipFill>
                <a:blip r:embed="rId3"/>
                <a:stretch>
                  <a:fillRect l="-2299" b="-314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B937749-A331-466F-B9D8-11CEC4830775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22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4026270-038E-4EC1-A5CC-D501D7896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268" y="1276380"/>
            <a:ext cx="7868802" cy="488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7601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ko-KR" altLang="en-US" sz="3200" dirty="0"/>
              <a:t>추정된 회귀직선의 정도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B937749-A331-466F-B9D8-11CEC4830775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23</a:t>
            </a:fld>
            <a:endParaRPr lang="en-US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itle 8">
                <a:extLst>
                  <a:ext uri="{FF2B5EF4-FFF2-40B4-BE49-F238E27FC236}">
                    <a16:creationId xmlns:a16="http://schemas.microsoft.com/office/drawing/2014/main" id="{BA165D48-C8D9-422B-BB2B-631A8716E6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4360" y="1288247"/>
                <a:ext cx="10540486" cy="5043973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sz="4400" b="1" i="0" kern="1200" spc="100" baseline="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algn="just" fontAlgn="base" latinLnBrk="1">
                  <a:lnSpc>
                    <a:spcPct val="100000"/>
                  </a:lnSpc>
                </a:pP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[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참고 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1]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에 의하여 추정된 </a:t>
                </a:r>
                <a:r>
                  <a:rPr lang="ko-KR" altLang="en-US" sz="2100" b="0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회귀직선이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두 변수 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X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와 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Y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사이의 관계를 얼마나 잘 설명하여 주는가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? 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즉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X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가 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Y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를 얼마나 잘 설명하고 있는가를 측정하기 위해서 결정계수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100" b="0" i="1" dirty="0" smtClean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r</m:t>
                    </m:r>
                  </m:oMath>
                </a14:m>
                <a:r>
                  <a:rPr lang="en-US" altLang="ko-KR" sz="2000" b="0" baseline="30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2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과 추정된 표준오차를 이용한다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 </a:t>
                </a:r>
              </a:p>
              <a:p>
                <a:pPr algn="just" fontAlgn="base" latinLnBrk="1">
                  <a:lnSpc>
                    <a:spcPct val="100000"/>
                  </a:lnSpc>
                </a:pPr>
                <a:endParaRPr lang="en-US" altLang="ko-KR" sz="21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just" fontAlgn="base" latinLnBrk="1">
                  <a:lnSpc>
                    <a:spcPct val="100000"/>
                  </a:lnSpc>
                </a:pP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결정계수는 전체의 변동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</a:t>
                </a:r>
                <a:r>
                  <a:rPr lang="ko-KR" altLang="en-US" sz="2100" b="0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총제곱합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TSS, Total Sum of Squares) 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중에서 추정된 </a:t>
                </a:r>
                <a:endParaRPr lang="en-US" altLang="ko-KR" sz="21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just" fontAlgn="base" latinLnBrk="1">
                  <a:lnSpc>
                    <a:spcPct val="100000"/>
                  </a:lnSpc>
                </a:pPr>
                <a:r>
                  <a:rPr lang="ko-KR" altLang="en-US" sz="2100" b="0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회귀직선에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의해 설명이 가능한 변동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(SSR, Sum of Squares for Regression)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의 </a:t>
                </a:r>
                <a:endParaRPr lang="en-US" altLang="ko-KR" sz="21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just" fontAlgn="base" latinLnBrk="1">
                  <a:lnSpc>
                    <a:spcPct val="100000"/>
                  </a:lnSpc>
                </a:pP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크기가 얼마나 되는가를 계산하는 것이다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</a:t>
                </a:r>
              </a:p>
            </p:txBody>
          </p:sp>
        </mc:Choice>
        <mc:Fallback>
          <p:sp>
            <p:nvSpPr>
              <p:cNvPr id="10" name="Title 8">
                <a:extLst>
                  <a:ext uri="{FF2B5EF4-FFF2-40B4-BE49-F238E27FC236}">
                    <a16:creationId xmlns:a16="http://schemas.microsoft.com/office/drawing/2014/main" id="{BA165D48-C8D9-422B-BB2B-631A8716E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1288247"/>
                <a:ext cx="10540486" cy="5043973"/>
              </a:xfrm>
              <a:prstGeom prst="rect">
                <a:avLst/>
              </a:prstGeom>
              <a:blipFill>
                <a:blip r:embed="rId3"/>
                <a:stretch>
                  <a:fillRect l="-1562" t="-1570" r="-15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93BB4BC2-4CB0-4CF0-A2B1-B558A20E3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6468" y="4275578"/>
            <a:ext cx="5967765" cy="218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541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ko-KR" altLang="en-US" sz="3200" dirty="0"/>
              <a:t>추정된 회귀직선의 정도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B937749-A331-466F-B9D8-11CEC4830775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24</a:t>
            </a:fld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8">
                <a:extLst>
                  <a:ext uri="{FF2B5EF4-FFF2-40B4-BE49-F238E27FC236}">
                    <a16:creationId xmlns:a16="http://schemas.microsoft.com/office/drawing/2014/main" id="{BA165D48-C8D9-422B-BB2B-631A8716E6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2154" y="3796972"/>
                <a:ext cx="10540486" cy="1832125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sz="4400" b="1" i="0" kern="1200" spc="100" baseline="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algn="just" fontAlgn="base" latinLnBrk="1">
                  <a:lnSpc>
                    <a:spcPct val="100000"/>
                  </a:lnSpc>
                </a:pP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만약 독립변수 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X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가 종속변수 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Y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의 변동을 설명하는데 전혀 정보를 제공하지 못한다면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100" b="0" i="1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S</m:t>
                    </m:r>
                    <m:r>
                      <m:rPr>
                        <m:sty m:val="p"/>
                      </m:rPr>
                      <a:rPr lang="en-US" altLang="ko-KR" sz="2100" b="0" i="1" dirty="0" smtClean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SR</m:t>
                    </m:r>
                  </m:oMath>
                </a14:m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=0 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이 될 것이고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반대로 충분한 정보를 제공하면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100" b="0" i="1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SSR</m:t>
                    </m:r>
                  </m:oMath>
                </a14:m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은 커지며 독립변수는 설명력 있는 중요한 변수가 될 것이다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 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따라서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100" b="0" i="1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SSR</m:t>
                    </m:r>
                  </m:oMath>
                </a14:m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이 클수록 결정계수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800" b="0" i="1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r</m:t>
                    </m:r>
                  </m:oMath>
                </a14:m>
                <a:r>
                  <a:rPr lang="en-US" altLang="ko-KR" sz="2400" b="0" baseline="300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2 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이 커지며 이는 추정된 회귀직선의 설명력이 높다는 것을 의미한다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 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결정계수는 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0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과 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1</a:t>
                </a:r>
                <a:r>
                  <a:rPr lang="ko-KR" altLang="en-US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사이의 값을 갖는다</a:t>
                </a:r>
                <a:r>
                  <a:rPr lang="en-US" altLang="ko-KR" sz="21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 </a:t>
                </a:r>
              </a:p>
            </p:txBody>
          </p:sp>
        </mc:Choice>
        <mc:Fallback xmlns="">
          <p:sp>
            <p:nvSpPr>
              <p:cNvPr id="10" name="Title 8">
                <a:extLst>
                  <a:ext uri="{FF2B5EF4-FFF2-40B4-BE49-F238E27FC236}">
                    <a16:creationId xmlns:a16="http://schemas.microsoft.com/office/drawing/2014/main" id="{BA165D48-C8D9-422B-BB2B-631A8716E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154" y="3796972"/>
                <a:ext cx="10540486" cy="1832125"/>
              </a:xfrm>
              <a:prstGeom prst="rect">
                <a:avLst/>
              </a:prstGeom>
              <a:blipFill>
                <a:blip r:embed="rId3"/>
                <a:stretch>
                  <a:fillRect l="-1562" t="-4667" r="-1562" b="-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93BB4BC2-4CB0-4CF0-A2B1-B558A20E3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558" y="1354906"/>
            <a:ext cx="5967765" cy="218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9245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ko-KR" altLang="en-US" sz="3200" dirty="0"/>
              <a:t>추정된 표준오차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B937749-A331-466F-B9D8-11CEC4830775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25</a:t>
            </a:fld>
            <a:endParaRPr lang="en-US" dirty="0">
              <a:latin typeface="+mn-lt"/>
            </a:endParaRPr>
          </a:p>
        </p:txBody>
      </p:sp>
      <p:sp>
        <p:nvSpPr>
          <p:cNvPr id="11" name="내용 개체 틀 6">
            <a:extLst>
              <a:ext uri="{FF2B5EF4-FFF2-40B4-BE49-F238E27FC236}">
                <a16:creationId xmlns:a16="http://schemas.microsoft.com/office/drawing/2014/main" id="{C061E461-12A6-4FF7-917D-8F30AEBA4EB4}"/>
              </a:ext>
            </a:extLst>
          </p:cNvPr>
          <p:cNvSpPr txBox="1">
            <a:spLocks/>
          </p:cNvSpPr>
          <p:nvPr/>
        </p:nvSpPr>
        <p:spPr>
          <a:xfrm>
            <a:off x="609601" y="1079499"/>
            <a:ext cx="11441372" cy="388828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ko-KR" altLang="en-US" sz="2200" dirty="0"/>
              <a:t>추정된 표준오차를 이용하는 방법은 </a:t>
            </a:r>
            <a:r>
              <a:rPr lang="ko-KR" altLang="en-US" sz="2200" dirty="0" err="1"/>
              <a:t>산점도에서</a:t>
            </a:r>
            <a:r>
              <a:rPr lang="ko-KR" altLang="en-US" sz="2200" dirty="0"/>
              <a:t> 실제 데이터 </a:t>
            </a:r>
            <a:r>
              <a:rPr lang="en-US" altLang="ko-KR" sz="2200" dirty="0"/>
              <a:t>(X</a:t>
            </a:r>
            <a:r>
              <a:rPr lang="en-US" altLang="ko-KR" sz="2200" baseline="-25000" dirty="0"/>
              <a:t>i</a:t>
            </a:r>
            <a:r>
              <a:rPr lang="en-US" altLang="ko-KR" sz="2200" dirty="0"/>
              <a:t>, Y</a:t>
            </a:r>
            <a:r>
              <a:rPr lang="en-US" altLang="ko-KR" sz="2200" baseline="-25000" dirty="0"/>
              <a:t>i</a:t>
            </a:r>
            <a:r>
              <a:rPr lang="en-US" altLang="ko-KR" sz="2200" dirty="0"/>
              <a:t>)</a:t>
            </a:r>
            <a:r>
              <a:rPr lang="ko-KR" altLang="en-US" sz="2200" dirty="0"/>
              <a:t>들이 추정된 </a:t>
            </a:r>
            <a:r>
              <a:rPr lang="ko-KR" altLang="en-US" sz="2200" dirty="0" err="1"/>
              <a:t>회귀직선을</a:t>
            </a:r>
            <a:r>
              <a:rPr lang="ko-KR" altLang="en-US" sz="2200" dirty="0"/>
              <a:t> 중심으로 얼마나 퍼져 있는가를 측정하는 것이다</a:t>
            </a:r>
            <a:r>
              <a:rPr lang="en-US" altLang="ko-KR" sz="2200" dirty="0"/>
              <a:t>.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ko-KR" sz="22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ko-KR" altLang="en-US" sz="2200" dirty="0"/>
              <a:t>이 크기는 </a:t>
            </a:r>
            <a:r>
              <a:rPr lang="en-US" altLang="ko-KR" sz="2200" dirty="0"/>
              <a:t>Y</a:t>
            </a:r>
            <a:r>
              <a:rPr lang="en-US" altLang="ko-KR" sz="2200" baseline="-25000" dirty="0"/>
              <a:t>i </a:t>
            </a:r>
            <a:r>
              <a:rPr lang="ko-KR" altLang="en-US" sz="2200" dirty="0"/>
              <a:t>와 </a:t>
            </a:r>
            <a:r>
              <a:rPr lang="ko-KR" altLang="en-US" sz="2200" dirty="0" err="1"/>
              <a:t>회귀직선에</a:t>
            </a:r>
            <a:r>
              <a:rPr lang="ko-KR" altLang="en-US" sz="2200" dirty="0"/>
              <a:t> 의해 추정된     와의 차이인 </a:t>
            </a:r>
            <a:r>
              <a:rPr lang="ko-KR" altLang="en-US" sz="2200" dirty="0" err="1"/>
              <a:t>잔차</a:t>
            </a:r>
            <a:r>
              <a:rPr lang="ko-KR" altLang="en-US" sz="2200" dirty="0"/>
              <a:t>                           에 대한 것이다</a:t>
            </a:r>
            <a:r>
              <a:rPr lang="en-US" altLang="ko-KR" sz="2200" dirty="0"/>
              <a:t>.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ko-KR" sz="22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ko-KR" altLang="en-US" sz="2200" dirty="0"/>
              <a:t>만약 </a:t>
            </a:r>
            <a:r>
              <a:rPr lang="en-US" altLang="ko-KR" sz="2200" dirty="0"/>
              <a:t>Y</a:t>
            </a:r>
            <a:r>
              <a:rPr lang="en-US" altLang="ko-KR" sz="2200" baseline="-25000" dirty="0"/>
              <a:t>i </a:t>
            </a:r>
            <a:r>
              <a:rPr lang="ko-KR" altLang="en-US" sz="2200" dirty="0"/>
              <a:t>가 </a:t>
            </a:r>
            <a:r>
              <a:rPr lang="ko-KR" altLang="en-US" sz="2200" dirty="0" err="1"/>
              <a:t>회귀직선</a:t>
            </a:r>
            <a:r>
              <a:rPr lang="ko-KR" altLang="en-US" sz="2200" dirty="0"/>
              <a:t> 주변에 모여 있다면 </a:t>
            </a:r>
            <a:r>
              <a:rPr lang="ko-KR" altLang="en-US" sz="2200" dirty="0" err="1"/>
              <a:t>잔차의</a:t>
            </a:r>
            <a:r>
              <a:rPr lang="ko-KR" altLang="en-US" sz="2200" dirty="0"/>
              <a:t> 크기는 줄어들 것이고</a:t>
            </a:r>
            <a:r>
              <a:rPr lang="en-US" altLang="ko-KR" sz="2200" dirty="0"/>
              <a:t>, </a:t>
            </a:r>
            <a:r>
              <a:rPr lang="ko-KR" altLang="en-US" sz="2200" dirty="0"/>
              <a:t>반대로 </a:t>
            </a:r>
            <a:r>
              <a:rPr lang="en-US" altLang="ko-KR" sz="2200" dirty="0"/>
              <a:t>Y</a:t>
            </a:r>
            <a:r>
              <a:rPr lang="en-US" altLang="ko-KR" sz="2200" baseline="-25000" dirty="0"/>
              <a:t>i </a:t>
            </a:r>
            <a:r>
              <a:rPr lang="ko-KR" altLang="en-US" sz="2200" dirty="0"/>
              <a:t>가 </a:t>
            </a:r>
            <a:r>
              <a:rPr lang="ko-KR" altLang="en-US" sz="2200" dirty="0" err="1"/>
              <a:t>회귀직선으로부터</a:t>
            </a:r>
            <a:r>
              <a:rPr lang="ko-KR" altLang="en-US" sz="2200" dirty="0"/>
              <a:t> 많이 떨어져 있다면 </a:t>
            </a:r>
            <a:r>
              <a:rPr lang="ko-KR" altLang="en-US" sz="2200" dirty="0" err="1"/>
              <a:t>잔차의</a:t>
            </a:r>
            <a:r>
              <a:rPr lang="ko-KR" altLang="en-US" sz="2200" dirty="0"/>
              <a:t> 크기는 커질 것이다</a:t>
            </a:r>
            <a:r>
              <a:rPr lang="en-US" altLang="ko-KR" sz="2200" dirty="0"/>
              <a:t>.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ko-KR" sz="22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ko-KR" altLang="en-US" sz="2200" dirty="0"/>
              <a:t>이를 나타내는 측정값으로 다음과 같이 </a:t>
            </a:r>
            <a:r>
              <a:rPr lang="ko-KR" altLang="en-US" sz="2200" dirty="0" err="1"/>
              <a:t>잔차의</a:t>
            </a:r>
            <a:r>
              <a:rPr lang="ko-KR" altLang="en-US" sz="2200" dirty="0"/>
              <a:t> </a:t>
            </a:r>
            <a:r>
              <a:rPr lang="ko-KR" altLang="en-US" sz="2200" dirty="0" err="1"/>
              <a:t>표준오차인</a:t>
            </a:r>
            <a:r>
              <a:rPr lang="ko-KR" altLang="en-US" sz="2200" dirty="0"/>
              <a:t> </a:t>
            </a:r>
            <a:r>
              <a:rPr lang="en-US" altLang="ko-KR" sz="2200" dirty="0"/>
              <a:t>S</a:t>
            </a:r>
            <a:r>
              <a:rPr lang="en-US" altLang="ko-KR" sz="2200" baseline="-25000" dirty="0"/>
              <a:t>e</a:t>
            </a:r>
            <a:r>
              <a:rPr lang="ko-KR" altLang="en-US" sz="2200" dirty="0"/>
              <a:t>를 사용한다</a:t>
            </a:r>
            <a:r>
              <a:rPr lang="en-US" altLang="ko-KR" sz="2200" dirty="0"/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3590079-0D80-4980-81E7-2B5D40450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043" y="2056562"/>
            <a:ext cx="335280" cy="48196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13FAAAE-729A-4823-8881-6FE1F2BB67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073" y="2056562"/>
            <a:ext cx="1581150" cy="4572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78B7AD5-DB76-49ED-B66D-33B57E0E04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6664" y="4830713"/>
            <a:ext cx="7160066" cy="123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1100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200" dirty="0"/>
              <a:t>&lt;</a:t>
            </a:r>
            <a:r>
              <a:rPr lang="ko-KR" altLang="en-US" sz="3200" dirty="0"/>
              <a:t>예제 </a:t>
            </a:r>
            <a:r>
              <a:rPr lang="en-US" altLang="ko-KR" sz="3200" dirty="0"/>
              <a:t>7-2&gt; </a:t>
            </a:r>
            <a:r>
              <a:rPr lang="ko-KR" altLang="en-US" sz="3200" dirty="0"/>
              <a:t>단순 회귀분석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B937749-A331-466F-B9D8-11CEC4830775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26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52BAA388-41A0-479C-9162-EE2CE71051A6}"/>
              </a:ext>
            </a:extLst>
          </p:cNvPr>
          <p:cNvSpPr txBox="1">
            <a:spLocks/>
          </p:cNvSpPr>
          <p:nvPr/>
        </p:nvSpPr>
        <p:spPr>
          <a:xfrm>
            <a:off x="594360" y="1288247"/>
            <a:ext cx="10540486" cy="214075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부모와 자식의 키 데이터를 이용하여 부모의 키가 자식의 키에 영향을 준다고 할 때 부모의 키를 독립변수로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자식의 키를 종속변수로 하여 회귀분석을 실시하고 가설을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검정하시오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추가로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산점도를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그리고 추정된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회귀직선을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나타내시오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파이썬에서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산점도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(scatter plot)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회귀직선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(line plot)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동시에 나타내는데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regplot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사용하고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회귀분석은 함수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ols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이용한다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67E413-BF8D-4AD5-BDF4-9B13CCB7E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887" y="3552681"/>
            <a:ext cx="8343135" cy="305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8630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200" dirty="0"/>
              <a:t>&lt;</a:t>
            </a:r>
            <a:r>
              <a:rPr lang="ko-KR" altLang="en-US" sz="3200" dirty="0"/>
              <a:t>예제 </a:t>
            </a:r>
            <a:r>
              <a:rPr lang="en-US" altLang="ko-KR" sz="3200" dirty="0"/>
              <a:t>7-2&gt; </a:t>
            </a:r>
            <a:r>
              <a:rPr lang="ko-KR" altLang="en-US" sz="3200" dirty="0"/>
              <a:t>단순 회귀분석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B937749-A331-466F-B9D8-11CEC4830775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27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52BAA388-41A0-479C-9162-EE2CE71051A6}"/>
              </a:ext>
            </a:extLst>
          </p:cNvPr>
          <p:cNvSpPr txBox="1">
            <a:spLocks/>
          </p:cNvSpPr>
          <p:nvPr/>
        </p:nvSpPr>
        <p:spPr>
          <a:xfrm>
            <a:off x="825757" y="1885961"/>
            <a:ext cx="10540486" cy="214075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1885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년 연구에서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프란시스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골톤이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사용한 데이터에는 총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6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개의 변수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가족 구분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아버지의 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엄마의 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자식의 성별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자식의 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자녀의 수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포함되어 있지만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&lt;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7-2&gt;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프로그램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예제 분석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-2.py)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에서는 아버지의 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독립변수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딸의 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종속변수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두 가지 변수를 이용하기로 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원자료의 단위는 인치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(inch)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이지만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2.54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곱하여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cm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단위로 사용하였다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578922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200" dirty="0"/>
              <a:t>&lt;</a:t>
            </a:r>
            <a:r>
              <a:rPr lang="ko-KR" altLang="en-US" sz="3200" dirty="0"/>
              <a:t>예제 </a:t>
            </a:r>
            <a:r>
              <a:rPr lang="en-US" altLang="ko-KR" sz="3200" dirty="0"/>
              <a:t>7-2&gt; </a:t>
            </a:r>
            <a:r>
              <a:rPr lang="ko-KR" altLang="en-US" sz="3200" dirty="0"/>
              <a:t>단순 회귀분석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B937749-A331-466F-B9D8-11CEC4830775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28</a:t>
            </a:fld>
            <a:endParaRPr 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00D1099-4CB2-445F-A4AE-8B17FD80A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09326"/>
            <a:ext cx="6173752" cy="4347433"/>
          </a:xfrm>
          <a:prstGeom prst="rect">
            <a:avLst/>
          </a:prstGeom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6B556AC3-BEBF-448A-97FB-F4AABFFB5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775" y="234382"/>
            <a:ext cx="4378325" cy="324866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9F16A5EA-9500-4672-9F2B-7394ED27E5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3459" y="3805392"/>
            <a:ext cx="5764946" cy="291909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1983873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200" dirty="0"/>
              <a:t>&lt;</a:t>
            </a:r>
            <a:r>
              <a:rPr lang="ko-KR" altLang="en-US" sz="3200" dirty="0"/>
              <a:t>예제 </a:t>
            </a:r>
            <a:r>
              <a:rPr lang="en-US" altLang="ko-KR" sz="3200" dirty="0"/>
              <a:t>7-2&gt; </a:t>
            </a:r>
            <a:r>
              <a:rPr lang="ko-KR" altLang="en-US" sz="3200" dirty="0"/>
              <a:t>단순 회귀분석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B937749-A331-466F-B9D8-11CEC4830775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29</a:t>
            </a:fld>
            <a:endParaRPr lang="en-US" dirty="0">
              <a:latin typeface="+mn-lt"/>
            </a:endParaRP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6B556AC3-BEBF-448A-97FB-F4AABFFB5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95" y="1739617"/>
            <a:ext cx="4378325" cy="32486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4" name="내용 개체 틀 6">
            <a:extLst>
              <a:ext uri="{FF2B5EF4-FFF2-40B4-BE49-F238E27FC236}">
                <a16:creationId xmlns:a16="http://schemas.microsoft.com/office/drawing/2014/main" id="{22E46D60-41DB-4696-9E67-200F2174233B}"/>
              </a:ext>
            </a:extLst>
          </p:cNvPr>
          <p:cNvSpPr txBox="1">
            <a:spLocks/>
          </p:cNvSpPr>
          <p:nvPr/>
        </p:nvSpPr>
        <p:spPr>
          <a:xfrm>
            <a:off x="5394856" y="1636872"/>
            <a:ext cx="5897880" cy="324866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2200" dirty="0"/>
              <a:t>[</a:t>
            </a:r>
            <a:r>
              <a:rPr lang="ko-KR" altLang="en-US" sz="2200" dirty="0"/>
              <a:t>결과 </a:t>
            </a:r>
            <a:r>
              <a:rPr lang="en-US" altLang="ko-KR" sz="2200" dirty="0"/>
              <a:t>1]</a:t>
            </a:r>
            <a:r>
              <a:rPr lang="ko-KR" altLang="en-US" sz="2200" dirty="0"/>
              <a:t>은 아버지의 키를 </a:t>
            </a:r>
            <a:r>
              <a:rPr lang="en-US" altLang="ko-KR" sz="2200" dirty="0"/>
              <a:t>x</a:t>
            </a:r>
            <a:r>
              <a:rPr lang="ko-KR" altLang="en-US" sz="2200" dirty="0"/>
              <a:t>축으로</a:t>
            </a:r>
            <a:r>
              <a:rPr lang="en-US" altLang="ko-KR" sz="2200" dirty="0"/>
              <a:t>, </a:t>
            </a:r>
            <a:r>
              <a:rPr lang="ko-KR" altLang="en-US" sz="2200" dirty="0"/>
              <a:t>딸의 </a:t>
            </a:r>
            <a:endParaRPr lang="en-US" altLang="ko-KR" sz="2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ko-KR" altLang="en-US" sz="2200" dirty="0"/>
              <a:t>키를 </a:t>
            </a:r>
            <a:r>
              <a:rPr lang="en-US" altLang="ko-KR" sz="2200" dirty="0"/>
              <a:t>y</a:t>
            </a:r>
            <a:r>
              <a:rPr lang="ko-KR" altLang="en-US" sz="2200" dirty="0"/>
              <a:t>축으로 </a:t>
            </a:r>
            <a:r>
              <a:rPr lang="ko-KR" altLang="en-US" sz="2200" dirty="0" err="1"/>
              <a:t>산점도를</a:t>
            </a:r>
            <a:r>
              <a:rPr lang="ko-KR" altLang="en-US" sz="2200" dirty="0"/>
              <a:t> 나타냈고</a:t>
            </a:r>
            <a:r>
              <a:rPr lang="en-US" altLang="ko-KR" sz="2200" dirty="0"/>
              <a:t>, </a:t>
            </a:r>
            <a:r>
              <a:rPr lang="ko-KR" altLang="en-US" sz="2200" dirty="0"/>
              <a:t>추정된 </a:t>
            </a:r>
            <a:endParaRPr lang="en-US" altLang="ko-KR" sz="2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ko-KR" altLang="en-US" sz="2200" dirty="0" err="1"/>
              <a:t>회귀직선을</a:t>
            </a:r>
            <a:r>
              <a:rPr lang="ko-KR" altLang="en-US" sz="2200" dirty="0"/>
              <a:t> 표시하였다</a:t>
            </a:r>
            <a:r>
              <a:rPr lang="en-US" altLang="ko-KR" sz="2200" dirty="0"/>
              <a:t>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ko-KR" sz="2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ko-KR" altLang="en-US" sz="2200" dirty="0" err="1"/>
              <a:t>산점도에서</a:t>
            </a:r>
            <a:r>
              <a:rPr lang="ko-KR" altLang="en-US" sz="2200" dirty="0"/>
              <a:t> </a:t>
            </a:r>
            <a:r>
              <a:rPr lang="en-US" altLang="ko-KR" sz="2200" dirty="0"/>
              <a:t>x</a:t>
            </a:r>
            <a:r>
              <a:rPr lang="ko-KR" altLang="en-US" sz="2200" dirty="0"/>
              <a:t>축에 대해 수직 방향의 점들이 많이 나타나는 것은 특정 아버지의 딸이 </a:t>
            </a:r>
            <a:endParaRPr lang="en-US" altLang="ko-KR" sz="2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ko-KR" altLang="en-US" sz="2200" dirty="0"/>
              <a:t>여러 명 있는 경우에 아버지의 키</a:t>
            </a:r>
            <a:r>
              <a:rPr lang="en-US" altLang="ko-KR" sz="2200" dirty="0"/>
              <a:t>(x)</a:t>
            </a:r>
            <a:r>
              <a:rPr lang="ko-KR" altLang="en-US" sz="2200" dirty="0"/>
              <a:t>가 고정된 상태에서 딸의 키</a:t>
            </a:r>
            <a:r>
              <a:rPr lang="en-US" altLang="ko-KR" sz="2200" dirty="0"/>
              <a:t>(y)</a:t>
            </a:r>
            <a:r>
              <a:rPr lang="ko-KR" altLang="en-US" sz="2200" dirty="0"/>
              <a:t>를 표시했기 때문이다</a:t>
            </a:r>
            <a:r>
              <a:rPr lang="en-US" altLang="ko-KR" sz="2200" dirty="0"/>
              <a:t>. </a:t>
            </a:r>
            <a:r>
              <a:rPr lang="ko-KR" altLang="en-US" sz="2200" dirty="0"/>
              <a:t>회귀직선의 식은 </a:t>
            </a:r>
            <a:r>
              <a:rPr lang="en-US" altLang="ko-KR" sz="2200" dirty="0"/>
              <a:t>[</a:t>
            </a:r>
            <a:r>
              <a:rPr lang="ko-KR" altLang="en-US" sz="2200" dirty="0"/>
              <a:t>결과 </a:t>
            </a:r>
            <a:r>
              <a:rPr lang="en-US" altLang="ko-KR" sz="2200" dirty="0"/>
              <a:t>2]</a:t>
            </a:r>
            <a:r>
              <a:rPr lang="ko-KR" altLang="en-US" sz="2200" dirty="0"/>
              <a:t>에 나타나 있다</a:t>
            </a:r>
            <a:r>
              <a:rPr lang="en-US" altLang="ko-KR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70762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200" dirty="0"/>
              <a:t>&lt;</a:t>
            </a:r>
            <a:r>
              <a:rPr lang="ko-KR" altLang="en-US" sz="3200" dirty="0"/>
              <a:t>예제 </a:t>
            </a:r>
            <a:r>
              <a:rPr lang="en-US" altLang="ko-KR" sz="3200" dirty="0"/>
              <a:t>7-2&gt; </a:t>
            </a:r>
            <a:r>
              <a:rPr lang="ko-KR" altLang="en-US" sz="3200" dirty="0"/>
              <a:t>단순 회귀분석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B937749-A331-466F-B9D8-11CEC4830775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30</a:t>
            </a:fld>
            <a:endParaRPr lang="en-US" dirty="0">
              <a:latin typeface="+mn-lt"/>
            </a:endParaRPr>
          </a:p>
        </p:txBody>
      </p:sp>
      <p:sp>
        <p:nvSpPr>
          <p:cNvPr id="14" name="내용 개체 틀 6">
            <a:extLst>
              <a:ext uri="{FF2B5EF4-FFF2-40B4-BE49-F238E27FC236}">
                <a16:creationId xmlns:a16="http://schemas.microsoft.com/office/drawing/2014/main" id="{22E46D60-41DB-4696-9E67-200F2174233B}"/>
              </a:ext>
            </a:extLst>
          </p:cNvPr>
          <p:cNvSpPr txBox="1">
            <a:spLocks/>
          </p:cNvSpPr>
          <p:nvPr/>
        </p:nvSpPr>
        <p:spPr>
          <a:xfrm>
            <a:off x="484177" y="1261244"/>
            <a:ext cx="10764196" cy="7734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ko-KR" sz="2200" dirty="0"/>
              <a:t>[</a:t>
            </a:r>
            <a:r>
              <a:rPr lang="ko-KR" altLang="en-US" sz="2200" dirty="0"/>
              <a:t>결과 </a:t>
            </a:r>
            <a:r>
              <a:rPr lang="en-US" altLang="ko-KR" sz="2200" dirty="0"/>
              <a:t>2]</a:t>
            </a:r>
            <a:r>
              <a:rPr lang="ko-KR" altLang="en-US" sz="2200" dirty="0"/>
              <a:t>에서 결정계수는 </a:t>
            </a:r>
            <a:r>
              <a:rPr lang="en-US" altLang="ko-KR" sz="2200" dirty="0"/>
              <a:t>0.2, </a:t>
            </a:r>
            <a:r>
              <a:rPr lang="ko-KR" altLang="en-US" sz="2200" dirty="0"/>
              <a:t>회귀모형의 적합성을 검정한 결과 </a:t>
            </a:r>
            <a:r>
              <a:rPr lang="en-US" altLang="ko-KR" sz="2200" dirty="0"/>
              <a:t>p</a:t>
            </a:r>
            <a:r>
              <a:rPr lang="ko-KR" altLang="en-US" sz="2200" dirty="0"/>
              <a:t>값이 거의 </a:t>
            </a:r>
            <a:r>
              <a:rPr lang="en-US" altLang="ko-KR" sz="2200" dirty="0"/>
              <a:t>0</a:t>
            </a:r>
            <a:r>
              <a:rPr lang="ko-KR" altLang="en-US" sz="2200" dirty="0"/>
              <a:t>에 가까운 값이므로 아래의 </a:t>
            </a:r>
            <a:r>
              <a:rPr lang="en-US" altLang="ko-KR" sz="2200" dirty="0"/>
              <a:t>H0 </a:t>
            </a:r>
            <a:r>
              <a:rPr lang="ko-KR" altLang="en-US" sz="2200" dirty="0"/>
              <a:t>가설</a:t>
            </a:r>
            <a:r>
              <a:rPr lang="en-US" altLang="ko-KR" sz="2200" dirty="0"/>
              <a:t>(</a:t>
            </a:r>
            <a:r>
              <a:rPr lang="ko-KR" altLang="en-US" sz="2200" dirty="0" err="1"/>
              <a:t>귀무가설</a:t>
            </a:r>
            <a:r>
              <a:rPr lang="en-US" altLang="ko-KR" sz="2200" dirty="0"/>
              <a:t>)</a:t>
            </a:r>
            <a:r>
              <a:rPr lang="ko-KR" altLang="en-US" sz="2200" dirty="0"/>
              <a:t>을 기각한다</a:t>
            </a:r>
            <a:r>
              <a:rPr lang="en-US" altLang="ko-KR" sz="2200" dirty="0"/>
              <a:t>. 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F554FD44-269D-44D5-9EA9-28079DE5C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863" y="3028846"/>
            <a:ext cx="7012961" cy="355102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FD6AB8A-536C-45D7-94BA-02280DCA3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76" y="2203289"/>
            <a:ext cx="4015873" cy="116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2070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200" dirty="0"/>
              <a:t>&lt;</a:t>
            </a:r>
            <a:r>
              <a:rPr lang="ko-KR" altLang="en-US" sz="3200" dirty="0"/>
              <a:t>예제 </a:t>
            </a:r>
            <a:r>
              <a:rPr lang="en-US" altLang="ko-KR" sz="3200" dirty="0"/>
              <a:t>7-2&gt; </a:t>
            </a:r>
            <a:r>
              <a:rPr lang="ko-KR" altLang="en-US" sz="3200" dirty="0"/>
              <a:t>단순 회귀분석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B937749-A331-466F-B9D8-11CEC4830775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31</a:t>
            </a:fld>
            <a:endParaRPr lang="en-US" dirty="0">
              <a:latin typeface="+mn-lt"/>
            </a:endParaRPr>
          </a:p>
        </p:txBody>
      </p:sp>
      <p:sp>
        <p:nvSpPr>
          <p:cNvPr id="14" name="내용 개체 틀 6">
            <a:extLst>
              <a:ext uri="{FF2B5EF4-FFF2-40B4-BE49-F238E27FC236}">
                <a16:creationId xmlns:a16="http://schemas.microsoft.com/office/drawing/2014/main" id="{22E46D60-41DB-4696-9E67-200F2174233B}"/>
              </a:ext>
            </a:extLst>
          </p:cNvPr>
          <p:cNvSpPr txBox="1">
            <a:spLocks/>
          </p:cNvSpPr>
          <p:nvPr/>
        </p:nvSpPr>
        <p:spPr>
          <a:xfrm>
            <a:off x="484177" y="1261244"/>
            <a:ext cx="10764196" cy="216775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회귀계수에 대한 검정에서 절편</a:t>
            </a:r>
            <a:r>
              <a:rPr lang="en-US" altLang="ko-KR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(intercept, 90.3865)</a:t>
            </a:r>
            <a:r>
              <a:rPr lang="ko-KR" altLang="en-US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계수</a:t>
            </a:r>
            <a:r>
              <a:rPr lang="en-US" altLang="ko-KR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en-US" altLang="ko-KR" sz="2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df.father</a:t>
            </a:r>
            <a:r>
              <a:rPr lang="en-US" altLang="ko-KR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0.4116) </a:t>
            </a:r>
            <a:r>
              <a:rPr lang="ko-KR" altLang="en-US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모두 통계적으로 유의하며 추정된 회귀식은 다음과 같다</a:t>
            </a:r>
            <a:r>
              <a:rPr lang="en-US" altLang="ko-KR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2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결과는 </a:t>
            </a:r>
            <a:r>
              <a:rPr lang="en-US" altLang="ko-KR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1885</a:t>
            </a:r>
            <a:r>
              <a:rPr lang="ko-KR" altLang="en-US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년도의 자료를 이용한 것이기에 최근의 다른 표본을 이용한다면 </a:t>
            </a:r>
            <a:endParaRPr lang="en-US" altLang="ko-KR" sz="2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표본 회귀식은 달라질 수 있다</a:t>
            </a:r>
            <a:r>
              <a:rPr lang="en-US" altLang="ko-KR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6D6CAF4-6139-42FD-9AAB-B7635D874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073" y="3361506"/>
            <a:ext cx="6368023" cy="153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4592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상관분석</a:t>
            </a:r>
            <a:endParaRPr lang="ko-KR" altLang="en-US" sz="30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EF86868-109A-4F22-9DB9-5830B28A5ACA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32</a:t>
            </a:fld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le 8">
                <a:extLst>
                  <a:ext uri="{FF2B5EF4-FFF2-40B4-BE49-F238E27FC236}">
                    <a16:creationId xmlns:a16="http://schemas.microsoft.com/office/drawing/2014/main" id="{835D1B90-712A-49C4-A4ED-F92B7C26C6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4360" y="1193184"/>
                <a:ext cx="10540486" cy="4926454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sz="4400" b="1" i="0" kern="1200" spc="100" baseline="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algn="just" fontAlgn="base" latinLnBrk="1">
                  <a:lnSpc>
                    <a:spcPct val="100000"/>
                  </a:lnSpc>
                </a:pP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상관분석은 변수들 간의 단순한 상호 관계성의 정도를 분석하는 통계적 기법이다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 </a:t>
                </a:r>
              </a:p>
              <a:p>
                <a:pPr algn="just" fontAlgn="base" latinLnBrk="1">
                  <a:lnSpc>
                    <a:spcPct val="100000"/>
                  </a:lnSpc>
                </a:pP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상관분석은 두 변수의 순서쌍으로 구성된 개의 표본요소 에 대해서 두 </a:t>
                </a:r>
                <a:r>
                  <a:rPr lang="ko-KR" altLang="en-US" sz="2000" b="0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변수간의</a:t>
                </a: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상관관계를 표본 상관계수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1" dirty="0" smtClean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r</m:t>
                    </m:r>
                  </m:oMath>
                </a14:m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을 통해 나타낸다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</a:t>
                </a:r>
              </a:p>
              <a:p>
                <a:pPr algn="just" fontAlgn="base" latinLnBrk="1">
                  <a:lnSpc>
                    <a:spcPct val="100000"/>
                  </a:lnSpc>
                </a:pPr>
                <a:endParaRPr lang="en-US" altLang="ko-KR" sz="20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just" fontAlgn="base" latinLnBrk="1">
                  <a:lnSpc>
                    <a:spcPct val="100000"/>
                  </a:lnSpc>
                </a:pPr>
                <a:endParaRPr lang="en-US" altLang="ko-KR" sz="20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mc:Choice>
        <mc:Fallback xmlns="">
          <p:sp>
            <p:nvSpPr>
              <p:cNvPr id="11" name="Title 8">
                <a:extLst>
                  <a:ext uri="{FF2B5EF4-FFF2-40B4-BE49-F238E27FC236}">
                    <a16:creationId xmlns:a16="http://schemas.microsoft.com/office/drawing/2014/main" id="{835D1B90-712A-49C4-A4ED-F92B7C26C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1193184"/>
                <a:ext cx="10540486" cy="4926454"/>
              </a:xfrm>
              <a:prstGeom prst="rect">
                <a:avLst/>
              </a:prstGeom>
              <a:blipFill>
                <a:blip r:embed="rId3"/>
                <a:stretch>
                  <a:fillRect l="-1504" t="-1609" r="-14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EEA35120-04EA-4853-B053-656829A87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603" y="2006975"/>
            <a:ext cx="3699699" cy="189315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DCECB94-5DE8-4F5E-8CDD-3F51846404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154" y="3319739"/>
            <a:ext cx="5026148" cy="241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648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회귀분석</a:t>
            </a:r>
            <a:endParaRPr lang="ko-KR" altLang="en-US" sz="30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EF86868-109A-4F22-9DB9-5830B28A5ACA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33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835D1B90-712A-49C4-A4ED-F92B7C26C687}"/>
              </a:ext>
            </a:extLst>
          </p:cNvPr>
          <p:cNvSpPr txBox="1">
            <a:spLocks/>
          </p:cNvSpPr>
          <p:nvPr/>
        </p:nvSpPr>
        <p:spPr>
          <a:xfrm>
            <a:off x="594360" y="1193184"/>
            <a:ext cx="10540486" cy="49264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상관분석은 변수들 간의 단순한 관련성의 정도를 파악하는 것이고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회귀분석은 변수 간의 인과관계를 분석하는 방법으로 변수들 중 하나를 종속변수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영향을 받는 변수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나머지를 독립변수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영향을 주는 변수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하여 이들의 함수관계를 통해 한 변수의 값으로부터 다른 변수의 값을 예측하는데 사용하는 분석방법이다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■ 회귀모형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ko-KR" altLang="en-US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독립변수를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X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 하고 종속변수를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Y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 할 때 회귀분석의 기초가 되는 모집단 모형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(model)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단순회귀모형이라 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AF6FA1-C16A-4D0E-997E-6FFF0B7A6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039" y="4313628"/>
            <a:ext cx="8164871" cy="135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193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회귀분석</a:t>
            </a:r>
            <a:endParaRPr lang="ko-KR" altLang="en-US" sz="30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EF86868-109A-4F22-9DB9-5830B28A5ACA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34</a:t>
            </a:fld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le 8">
                <a:extLst>
                  <a:ext uri="{FF2B5EF4-FFF2-40B4-BE49-F238E27FC236}">
                    <a16:creationId xmlns:a16="http://schemas.microsoft.com/office/drawing/2014/main" id="{835D1B90-712A-49C4-A4ED-F92B7C26C6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4360" y="1193184"/>
                <a:ext cx="10540486" cy="4926454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sz="4400" b="1" i="0" kern="1200" spc="100" baseline="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algn="just" fontAlgn="base" latinLnBrk="1">
                  <a:lnSpc>
                    <a:spcPct val="100000"/>
                  </a:lnSpc>
                </a:pP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회귀분석을 통해 궁극적으로 얻고자 하는 것은 회귀모형에서 모수인 </a:t>
                </a:r>
                <a14:m>
                  <m:oMath xmlns:m="http://schemas.openxmlformats.org/officeDocument/2006/math">
                    <m:r>
                      <a:rPr lang="ko-KR" altLang="en-US" sz="2000" b="0" i="1" smtClean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𝛼</m:t>
                    </m:r>
                  </m:oMath>
                </a14:m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ko-KR" altLang="en-US" sz="2000" b="0" i="1" dirty="0" smtClean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𝛽</m:t>
                    </m:r>
                  </m:oMath>
                </a14:m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에 대한 추정을 통해 위의 표본 회귀식과 같이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1" dirty="0" smtClean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a</m:t>
                    </m:r>
                  </m:oMath>
                </a14:m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1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b</m:t>
                    </m:r>
                  </m:oMath>
                </a14:m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를 계산해 내는 것이다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</a:t>
                </a:r>
              </a:p>
              <a:p>
                <a:pPr algn="just" fontAlgn="base" latinLnBrk="1">
                  <a:lnSpc>
                    <a:spcPct val="100000"/>
                  </a:lnSpc>
                </a:pPr>
                <a:endParaRPr lang="en-US" altLang="ko-KR" sz="20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just" fontAlgn="base" latinLnBrk="1">
                  <a:lnSpc>
                    <a:spcPct val="100000"/>
                  </a:lnSpc>
                </a:pPr>
                <a:endParaRPr lang="en-US" altLang="ko-KR" sz="20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just" fontAlgn="base" latinLnBrk="1">
                  <a:lnSpc>
                    <a:spcPct val="100000"/>
                  </a:lnSpc>
                </a:pPr>
                <a:endParaRPr lang="en-US" altLang="ko-KR" sz="20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just" fontAlgn="base" latinLnBrk="1">
                  <a:lnSpc>
                    <a:spcPct val="100000"/>
                  </a:lnSpc>
                </a:pPr>
                <a:endParaRPr lang="en-US" altLang="ko-KR" sz="20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just" fontAlgn="base" latinLnBrk="1">
                  <a:lnSpc>
                    <a:spcPct val="100000"/>
                  </a:lnSpc>
                </a:pPr>
                <a:endParaRPr lang="en-US" altLang="ko-KR" sz="20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just" fontAlgn="base" latinLnBrk="1">
                  <a:lnSpc>
                    <a:spcPct val="100000"/>
                  </a:lnSpc>
                </a:pP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</a:p>
              <a:p>
                <a:pPr algn="just" fontAlgn="base" latinLnBrk="1">
                  <a:lnSpc>
                    <a:spcPct val="100000"/>
                  </a:lnSpc>
                </a:pP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이는 </a:t>
                </a:r>
                <a:r>
                  <a:rPr lang="ko-KR" altLang="en-US" sz="2000" b="0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오차항</a:t>
                </a: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1" dirty="0" smtClean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e</m:t>
                    </m:r>
                    <m:r>
                      <m:rPr>
                        <m:sty m:val="p"/>
                      </m:rPr>
                      <a:rPr lang="en-US" altLang="ko-KR" sz="2000" b="0" baseline="-25000" dirty="0" smtClean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i</m:t>
                    </m:r>
                  </m:oMath>
                </a14:m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에 대한 제곱합을 최소로 만드는 회귀계수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1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a</m:t>
                    </m:r>
                  </m:oMath>
                </a14:m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1" dirty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b</m:t>
                    </m:r>
                  </m:oMath>
                </a14:m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를 찾는 것이고 </a:t>
                </a:r>
                <a:r>
                  <a:rPr lang="ko-KR" altLang="en-US" sz="2000" b="0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최소제곱법에</a:t>
                </a: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의해 계산한다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</a:t>
                </a:r>
              </a:p>
              <a:p>
                <a:pPr algn="just" fontAlgn="base" latinLnBrk="1">
                  <a:lnSpc>
                    <a:spcPct val="100000"/>
                  </a:lnSpc>
                </a:pPr>
                <a:endParaRPr lang="en-US" altLang="ko-KR" sz="20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just" fontAlgn="base" latinLnBrk="1">
                  <a:lnSpc>
                    <a:spcPct val="100000"/>
                  </a:lnSpc>
                </a:pPr>
                <a:endParaRPr lang="en-US" altLang="ko-KR" sz="20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mc:Choice>
        <mc:Fallback xmlns="">
          <p:sp>
            <p:nvSpPr>
              <p:cNvPr id="11" name="Title 8">
                <a:extLst>
                  <a:ext uri="{FF2B5EF4-FFF2-40B4-BE49-F238E27FC236}">
                    <a16:creationId xmlns:a16="http://schemas.microsoft.com/office/drawing/2014/main" id="{835D1B90-712A-49C4-A4ED-F92B7C26C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1193184"/>
                <a:ext cx="10540486" cy="4926454"/>
              </a:xfrm>
              <a:prstGeom prst="rect">
                <a:avLst/>
              </a:prstGeom>
              <a:blipFill>
                <a:blip r:embed="rId3"/>
                <a:stretch>
                  <a:fillRect l="-1504" t="-1609" r="-14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>
            <a:extLst>
              <a:ext uri="{FF2B5EF4-FFF2-40B4-BE49-F238E27FC236}">
                <a16:creationId xmlns:a16="http://schemas.microsoft.com/office/drawing/2014/main" id="{5E3E2B56-D7B8-4004-B9E9-E56CBE2A8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2167" y="1929442"/>
            <a:ext cx="8164871" cy="135118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9658477-92B2-408A-BD30-C3B921D3F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7170" y="4358755"/>
            <a:ext cx="3539463" cy="61231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C405887-D98E-4E2C-85B4-9FED57D544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6354" y="5129509"/>
            <a:ext cx="7144915" cy="83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7497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sz="3400" dirty="0"/>
              <a:t>회귀계수에 대한 추론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EF86868-109A-4F22-9DB9-5830B28A5ACA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35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835D1B90-712A-49C4-A4ED-F92B7C26C687}"/>
              </a:ext>
            </a:extLst>
          </p:cNvPr>
          <p:cNvSpPr txBox="1">
            <a:spLocks/>
          </p:cNvSpPr>
          <p:nvPr/>
        </p:nvSpPr>
        <p:spPr>
          <a:xfrm>
            <a:off x="594360" y="1193184"/>
            <a:ext cx="10540486" cy="49264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최소제곱법에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의해 추정된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회귀직선이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독립변수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X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종속변수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Y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사이의 관계를 얼마나 잘 설명해 주고 있는가를 확인하는 방법으로 결정계수를 이용하거나 추정된 표준오차를 이용하는 방법이 있다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결정계수는 추정된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회귀직선이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종속변수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Y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변동을 얼마나 잘 설명하는가를 하나의 수치로 나타내는 방법이고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추정된 표준오차는 실제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관찰값이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추정된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회귀직선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주위에 흩어진 정도를 측정한다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B80226D-8514-4CBF-8459-4F5507D4B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441" y="3347897"/>
            <a:ext cx="5967765" cy="21849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E5DF11C-585C-4903-AF9C-54293572F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5348" y="5587727"/>
            <a:ext cx="6110233" cy="10519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45058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sz="3400" dirty="0"/>
              <a:t>회귀계수에 대한 추론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EF86868-109A-4F22-9DB9-5830B28A5ACA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36</a:t>
            </a:fld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le 8">
                <a:extLst>
                  <a:ext uri="{FF2B5EF4-FFF2-40B4-BE49-F238E27FC236}">
                    <a16:creationId xmlns:a16="http://schemas.microsoft.com/office/drawing/2014/main" id="{835D1B90-712A-49C4-A4ED-F92B7C26C6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4360" y="1193184"/>
                <a:ext cx="10540486" cy="4926454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sz="4400" b="1" i="0" kern="1200" spc="100" baseline="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algn="just" fontAlgn="base" latinLnBrk="1">
                  <a:lnSpc>
                    <a:spcPct val="100000"/>
                  </a:lnSpc>
                </a:pP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회귀분석의 가설검정은 회귀모형                                                 에 대해 회귀계수인 회귀직선의 기울기인 </a:t>
                </a:r>
                <a14:m>
                  <m:oMath xmlns:m="http://schemas.openxmlformats.org/officeDocument/2006/math">
                    <m:r>
                      <a:rPr lang="ko-KR" altLang="en-US" sz="2000" b="0" i="1" smtClean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𝛽</m:t>
                    </m:r>
                  </m:oMath>
                </a14:m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에 대한 것이다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 </a:t>
                </a:r>
              </a:p>
              <a:p>
                <a:pPr algn="just" fontAlgn="base" latinLnBrk="1">
                  <a:lnSpc>
                    <a:spcPct val="100000"/>
                  </a:lnSpc>
                </a:pPr>
                <a:endParaRPr lang="en-US" altLang="ko-KR" sz="20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just" fontAlgn="base" latinLnBrk="1">
                  <a:lnSpc>
                    <a:spcPct val="100000"/>
                  </a:lnSpc>
                </a:pPr>
                <a:endParaRPr lang="en-US" altLang="ko-KR" sz="20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just" fontAlgn="base" latinLnBrk="1">
                  <a:lnSpc>
                    <a:spcPct val="100000"/>
                  </a:lnSpc>
                </a:pPr>
                <a:endParaRPr lang="en-US" altLang="ko-KR" sz="20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just" fontAlgn="base" latinLnBrk="1">
                  <a:lnSpc>
                    <a:spcPct val="100000"/>
                  </a:lnSpc>
                </a:pPr>
                <a:endParaRPr lang="en-US" altLang="ko-KR" sz="20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just" fontAlgn="base" latinLnBrk="1">
                  <a:lnSpc>
                    <a:spcPct val="100000"/>
                  </a:lnSpc>
                </a:pPr>
                <a:endParaRPr lang="en-US" altLang="ko-KR" sz="20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just" fontAlgn="base" latinLnBrk="1">
                  <a:lnSpc>
                    <a:spcPct val="100000"/>
                  </a:lnSpc>
                </a:pPr>
                <a:endParaRPr lang="en-US" altLang="ko-KR" sz="20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just" fontAlgn="base" latinLnBrk="1">
                  <a:lnSpc>
                    <a:spcPct val="100000"/>
                  </a:lnSpc>
                </a:pPr>
                <a:endParaRPr lang="en-US" altLang="ko-KR" sz="20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just" fontAlgn="base" latinLnBrk="1">
                  <a:lnSpc>
                    <a:spcPct val="100000"/>
                  </a:lnSpc>
                </a:pP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회귀직선의 기울기인 </a:t>
                </a:r>
                <a14:m>
                  <m:oMath xmlns:m="http://schemas.openxmlformats.org/officeDocument/2006/math">
                    <m:r>
                      <a:rPr lang="ko-KR" altLang="en-US" sz="2000" b="0" i="1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𝛽</m:t>
                    </m:r>
                  </m:oMath>
                </a14:m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가 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0</a:t>
                </a: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이라는 것은 독립변수 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X</a:t>
                </a: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와 종속변수 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Y</a:t>
                </a: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사이에 선형관계가 존재하지 않는다는 것이며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독립변수 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X</a:t>
                </a: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는 종속변수에 대해 아무런 영향을 주지 않는다는 것이다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 </a:t>
                </a:r>
              </a:p>
              <a:p>
                <a:pPr algn="just" fontAlgn="base" latinLnBrk="1">
                  <a:lnSpc>
                    <a:spcPct val="100000"/>
                  </a:lnSpc>
                </a:pP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이에 대한 검정방법으로 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t-</a:t>
                </a: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검정과 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F-</a:t>
                </a: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검정이 있다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 </a:t>
                </a:r>
              </a:p>
              <a:p>
                <a:pPr algn="just" fontAlgn="base" latinLnBrk="1">
                  <a:lnSpc>
                    <a:spcPct val="100000"/>
                  </a:lnSpc>
                </a:pPr>
                <a:endParaRPr lang="en-US" altLang="ko-KR" sz="20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just" fontAlgn="base" latinLnBrk="1">
                  <a:lnSpc>
                    <a:spcPct val="100000"/>
                  </a:lnSpc>
                </a:pPr>
                <a:endParaRPr lang="en-US" altLang="ko-KR" sz="20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mc:Choice>
        <mc:Fallback xmlns="">
          <p:sp>
            <p:nvSpPr>
              <p:cNvPr id="11" name="Title 8">
                <a:extLst>
                  <a:ext uri="{FF2B5EF4-FFF2-40B4-BE49-F238E27FC236}">
                    <a16:creationId xmlns:a16="http://schemas.microsoft.com/office/drawing/2014/main" id="{835D1B90-712A-49C4-A4ED-F92B7C26C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1193184"/>
                <a:ext cx="10540486" cy="4926454"/>
              </a:xfrm>
              <a:prstGeom prst="rect">
                <a:avLst/>
              </a:prstGeom>
              <a:blipFill>
                <a:blip r:embed="rId3"/>
                <a:stretch>
                  <a:fillRect l="-1504" t="-1609" r="-14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DCE58500-A44E-49EC-9C36-470864E86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5508" y="1193184"/>
            <a:ext cx="3695700" cy="3524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0A9AF51-2CE4-44E8-BF68-DC0F6BE104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0830" y="2209437"/>
            <a:ext cx="405765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1408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sz="3400" dirty="0"/>
              <a:t>회귀분석의 결과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EF86868-109A-4F22-9DB9-5830B28A5ACA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37</a:t>
            </a:fld>
            <a:endParaRPr lang="en-US" dirty="0">
              <a:latin typeface="+mn-lt"/>
            </a:endParaRPr>
          </a:p>
        </p:txBody>
      </p:sp>
      <p:pic>
        <p:nvPicPr>
          <p:cNvPr id="12" name="Picture 9">
            <a:extLst>
              <a:ext uri="{FF2B5EF4-FFF2-40B4-BE49-F238E27FC236}">
                <a16:creationId xmlns:a16="http://schemas.microsoft.com/office/drawing/2014/main" id="{BAE0D0E4-FE5D-43EF-8722-CF742D2B6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437" y="1412485"/>
            <a:ext cx="7811940" cy="395558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E02BC82-ECC1-48EE-8FBB-6258FD0A2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230" y="5445515"/>
            <a:ext cx="466725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23755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0" tIns="0" rIns="0" bIns="0" rtlCol="0" anchor="ctr" anchorCtr="0">
        <a:noAutofit/>
      </a:bodyPr>
      <a:lstStyle>
        <a:defPPr algn="l" fontAlgn="base" latinLnBrk="1">
          <a:lnSpc>
            <a:spcPct val="100000"/>
          </a:lnSpc>
          <a:defRPr sz="2800" b="0" dirty="0" smtClean="0">
            <a:latin typeface="한컴 고딕" panose="02000500000000000000" pitchFamily="2" charset="-127"/>
            <a:ea typeface="한컴 고딕" panose="020005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0FE134-9032-4C7F-BC57-C7DE3F833363}">
  <ds:schemaRefs>
    <ds:schemaRef ds:uri="http://schemas.microsoft.com/office/2006/documentManagement/types"/>
    <ds:schemaRef ds:uri="http://purl.org/dc/terms/"/>
    <ds:schemaRef ds:uri="16c05727-aa75-4e4a-9b5f-8a80a1165891"/>
    <ds:schemaRef ds:uri="http://schemas.microsoft.com/sharepoint/v3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infopath/2007/PartnerControls"/>
    <ds:schemaRef ds:uri="230e9df3-be65-4c73-a93b-d1236ebd677e"/>
    <ds:schemaRef ds:uri="71af3243-3dd4-4a8d-8c0d-dd76da1f02a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1952</Words>
  <Application>Microsoft Office PowerPoint</Application>
  <PresentationFormat>와이드스크린</PresentationFormat>
  <Paragraphs>322</Paragraphs>
  <Slides>37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5" baseType="lpstr">
      <vt:lpstr>(한글 글꼴 사용)</vt:lpstr>
      <vt:lpstr>한컴 고딕</vt:lpstr>
      <vt:lpstr>Arial</vt:lpstr>
      <vt:lpstr>Calibri</vt:lpstr>
      <vt:lpstr>Cambria Math</vt:lpstr>
      <vt:lpstr>Franklin Gothic Book</vt:lpstr>
      <vt:lpstr>Franklin Gothic Demi</vt:lpstr>
      <vt:lpstr>Custom</vt:lpstr>
      <vt:lpstr>빅데이터 분석 개론</vt:lpstr>
      <vt:lpstr>강의내용</vt:lpstr>
      <vt:lpstr>통계기반 데이터 분석</vt:lpstr>
      <vt:lpstr>다변량분석</vt:lpstr>
      <vt:lpstr>머신러닝 기반 분석 모형과 알고리즘</vt:lpstr>
      <vt:lpstr>7.1 상관분석과 회귀분석</vt:lpstr>
      <vt:lpstr>7.1.1 상관분석</vt:lpstr>
      <vt:lpstr>7.1.1 상관분석</vt:lpstr>
      <vt:lpstr>7.1.1 상관분석</vt:lpstr>
      <vt:lpstr>7.1.1 상관분석</vt:lpstr>
      <vt:lpstr>7.1.1 상관분석</vt:lpstr>
      <vt:lpstr>&lt;예제 7-1&gt; 산점도와 상관계수</vt:lpstr>
      <vt:lpstr>&lt;예제 7-1&gt; 산점도와 상관계수</vt:lpstr>
      <vt:lpstr>&lt;예제 7-1&gt; 산점도와 상관계수</vt:lpstr>
      <vt:lpstr>7.1.2 회귀 분석 </vt:lpstr>
      <vt:lpstr>7.1.2 회귀 분석 </vt:lpstr>
      <vt:lpstr>7.1.2 회귀 분석 </vt:lpstr>
      <vt:lpstr>7.1.2 회귀 분석 </vt:lpstr>
      <vt:lpstr>7.1.2 회귀 분석 </vt:lpstr>
      <vt:lpstr>7.1.2 회귀 분석 </vt:lpstr>
      <vt:lpstr>[참고 1] 최소제곱법을 사용한 회귀계수 a와 b에 대한 추정</vt:lpstr>
      <vt:lpstr>[참고 1] 최소제곱법을 사용한 회귀계수 a와 b에 대한 추정</vt:lpstr>
      <vt:lpstr>추정된 회귀직선의 정도</vt:lpstr>
      <vt:lpstr>추정된 회귀직선의 정도</vt:lpstr>
      <vt:lpstr>추정된 표준오차</vt:lpstr>
      <vt:lpstr>&lt;예제 7-2&gt; 단순 회귀분석</vt:lpstr>
      <vt:lpstr>&lt;예제 7-2&gt; 단순 회귀분석</vt:lpstr>
      <vt:lpstr>&lt;예제 7-2&gt; 단순 회귀분석</vt:lpstr>
      <vt:lpstr>&lt;예제 7-2&gt; 단순 회귀분석</vt:lpstr>
      <vt:lpstr>&lt;예제 7-2&gt; 단순 회귀분석</vt:lpstr>
      <vt:lpstr>&lt;예제 7-2&gt; 단순 회귀분석</vt:lpstr>
      <vt:lpstr>[단원정리] 상관분석</vt:lpstr>
      <vt:lpstr>[단원정리] 회귀분석</vt:lpstr>
      <vt:lpstr>[단원정리] 회귀분석</vt:lpstr>
      <vt:lpstr>[단원정리] 회귀계수에 대한 추론</vt:lpstr>
      <vt:lpstr>[단원정리] 회귀계수에 대한 추론</vt:lpstr>
      <vt:lpstr>[단원정리] 회귀분석의 결과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2023-12-20T08:12:12Z</dcterms:created>
  <dcterms:modified xsi:type="dcterms:W3CDTF">2026-04-27T00:22:30Z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