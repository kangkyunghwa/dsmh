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45"/>
  </p:notesMasterIdLst>
  <p:handoutMasterIdLst>
    <p:handoutMasterId r:id="rId46"/>
  </p:handoutMasterIdLst>
  <p:sldIdLst>
    <p:sldId id="410" r:id="rId5"/>
    <p:sldId id="413" r:id="rId6"/>
    <p:sldId id="499" r:id="rId7"/>
    <p:sldId id="416" r:id="rId8"/>
    <p:sldId id="425" r:id="rId9"/>
    <p:sldId id="427" r:id="rId10"/>
    <p:sldId id="466" r:id="rId11"/>
    <p:sldId id="467" r:id="rId12"/>
    <p:sldId id="468" r:id="rId13"/>
    <p:sldId id="469" r:id="rId14"/>
    <p:sldId id="470" r:id="rId15"/>
    <p:sldId id="471" r:id="rId16"/>
    <p:sldId id="472" r:id="rId17"/>
    <p:sldId id="473" r:id="rId18"/>
    <p:sldId id="474" r:id="rId19"/>
    <p:sldId id="475" r:id="rId20"/>
    <p:sldId id="476" r:id="rId21"/>
    <p:sldId id="477" r:id="rId22"/>
    <p:sldId id="478" r:id="rId23"/>
    <p:sldId id="479" r:id="rId24"/>
    <p:sldId id="480" r:id="rId25"/>
    <p:sldId id="481" r:id="rId26"/>
    <p:sldId id="482" r:id="rId27"/>
    <p:sldId id="483" r:id="rId28"/>
    <p:sldId id="484" r:id="rId29"/>
    <p:sldId id="485" r:id="rId30"/>
    <p:sldId id="486" r:id="rId31"/>
    <p:sldId id="487" r:id="rId32"/>
    <p:sldId id="433" r:id="rId33"/>
    <p:sldId id="488" r:id="rId34"/>
    <p:sldId id="489" r:id="rId35"/>
    <p:sldId id="490" r:id="rId36"/>
    <p:sldId id="491" r:id="rId37"/>
    <p:sldId id="492" r:id="rId38"/>
    <p:sldId id="493" r:id="rId39"/>
    <p:sldId id="494" r:id="rId40"/>
    <p:sldId id="495" r:id="rId41"/>
    <p:sldId id="496" r:id="rId42"/>
    <p:sldId id="497" r:id="rId43"/>
    <p:sldId id="4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327" autoAdjust="0"/>
  </p:normalViewPr>
  <p:slideViewPr>
    <p:cSldViewPr snapToGrid="0">
      <p:cViewPr varScale="1">
        <p:scale>
          <a:sx n="75" d="100"/>
          <a:sy n="75" d="100"/>
        </p:scale>
        <p:origin x="235" y="2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BCA7E5-BC47-4B82-81BC-931F6059DA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1A51F-8993-4C5E-A46B-A38B68D203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552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822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998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615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36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46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024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117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472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27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023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403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586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492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03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095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9479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6420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6926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4198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305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0521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8644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1193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4427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338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695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201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6065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2436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9746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3104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377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780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2097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7010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1465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6598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70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0" y="411479"/>
            <a:ext cx="6513104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283200" y="4005626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58" y="910627"/>
            <a:ext cx="6787747" cy="75854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BFD97A6B-37B9-4B45-8753-2537594BD9E7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59" y="2065713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049714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77378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baseline="0">
                <a:latin typeface="(한글 글꼴 사용)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 baseline="0">
                <a:latin typeface="(한글 글꼴 사용)"/>
                <a:ea typeface="한컴 고딕" panose="02000500000000000000" pitchFamily="2" charset="-127"/>
              </a:defRPr>
            </a:lvl1pPr>
            <a:lvl2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2pPr>
            <a:lvl3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3pPr>
            <a:lvl4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4pPr>
            <a:lvl5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2001865" y="6332220"/>
            <a:ext cx="1313180" cy="247651"/>
          </a:xfrm>
        </p:spPr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4A858-DEBA-4221-8123-599DA395EB8B}"/>
              </a:ext>
            </a:extLst>
          </p:cNvPr>
          <p:cNvSpPr txBox="1"/>
          <p:nvPr userDrawn="1"/>
        </p:nvSpPr>
        <p:spPr>
          <a:xfrm>
            <a:off x="831277" y="6304512"/>
            <a:ext cx="501996" cy="24765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l" fontAlgn="base" latinLnBrk="1">
              <a:lnSpc>
                <a:spcPct val="100000"/>
              </a:lnSpc>
            </a:pPr>
            <a:r>
              <a:rPr lang="en-US" altLang="ko-KR" sz="1100" b="0" dirty="0">
                <a:solidFill>
                  <a:srgbClr val="FF0000"/>
                </a:solidFill>
                <a:latin typeface="+mj-lt"/>
                <a:ea typeface="한컴 고딕" panose="02000500000000000000" pitchFamily="2" charset="-127"/>
              </a:rPr>
              <a:t>/40</a:t>
            </a:r>
            <a:endParaRPr lang="ko-KR" altLang="en-US" sz="1100" b="0" dirty="0">
              <a:solidFill>
                <a:srgbClr val="FF0000"/>
              </a:solidFill>
              <a:latin typeface="+mj-lt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72464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943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77F9F-A58C-4808-8074-96E40A336903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1882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EDFA48-5BD9-4DF2-8D71-CED9532EBB86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7883C47-1A2A-4F57-A0D5-1FFCF1E9D1A7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1AB338-7267-4940-8A5B-18AADA9CD191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1993E2C-76D2-4EC0-8F76-FCD99F854036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142A697-CF5B-4AE4-BC7B-718A66428128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173018"/>
            <a:ext cx="10382250" cy="5003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604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76DE19D1-2384-4B4C-ADE9-983849E25309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1613" y="553147"/>
            <a:ext cx="6792685" cy="3291840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 분석 개론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강의내용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0527" y="3776541"/>
            <a:ext cx="6260621" cy="2555679"/>
          </a:xfrm>
        </p:spPr>
        <p:txBody>
          <a:bodyPr>
            <a:normAutofit/>
          </a:bodyPr>
          <a:lstStyle/>
          <a:p>
            <a:pPr marL="0" indent="0" fontAlgn="base" latinLnBrk="1">
              <a:buNone/>
            </a:pP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1. </a:t>
            </a:r>
            <a:r>
              <a:rPr lang="ko-KR" altLang="en-US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설치와 프로그램 실행</a:t>
            </a:r>
          </a:p>
          <a:p>
            <a:pPr marL="0" indent="0" fontAlgn="base" latinLnBrk="1">
              <a:buNone/>
            </a:pP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 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라이브러리의 설치와 활용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3.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파이썬 프로그램의 기본 문법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그래프를 통하여 데이터의 특성을 나타내는 방법들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특성을 숫자로 요약하는 방법들</a:t>
            </a:r>
            <a:endParaRPr lang="en-US" dirty="0">
              <a:solidFill>
                <a:schemeClr val="tx1">
                  <a:lumMod val="85000"/>
                </a:schemeClr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5016B78D-D0BA-4B78-9E6A-BD29AFA51C75}"/>
              </a:ext>
            </a:extLst>
          </p:cNvPr>
          <p:cNvSpPr txBox="1">
            <a:spLocks/>
          </p:cNvSpPr>
          <p:nvPr/>
        </p:nvSpPr>
        <p:spPr>
          <a:xfrm>
            <a:off x="594360" y="1314434"/>
            <a:ext cx="4263610" cy="6132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장 파이썬 언어</a:t>
            </a:r>
            <a:endParaRPr lang="en-US" sz="3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EC111D-2696-43E1-BF67-2E25035E38DC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B1FDBE1-9B40-4F1C-A5A1-5AB40B13B3A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7D134-0280-41ED-A147-9DF1CC9B2A6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>
              <a:latin typeface="+mn-lt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1442BE-D279-47B8-BEC6-40EFEBE2A1F1}"/>
              </a:ext>
            </a:extLst>
          </p:cNvPr>
          <p:cNvSpPr txBox="1">
            <a:spLocks/>
          </p:cNvSpPr>
          <p:nvPr/>
        </p:nvSpPr>
        <p:spPr>
          <a:xfrm>
            <a:off x="855980" y="1866375"/>
            <a:ext cx="10015820" cy="1506327"/>
          </a:xfrm>
          <a:prstGeom prst="rect">
            <a:avLst/>
          </a:prstGeom>
        </p:spPr>
        <p:txBody>
          <a:bodyPr vert="horz" lIns="0" tIns="457200" rIns="0" bIns="0" rtlCol="0" anchor="ctr">
            <a:normAutofit fontScale="25000" lnSpcReduction="20000"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빅데이터의 탐험 도구로 활용하려는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특징과 설치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빅데이터분석과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처리와 분석을 위해 필요한 라이브러리들과 설치방법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언어 사용법과 시각화 기술에 대해서 알아봅니다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3633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 </a:t>
            </a:r>
            <a:r>
              <a:rPr lang="ko-KR" altLang="en-US" dirty="0"/>
              <a:t>설치와 프로그램의 실행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2CE7FB70-7158-4C1A-BBCB-74852AA06B6F}"/>
              </a:ext>
            </a:extLst>
          </p:cNvPr>
          <p:cNvSpPr txBox="1">
            <a:spLocks/>
          </p:cNvSpPr>
          <p:nvPr/>
        </p:nvSpPr>
        <p:spPr>
          <a:xfrm>
            <a:off x="484177" y="1761260"/>
            <a:ext cx="11139976" cy="2619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설치하는 방법과 프로그램을 작성하고 실행하는 방법에 대해서 설명합니다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2.1.1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언어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2.1.2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설치와 실행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2.1.3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20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 </a:t>
            </a:r>
            <a:r>
              <a:rPr lang="ko-KR" altLang="en-US" dirty="0"/>
              <a:t>설치와 프로그램의 실행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>
              <a:latin typeface="+mn-lt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3C296CC-3A70-51E1-6B83-6F38590EE7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862321"/>
            <a:ext cx="11249297" cy="4994196"/>
          </a:xfrm>
        </p:spPr>
        <p:txBody>
          <a:bodyPr>
            <a:noAutofit/>
          </a:bodyPr>
          <a:lstStyle/>
          <a:p>
            <a:pPr marL="0" indent="0" fontAlgn="base" latinLnBrk="1">
              <a:lnSpc>
                <a:spcPct val="150000"/>
              </a:lnSpc>
              <a:buNone/>
            </a:pPr>
            <a:r>
              <a:rPr lang="en-US" altLang="ko-KR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2.1.1 </a:t>
            </a:r>
            <a:r>
              <a:rPr lang="ko-KR" altLang="en-US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파이썬 언어</a:t>
            </a:r>
          </a:p>
          <a:p>
            <a:pPr marL="0" indent="0" fontAlgn="base" latinLnBrk="1">
              <a:lnSpc>
                <a:spcPct val="150000"/>
              </a:lnSpc>
              <a:buNone/>
            </a:pPr>
            <a:r>
              <a:rPr lang="ko-KR" altLang="en-US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 분석을 위한 전문 소프트웨어들도 있고 </a:t>
            </a:r>
            <a:r>
              <a:rPr lang="en-US" altLang="ko-KR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SAS, SPSS</a:t>
            </a:r>
            <a:r>
              <a:rPr lang="ko-KR" altLang="en-US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같은 통계처리 패키지 또는 </a:t>
            </a:r>
            <a:r>
              <a:rPr lang="en-US" altLang="ko-KR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</a:t>
            </a:r>
            <a:r>
              <a:rPr lang="ko-KR" altLang="en-US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같은 프로그램을 이용할 수도 있지만 최근 많이 사용하고 있고 비교적 다루기 쉬운 파이썬 언어를 이용하여 처리함 </a:t>
            </a:r>
          </a:p>
          <a:p>
            <a:pPr marL="0" indent="0" fontAlgn="base" latinLnBrk="1">
              <a:lnSpc>
                <a:spcPct val="150000"/>
              </a:lnSpc>
              <a:buNone/>
            </a:pPr>
            <a:r>
              <a:rPr lang="ko-KR" altLang="en-US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분석용 소프트웨어나 통계처리 프로그램들은 장단점을 가지고 있지만</a:t>
            </a:r>
            <a:r>
              <a:rPr lang="en-US" altLang="ko-KR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처리 방법이나 프로그램을 배우기가 쉽지 않지만 </a:t>
            </a:r>
            <a:r>
              <a:rPr lang="ko-KR" altLang="en-US" sz="21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가장 큰 장점은 사용하기가 쉽다는 것이다</a:t>
            </a:r>
            <a:r>
              <a:rPr lang="en-US" altLang="ko-KR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marL="0" indent="0" fontAlgn="base" latinLnBrk="1">
              <a:lnSpc>
                <a:spcPct val="150000"/>
              </a:lnSpc>
              <a:buNone/>
            </a:pPr>
            <a:r>
              <a:rPr lang="ko-KR" altLang="en-US" sz="21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파이썬은</a:t>
            </a:r>
            <a:r>
              <a:rPr lang="ko-KR" altLang="en-US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전문 프로그래머와 개발자가 만들어 놓은 다양한 프로그램과 </a:t>
            </a:r>
            <a:r>
              <a:rPr lang="en-US" altLang="ko-KR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1.4</a:t>
            </a:r>
            <a:r>
              <a:rPr lang="ko-KR" altLang="en-US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절에서 설명할 라이브러리를 무료로 활용할 수 있는 장점이 있습니다</a:t>
            </a:r>
            <a:r>
              <a:rPr lang="en-US" altLang="ko-KR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또한 </a:t>
            </a:r>
            <a:r>
              <a:rPr lang="en-US" altLang="ko-KR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C/C++ </a:t>
            </a:r>
            <a:r>
              <a:rPr lang="ko-KR" altLang="en-US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언어와 결합하여 응용 프로그램을 개발할 수도 있다</a:t>
            </a:r>
            <a:r>
              <a:rPr lang="en-US" altLang="ko-KR" sz="21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endParaRPr lang="en-US" sz="2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6690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2.1.1 </a:t>
            </a:r>
            <a:r>
              <a:rPr lang="ko-KR" altLang="en-US" dirty="0"/>
              <a:t>파이썬 언어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291686"/>
            <a:ext cx="11432088" cy="54875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파이썬 언어의 특징과 장점</a:t>
            </a:r>
            <a:endParaRPr lang="en-US" altLang="ko-KR" sz="26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00F35F-6C6D-A963-D8EA-475F9EF33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7" y="2218102"/>
            <a:ext cx="11362802" cy="193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2.1.2 </a:t>
            </a:r>
            <a:r>
              <a:rPr lang="ko-KR" altLang="en-US" dirty="0"/>
              <a:t>설치와 실행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424689"/>
            <a:ext cx="10777685" cy="48123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파이썬 설치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457200" indent="-457200" algn="just" fontAlgn="base" latinLnBrk="1">
              <a:lnSpc>
                <a:spcPct val="100000"/>
              </a:lnSpc>
              <a:buAutoNum type="arabicPeriod"/>
            </a:pPr>
            <a:r>
              <a:rPr lang="ko-KR" altLang="en-US" sz="2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초보자를 위한 방법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비교적 간단하게 작성한 프로그램을 실행하고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 결과를 확인하기 위한 목적으로 활용하는 것입니다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경우에는 공식 설치 파일을 제공하는 파이썬 공식 사이트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  <a:hlinkClick r:id="rId3"/>
              </a:rPr>
              <a:t>https://www.python.org/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다운을 받아 설치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 </a:t>
            </a:r>
            <a:r>
              <a:rPr lang="ko-KR" altLang="en-US" sz="2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프로그래밍 언어를 경험한 사용자를 위한 방법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빅데이터 분석과 기계 학습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(machine learning)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등을 활용하고자 한다면 아나콘다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(Anaconda)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설치하여 사용하는 것이 편리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9643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2.1.2 </a:t>
            </a:r>
            <a:r>
              <a:rPr lang="ko-KR" altLang="en-US" dirty="0"/>
              <a:t>설치와 실행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205749"/>
            <a:ext cx="11432088" cy="4706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파이썬 공식 사이트 </a:t>
            </a:r>
            <a:r>
              <a:rPr lang="en-US" altLang="ko-KR" sz="2600" b="0" dirty="0">
                <a:latin typeface="한컴 고딕" panose="02000500000000000000" pitchFamily="2" charset="-127"/>
                <a:ea typeface="한컴 고딕" panose="02000500000000000000" pitchFamily="2" charset="-127"/>
                <a:hlinkClick r:id="rId3"/>
              </a:rPr>
              <a:t>https://www.python.org/</a:t>
            </a:r>
            <a:endParaRPr lang="en-US" altLang="ko-KR" sz="26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82CF2D24-4750-81C1-6F66-92C70EE7D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988" y="1903301"/>
            <a:ext cx="9146122" cy="432332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03342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2.1.2 </a:t>
            </a:r>
            <a:r>
              <a:rPr lang="ko-KR" altLang="en-US" dirty="0"/>
              <a:t>설치와 실행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205749"/>
            <a:ext cx="10706851" cy="11384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설치가 끝난 다음에 윈도우에서 실행하기 위해서 시작 버튼을 누른 다음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Python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이동하면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나타나고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파이썬을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실행하려면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IDLE (Python)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선택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F27DDC7-0CB6-A0C9-A788-E13B9265F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245" y="2514288"/>
            <a:ext cx="4696097" cy="347413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07980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2.1.2 </a:t>
            </a:r>
            <a:r>
              <a:rPr lang="ko-KR" altLang="en-US" dirty="0"/>
              <a:t>설치와 실행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771807"/>
            <a:ext cx="10610260" cy="33118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파이썬 언어로 작성한 프로그램을 실행하는 방법  </a:t>
            </a:r>
          </a:p>
          <a:p>
            <a:pPr algn="just" fontAlgn="base" latinLnBrk="1">
              <a:lnSpc>
                <a:spcPct val="100000"/>
              </a:lnSpc>
            </a:pP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457200" indent="-457200" algn="just" fontAlgn="base" latinLnBrk="1">
              <a:lnSpc>
                <a:spcPct val="100000"/>
              </a:lnSpc>
              <a:buAutoNum type="arabicPeriod"/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일반적인 방법은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Window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안에서 프로그램 편집기를 사용하여 프로그램을 새로 작성하거나 이미 작성하여 저장한 프로그램을 불러온 다음 실행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(Run)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두 번째 방법은 명령 프롬프트 상에서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Python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실행 프로그램을 이용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하여 프로그램 파일을 실행</a:t>
            </a:r>
            <a:endParaRPr lang="en-US" altLang="ko-KR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9994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2.1.2 </a:t>
            </a:r>
            <a:r>
              <a:rPr lang="ko-KR" altLang="en-US" dirty="0"/>
              <a:t>설치와 실행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1043189" y="1481712"/>
            <a:ext cx="10424911" cy="7734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IDLE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선택하면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IDLE Shell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나타남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IDLE Shell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파이썬 인터프리터이며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이곳에 직접 커서를 클릭한 다음 간단한 프로그램을 작성하여 실행할 수도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endParaRPr lang="en-US" altLang="ko-KR" sz="2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24BC49D-E829-D633-DF61-1406CC8ED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81" y="2520546"/>
            <a:ext cx="2974072" cy="220019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832564A-6CAB-0FE7-0209-56625F06D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378" y="4028230"/>
            <a:ext cx="8231179" cy="23468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35611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2.1.2 </a:t>
            </a:r>
            <a:r>
              <a:rPr lang="ko-KR" altLang="en-US" dirty="0"/>
              <a:t>설치와 실행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271064"/>
            <a:ext cx="11432088" cy="8843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[File] </a:t>
            </a: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메뉴에서 </a:t>
            </a:r>
            <a:r>
              <a:rPr lang="en-US" altLang="ko-KR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[New File]</a:t>
            </a: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선택하면 </a:t>
            </a:r>
            <a:r>
              <a:rPr lang="en-US" altLang="ko-KR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오른쪽과 같이 프로그램 </a:t>
            </a:r>
            <a:endParaRPr lang="en-US" altLang="ko-KR" sz="26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편집기가 나타남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7C141138-7177-37EC-28CF-D4FDF42DC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4" y="2312370"/>
            <a:ext cx="4079077" cy="283496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3438A6-E909-FD8B-922D-1DDB5FFC9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785" y="3950594"/>
            <a:ext cx="8277315" cy="2834961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47181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2.1.2 </a:t>
            </a:r>
            <a:r>
              <a:rPr lang="ko-KR" altLang="en-US" dirty="0"/>
              <a:t>설치와 실행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271064"/>
            <a:ext cx="10732609" cy="14912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프로그램에서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#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기호로 시작하는 부분은 프로그램에 대한 간단한 설명을 표시하기 위한 주석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(comment)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작성할 때 사용하고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실제 프로그램은 그 다음 줄에서 “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Python Hello!”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출력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(print)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하는 것이다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EF5B75B0-9655-E073-6DEB-3E3C83500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416" y="2730825"/>
            <a:ext cx="7413484" cy="372554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8033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2.1.2 </a:t>
            </a:r>
            <a:r>
              <a:rPr lang="ko-KR" altLang="en-US" dirty="0"/>
              <a:t>설치와 실행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279385"/>
            <a:ext cx="10410637" cy="18701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편집기에서 작성한 프로그램을 실행하기 위해서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[Run]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메뉴에서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[Run Module]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실행하면 파일을 저장하라는 대화상자가 나타나고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이어서 폴더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예에서는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D:\Python Program)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선택한 다음 파일이름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예에서는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Hello)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 쓰고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[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저장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버튼을 누른다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F89E377F-FB34-CCC2-E196-F2E064C44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80" y="3429000"/>
            <a:ext cx="5048604" cy="257500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1C56B543-62B3-765C-E96C-3A5E132B6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029" y="3429000"/>
            <a:ext cx="5124119" cy="257500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45226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2.1.2 </a:t>
            </a:r>
            <a:r>
              <a:rPr lang="ko-KR" altLang="en-US" dirty="0"/>
              <a:t>설치와 실행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>
              <a:latin typeface="+mn-lt"/>
            </a:endParaRP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2F2DF38D-B082-4EBF-D1EE-B96EF7449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57849"/>
            <a:ext cx="4984903" cy="270428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4">
            <a:extLst>
              <a:ext uri="{FF2B5EF4-FFF2-40B4-BE49-F238E27FC236}">
                <a16:creationId xmlns:a16="http://schemas.microsoft.com/office/drawing/2014/main" id="{02DA7FEE-3FD0-54D1-CE6C-1BA08AE40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860" y="3900132"/>
            <a:ext cx="8061590" cy="267973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DDB9820-CD6E-ACB9-F35E-18D49491C4EA}"/>
              </a:ext>
            </a:extLst>
          </p:cNvPr>
          <p:cNvSpPr txBox="1">
            <a:spLocks/>
          </p:cNvSpPr>
          <p:nvPr/>
        </p:nvSpPr>
        <p:spPr>
          <a:xfrm>
            <a:off x="5939002" y="1934199"/>
            <a:ext cx="5930448" cy="18557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 파일의 확장자는 기본적으로 </a:t>
            </a:r>
            <a:r>
              <a:rPr lang="en-US" altLang="ko-KR" sz="26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설정되어 있으며</a:t>
            </a:r>
            <a:r>
              <a:rPr lang="en-US" altLang="ko-KR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[</a:t>
            </a: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저장</a:t>
            </a:r>
            <a:r>
              <a:rPr lang="en-US" altLang="ko-KR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버튼을 누름과 동시에 실행 결과는 쉘</a:t>
            </a:r>
            <a:r>
              <a:rPr lang="en-US" altLang="ko-KR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(Shell)</a:t>
            </a:r>
            <a:r>
              <a:rPr lang="ko-KR" altLang="en-US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나타난다</a:t>
            </a:r>
            <a:r>
              <a:rPr lang="en-US" altLang="ko-KR" sz="2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6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9325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[</a:t>
            </a:r>
            <a:r>
              <a:rPr lang="ko-KR" altLang="en-US" sz="4000" dirty="0"/>
              <a:t>참고 </a:t>
            </a:r>
            <a:r>
              <a:rPr lang="en-US" altLang="ko-KR" sz="4000" dirty="0"/>
              <a:t>1] </a:t>
            </a:r>
            <a:r>
              <a:rPr lang="ko-KR" altLang="en-US" sz="4000" dirty="0"/>
              <a:t>주피터 노트북</a:t>
            </a:r>
            <a:r>
              <a:rPr lang="en-US" altLang="ko-KR" sz="4000" dirty="0"/>
              <a:t>(</a:t>
            </a:r>
            <a:r>
              <a:rPr lang="en-US" altLang="ko-KR" sz="4000" dirty="0" err="1"/>
              <a:t>Jupyter</a:t>
            </a:r>
            <a:r>
              <a:rPr lang="en-US" altLang="ko-KR" sz="4000" dirty="0"/>
              <a:t> Notebook)</a:t>
            </a:r>
            <a:endParaRPr lang="ko-KR" altLang="en-US" sz="4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279386"/>
            <a:ext cx="10873740" cy="10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주피터 노트북은 아나콘다를 설치하면 사용할 수 있으며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웹브라우저를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통해 파이썬 프로그램을 작성하고 실행할 수 있는 환경을 제공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윈도우 화면 왼쪽 아래에서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시작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버튼을 누르고 이어서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[Anaconda3] → [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Jupyter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Notebook]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선택하여 실행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Picture 15">
            <a:extLst>
              <a:ext uri="{FF2B5EF4-FFF2-40B4-BE49-F238E27FC236}">
                <a16:creationId xmlns:a16="http://schemas.microsoft.com/office/drawing/2014/main" id="{830584D9-E250-9AC5-F01B-3DF1E8285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862" y="2675393"/>
            <a:ext cx="2285646" cy="375210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7">
            <a:extLst>
              <a:ext uri="{FF2B5EF4-FFF2-40B4-BE49-F238E27FC236}">
                <a16:creationId xmlns:a16="http://schemas.microsoft.com/office/drawing/2014/main" id="{6FBFFECE-A107-031F-2F0F-3A083D386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627" y="2397364"/>
            <a:ext cx="5571887" cy="435186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256770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[</a:t>
            </a:r>
            <a:r>
              <a:rPr lang="ko-KR" altLang="en-US" sz="4000" dirty="0"/>
              <a:t>참고 </a:t>
            </a:r>
            <a:r>
              <a:rPr lang="en-US" altLang="ko-KR" sz="4000" dirty="0"/>
              <a:t>1] </a:t>
            </a:r>
            <a:r>
              <a:rPr lang="ko-KR" altLang="en-US" sz="4000" dirty="0"/>
              <a:t>주피터 노트북</a:t>
            </a:r>
            <a:r>
              <a:rPr lang="en-US" altLang="ko-KR" sz="4000" dirty="0"/>
              <a:t>(</a:t>
            </a:r>
            <a:r>
              <a:rPr lang="en-US" altLang="ko-KR" sz="4000" dirty="0" err="1"/>
              <a:t>Jupyter</a:t>
            </a:r>
            <a:r>
              <a:rPr lang="en-US" altLang="ko-KR" sz="4000" dirty="0"/>
              <a:t> Notebook)</a:t>
            </a:r>
            <a:endParaRPr lang="ko-KR" altLang="en-US" sz="4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890681" y="1272743"/>
            <a:ext cx="10410637" cy="1135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자신이 주로 사용하는 프로그램 폴더가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D:\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\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 이라면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시작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→ [Anaconda] → [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Jupyter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Notebook]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마우스 오른쪽 버튼을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눌러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자세히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→ 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파일 위치 열기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선택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Picture 18">
            <a:extLst>
              <a:ext uri="{FF2B5EF4-FFF2-40B4-BE49-F238E27FC236}">
                <a16:creationId xmlns:a16="http://schemas.microsoft.com/office/drawing/2014/main" id="{02842208-A60A-FF61-0C29-8C8255286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039" y="2505564"/>
            <a:ext cx="7101789" cy="338516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39761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600" dirty="0"/>
              <a:t>[</a:t>
            </a:r>
            <a:r>
              <a:rPr lang="ko-KR" altLang="en-US" sz="3600" dirty="0"/>
              <a:t>참고 </a:t>
            </a:r>
            <a:r>
              <a:rPr lang="en-US" altLang="ko-KR" sz="3600" dirty="0"/>
              <a:t>1] </a:t>
            </a:r>
            <a:r>
              <a:rPr lang="ko-KR" altLang="en-US" sz="3600" dirty="0"/>
              <a:t>주피터 노트북</a:t>
            </a:r>
            <a:r>
              <a:rPr lang="en-US" altLang="ko-KR" sz="3600" dirty="0"/>
              <a:t>(</a:t>
            </a:r>
            <a:r>
              <a:rPr lang="en-US" altLang="ko-KR" sz="3600" dirty="0" err="1"/>
              <a:t>Jupyter</a:t>
            </a:r>
            <a:r>
              <a:rPr lang="en-US" altLang="ko-KR" sz="3600" dirty="0"/>
              <a:t> Notebook)</a:t>
            </a:r>
            <a:endParaRPr lang="ko-KR" altLang="en-US" sz="3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460276" y="1254794"/>
            <a:ext cx="6100354" cy="20544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이어서 폴더 안의 프로그램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Jupyter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Notebook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마우스 오른쪽 버튼을 눌러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속성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선택하고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속성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대화상자에서 대상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(T)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끝부분에 표시된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%USERPROFILE%/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부분을 사용하려는 폴더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(D:\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\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수정하고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확인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버튼을 누른다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Picture 20">
            <a:extLst>
              <a:ext uri="{FF2B5EF4-FFF2-40B4-BE49-F238E27FC236}">
                <a16:creationId xmlns:a16="http://schemas.microsoft.com/office/drawing/2014/main" id="{5BFE0522-DD71-215B-5435-B6D3AA284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19" y="1254794"/>
            <a:ext cx="4676001" cy="505283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22">
            <a:extLst>
              <a:ext uri="{FF2B5EF4-FFF2-40B4-BE49-F238E27FC236}">
                <a16:creationId xmlns:a16="http://schemas.microsoft.com/office/drawing/2014/main" id="{230A2150-7DEE-8D76-B439-84600F9AF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685" y="2838458"/>
            <a:ext cx="2866572" cy="391492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623967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[</a:t>
            </a:r>
            <a:r>
              <a:rPr lang="ko-KR" altLang="en-US" sz="4000" dirty="0"/>
              <a:t>참고 </a:t>
            </a:r>
            <a:r>
              <a:rPr lang="en-US" altLang="ko-KR" sz="4000" dirty="0"/>
              <a:t>1] </a:t>
            </a:r>
            <a:r>
              <a:rPr lang="ko-KR" altLang="en-US" sz="4000" dirty="0"/>
              <a:t>주피터 노트북</a:t>
            </a:r>
            <a:r>
              <a:rPr lang="en-US" altLang="ko-KR" sz="4000" dirty="0"/>
              <a:t>(</a:t>
            </a:r>
            <a:r>
              <a:rPr lang="en-US" altLang="ko-KR" sz="4000" dirty="0" err="1"/>
              <a:t>Jupyter</a:t>
            </a:r>
            <a:r>
              <a:rPr lang="en-US" altLang="ko-KR" sz="4000" dirty="0"/>
              <a:t> Notebook)</a:t>
            </a:r>
            <a:endParaRPr lang="ko-KR" altLang="en-US" sz="4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279386"/>
            <a:ext cx="11432088" cy="8659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주피터 노트북이 실행 중에 있다면 명령 프롬프트 창과 주피터 노트북이 실행된 브라우저를 종료하고 다시 주피터 노트북을 실행하면 앞에서 변경한 폴더가 표시된다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Picture 24">
            <a:extLst>
              <a:ext uri="{FF2B5EF4-FFF2-40B4-BE49-F238E27FC236}">
                <a16:creationId xmlns:a16="http://schemas.microsoft.com/office/drawing/2014/main" id="{267A01CE-713F-F32C-575F-4254B6777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37" y="2229400"/>
            <a:ext cx="5634893" cy="410282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4932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ko-KR" altLang="en-US" dirty="0"/>
              <a:t>주피터 노트북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 Notebook)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279386"/>
            <a:ext cx="11432088" cy="8659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주피터 노트북이 실행 중에 있다면 명령 프롬프트 창과 주피터 노트북이 실행된 브라우저를 종료하고 다시 주피터 노트북을 실행하면 앞에서 변경한 폴더가 표시된다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Picture 24">
            <a:extLst>
              <a:ext uri="{FF2B5EF4-FFF2-40B4-BE49-F238E27FC236}">
                <a16:creationId xmlns:a16="http://schemas.microsoft.com/office/drawing/2014/main" id="{267A01CE-713F-F32C-575F-4254B6777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37" y="2229400"/>
            <a:ext cx="5634893" cy="410282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22568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2] </a:t>
            </a:r>
            <a:r>
              <a:rPr lang="ko-KR" altLang="en-US" dirty="0"/>
              <a:t>주피터 랩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 Lab)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279386"/>
            <a:ext cx="11432088" cy="440457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주피터 랩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Jupyter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Lab)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주피터 노트북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Jupyter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Notebook)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이후에 선을 보인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 개발환경을 제공하며 공통적으로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웹브라우저를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기반으로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주피터 랩은 주피터 노트북 보다 편리한 기능들을 제공한다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주피터 랩에서 작업 폴더 변경하기</a:t>
            </a:r>
          </a:p>
          <a:p>
            <a:pPr algn="just" fontAlgn="base" latinLnBrk="1">
              <a:lnSpc>
                <a:spcPct val="100000"/>
              </a:lnSpc>
            </a:pPr>
            <a:endParaRPr lang="ko-KR" altLang="en-US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주피터 랩은 아나콘다를 설치할 때 자동으로 설치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주피터 랩의 기본 폴더 특별히 수정하지 않는다면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C:\Users\user.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자신이 작업할 특별한 드라이브와 폴더를 지정하려면 우선 실행 중에 있는 주피터 랩을 종료하고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명령 프롬프트 창에서 서버와의 연결을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끊어야하는데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이때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CTRL+C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사용하거나 명령 프롬프트 창을 닫는다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(close).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9948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2] </a:t>
            </a:r>
            <a:r>
              <a:rPr lang="ko-KR" altLang="en-US" dirty="0"/>
              <a:t>주피터 랩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 Lab)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594360" y="1279386"/>
            <a:ext cx="11432088" cy="11941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CTRL+C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사용하여 서버와의 연결을 끊었다면 프롬프트 창에서 다음의 명령을 입력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명령 프롬프트 창을 닫았다면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다시 명령 프롬프트 창을 열기 위하여 윈도우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시작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버튼 오른쪽의 검색 창에서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cmd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라는 명령을 이용하고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다음과 같이 입력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3B7A42-E49C-3645-EE24-56E5E1A19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148" y="5422993"/>
            <a:ext cx="7442672" cy="909227"/>
          </a:xfrm>
          <a:prstGeom prst="rect">
            <a:avLst/>
          </a:prstGeom>
        </p:spPr>
      </p:pic>
      <p:pic>
        <p:nvPicPr>
          <p:cNvPr id="7" name="Picture 25">
            <a:extLst>
              <a:ext uri="{FF2B5EF4-FFF2-40B4-BE49-F238E27FC236}">
                <a16:creationId xmlns:a16="http://schemas.microsoft.com/office/drawing/2014/main" id="{1589432D-294B-B0EA-3DCE-5AE10DC94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7" y="2522750"/>
            <a:ext cx="7011984" cy="256583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74442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2] </a:t>
            </a:r>
            <a:r>
              <a:rPr lang="ko-KR" altLang="en-US" dirty="0"/>
              <a:t>주피터 랩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 Lab)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484176" y="2148476"/>
            <a:ext cx="11555423" cy="407734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명령에 의해 파이썬 파일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(jupyter_notebook_config.py)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생성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(Writing default config to: ~)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파일이 저장된 폴더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예에서는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C:\Users\user\.jupyter)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이동하여 편집기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예로 메모장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통해 파일을 열고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아래의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원본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문장이 있는 위치로 이동한 다음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2-18]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원본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부분을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변경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부분과 같이 수정한다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2-18]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작업할 폴더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예에서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D:\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\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\)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지정하되 슬래시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(/)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작은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따옴표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(‘, single quotes)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사용하고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원본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부분의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#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기호를 지워야 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폴더 이름에 공백이 있는 경우 경로의 앞뒤에 큰 따옴표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(“, double quotes)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백슬래시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(\)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모두 수정하였다면 파일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(jupyter_notebook_config.py)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저장하고 주피터 랩을 실행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3B7A42-E49C-3645-EE24-56E5E1A19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7" y="1260056"/>
            <a:ext cx="5775946" cy="70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81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6">
            <a:extLst>
              <a:ext uri="{FF2B5EF4-FFF2-40B4-BE49-F238E27FC236}">
                <a16:creationId xmlns:a16="http://schemas.microsoft.com/office/drawing/2014/main" id="{92740982-E777-AF51-C794-4DD65E1AF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816" y="3446152"/>
            <a:ext cx="4468295" cy="330897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2] </a:t>
            </a:r>
            <a:r>
              <a:rPr lang="ko-KR" altLang="en-US" dirty="0"/>
              <a:t>주피터 랩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 Lab)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23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484176" y="2148476"/>
            <a:ext cx="11555423" cy="17024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명령에 의해 파이썬 파일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(jupyter_notebook_config.py)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생성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(Writing default config to: ~)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파일이 저장된 폴더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예에서는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C:\Users\user\.jupyter)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이동하여 편집기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예로 메모장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통해 파일을 열고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아래의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원본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문장이 있는 위치로 이동한 다음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2-18]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원본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부분을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변경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부분과 같이 수정한다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3B7A42-E49C-3645-EE24-56E5E1A19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7" y="1260056"/>
            <a:ext cx="5775946" cy="7056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25BA19-52B9-861D-B8D0-D3467DAFC7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756" y="4341620"/>
            <a:ext cx="709612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491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2] </a:t>
            </a:r>
            <a:r>
              <a:rPr lang="ko-KR" altLang="en-US" dirty="0"/>
              <a:t>주피터 랩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 Lab)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484176" y="1280971"/>
            <a:ext cx="11555423" cy="43302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Jupyter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Lab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파이썬 프로그램의 실행</a:t>
            </a:r>
          </a:p>
          <a:p>
            <a:pPr algn="just" fontAlgn="base" latinLnBrk="1">
              <a:lnSpc>
                <a:spcPct val="100000"/>
              </a:lnSpc>
            </a:pPr>
            <a:endParaRPr lang="ko-KR" altLang="en-US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Jupyter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Lab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에서는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Jupyter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Notebook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사용하는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ipynb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형식의 파일과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확장자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파이썬 파일을 모두 실행 할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확장자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파일은 파이썬 스크립트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(script)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파일로서 텍스트 형식의 프로그램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 저장할 수 있는 반면에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ipynb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형식의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Jupyter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Notebook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파일은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하는 모든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작업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실행 결과 이미지 등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들을 포함하는 파일 형식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경우에 따라서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ipynb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형식을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형식으로 또는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형식을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ipynb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형식으로 변환할 필요가 있으며 이때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ipynb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-convert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6570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2] </a:t>
            </a:r>
            <a:r>
              <a:rPr lang="ko-KR" altLang="en-US" dirty="0"/>
              <a:t>주피터 랩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 Lab)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484176" y="1280972"/>
            <a:ext cx="11555423" cy="12160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ipynb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형식의 파일을 실행 경우는 왼쪽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화면 왼쪽에서 해당 파일을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더블클릭하면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2-20]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같이 화면 오른쪽에 편집기 창에 나타나며 이어서 오른쪽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에서와 같이 편집기 창의 위쪽 메뉴에서 ▶버튼을 눌러 실행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Picture 27">
            <a:extLst>
              <a:ext uri="{FF2B5EF4-FFF2-40B4-BE49-F238E27FC236}">
                <a16:creationId xmlns:a16="http://schemas.microsoft.com/office/drawing/2014/main" id="{2EEF8FB0-7F10-66F5-96A9-58BAFDECF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6" y="2407415"/>
            <a:ext cx="5389086" cy="389208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29">
            <a:extLst>
              <a:ext uri="{FF2B5EF4-FFF2-40B4-BE49-F238E27FC236}">
                <a16:creationId xmlns:a16="http://schemas.microsoft.com/office/drawing/2014/main" id="{B0250FF2-C56B-5A50-C847-2DF2030C8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740" y="3217314"/>
            <a:ext cx="5660963" cy="176499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124118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2] </a:t>
            </a:r>
            <a:r>
              <a:rPr lang="ko-KR" altLang="en-US" dirty="0"/>
              <a:t>주피터 랩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 Lab)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26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484176" y="1280971"/>
            <a:ext cx="11555423" cy="23396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확장자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파이썬 스크립트 파일을 실행할 경우는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2-21]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화면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왼쪽에서 해당 파일을 더블 클릭하여 오른쪽 편집기 창에 표시한 후에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2-22]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에서와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같이 마우스 오른쪽 버튼을 눌러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[Create Console for Editor]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선택하여 콘솔 창을 생성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이때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2-23]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커널을 선택하라는 대화상자가 나타나고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[Python 3(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ipykernel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선택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이어서 해당 파일이 있는 편집기 창에서 실행할 부분을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드래그하여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선택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2-24]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 후에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Shift+Enter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하면 결과가 콘솔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2-25]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나타난다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4510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2] </a:t>
            </a:r>
            <a:r>
              <a:rPr lang="ko-KR" altLang="en-US" dirty="0"/>
              <a:t>주피터 랩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 Lab)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27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484176" y="1280971"/>
            <a:ext cx="11555423" cy="14941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확장자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파이썬 스크립트 파일을 실행할 경우는 왼쪽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화면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왼쪽에서 해당 파일을 더블 클릭하여 오른쪽 편집기 창에 표시한 후에 오른쪽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같이 마우스 오른쪽 버튼을 눌러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[Create Console for Editor]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선택하여 콘솔 창을 생성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Picture 30">
            <a:extLst>
              <a:ext uri="{FF2B5EF4-FFF2-40B4-BE49-F238E27FC236}">
                <a16:creationId xmlns:a16="http://schemas.microsoft.com/office/drawing/2014/main" id="{FDE16BF1-422A-CDF3-3CF9-82DEE2F6E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6" y="3054596"/>
            <a:ext cx="6199688" cy="332044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32">
            <a:extLst>
              <a:ext uri="{FF2B5EF4-FFF2-40B4-BE49-F238E27FC236}">
                <a16:creationId xmlns:a16="http://schemas.microsoft.com/office/drawing/2014/main" id="{C1125B4E-CEFA-6D02-B60E-28F42362C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922" y="2930389"/>
            <a:ext cx="4243671" cy="276702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62690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2] </a:t>
            </a:r>
            <a:r>
              <a:rPr lang="ko-KR" altLang="en-US" dirty="0"/>
              <a:t>주피터 랩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 Lab)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28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484176" y="1280971"/>
            <a:ext cx="11555423" cy="11574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이때 왼쪽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커널을 선택하라는 대화상자가 나타나고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[Python 3(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ipykernel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선택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이어서 해당 파일이 있는 편집기 창에서 실행할 부분을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드래그하여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선택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중간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 후에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Shift+Enter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하면 결과가 콘솔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오른쪽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나타난다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7" name="Picture 33">
            <a:extLst>
              <a:ext uri="{FF2B5EF4-FFF2-40B4-BE49-F238E27FC236}">
                <a16:creationId xmlns:a16="http://schemas.microsoft.com/office/drawing/2014/main" id="{75485BF8-3F02-8ED1-A092-56E46CBFF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09743"/>
            <a:ext cx="2413593" cy="149128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35">
            <a:extLst>
              <a:ext uri="{FF2B5EF4-FFF2-40B4-BE49-F238E27FC236}">
                <a16:creationId xmlns:a16="http://schemas.microsoft.com/office/drawing/2014/main" id="{2F6F9500-7C43-5B43-EB16-0D117F852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563" y="2617586"/>
            <a:ext cx="4165932" cy="31668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37">
            <a:extLst>
              <a:ext uri="{FF2B5EF4-FFF2-40B4-BE49-F238E27FC236}">
                <a16:creationId xmlns:a16="http://schemas.microsoft.com/office/drawing/2014/main" id="{FDAC8838-1EBA-11AD-8348-695FCBB41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424" y="2637237"/>
            <a:ext cx="3999216" cy="178236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87710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2.1.3 </a:t>
            </a:r>
            <a:r>
              <a:rPr lang="ko-KR" altLang="en-US" dirty="0"/>
              <a:t>라이브러리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29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968354" y="1840445"/>
            <a:ext cx="10675368" cy="33411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(library)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프로그램을 작성할 때 활용할 수 있도록 만든 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특수한 기능들을 묶어 놓은 것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프로그램을 작성할 때 문제해결의 영역별로 다양한 라이브러리들을 무료로 활용할 수 있으며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전문가들에 의해 지속해서 개발되고 있으므로 언제든지 업그레이드된 버전으로 다시 설치하여 사용할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표준 라이브러리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파이썬을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설치할 때 기본으로 포함되지만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외부 라이브러리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설치 후에 필요에 따라 별도로 설치해야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68629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2.1.3 </a:t>
            </a:r>
            <a:r>
              <a:rPr lang="ko-KR" altLang="en-US" dirty="0"/>
              <a:t>라이브러리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30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738622" y="1281779"/>
            <a:ext cx="10585216" cy="3724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주요 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외부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라이브러리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690BA3-18B1-4C66-8357-3F3FEA25A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828" y="1804946"/>
            <a:ext cx="7900188" cy="434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70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2.1.3 </a:t>
            </a:r>
            <a:r>
              <a:rPr lang="ko-KR" altLang="en-US" dirty="0"/>
              <a:t>라이브러리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31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659129" y="1317788"/>
            <a:ext cx="10873741" cy="14912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라이브러리는 패키지</a:t>
            </a:r>
            <a:r>
              <a:rPr lang="en-US" altLang="ko-KR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(package)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라고도 불리며 기본 프로그램은 확장자가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끝나는 파일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모듈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(module),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패키지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라이브러리의 관계는 다음과 같이 표현할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4BE3CE-91C2-4AD8-89AE-E1C220B80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368" y="2813440"/>
            <a:ext cx="5929794" cy="351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8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2.1.3 </a:t>
            </a:r>
            <a:r>
              <a:rPr lang="ko-KR" altLang="en-US" dirty="0"/>
              <a:t>라이브러리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32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484176" y="1280972"/>
            <a:ext cx="11555423" cy="7734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표준 라이브러리의 외장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(external)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함수는 기본적으로 설치는 되어 있지만 사용하려면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별도로 불러와야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(import).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F45E9B-F641-4B47-AC3A-F47E4CB8C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965" y="2518569"/>
            <a:ext cx="9400541" cy="332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50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2.1.3 </a:t>
            </a:r>
            <a:r>
              <a:rPr lang="ko-KR" altLang="en-US" dirty="0"/>
              <a:t>라이브러리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33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0720444" cy="19459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4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★</a:t>
            </a:r>
            <a:r>
              <a:rPr lang="ko-KR" altLang="en-US" sz="2400" dirty="0">
                <a:solidFill>
                  <a:schemeClr val="accent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라이브러리를 설치하는 방법</a:t>
            </a:r>
            <a:endParaRPr lang="en-US" altLang="ko-KR" sz="2400" dirty="0">
              <a:solidFill>
                <a:schemeClr val="accent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ko-KR" altLang="en-US" sz="2400" dirty="0">
              <a:solidFill>
                <a:schemeClr val="accent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우선 명령 프롬프트를 나타내기 위하여 왼쪽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Window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화면 왼쪽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아랫부분의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검색창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검색 버튼을 누르고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cmd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 쓰고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Enter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이어서 오른쪽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명령 프롬프트가 나타난다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B9F2D1B3-237B-46EB-B60E-1BBC46A14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6" y="3276096"/>
            <a:ext cx="6129784" cy="62403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E61F3218-1975-4D38-80F1-C0C0BB287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063" y="4166967"/>
            <a:ext cx="6436905" cy="219375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455223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2.1.3 </a:t>
            </a:r>
            <a:r>
              <a:rPr lang="ko-KR" altLang="en-US" dirty="0"/>
              <a:t>라이브러리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34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484176" y="1280971"/>
            <a:ext cx="11555423" cy="10632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프롬프트 상에서 </a:t>
            </a:r>
            <a:r>
              <a:rPr lang="en-US" altLang="ko-KR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pip install [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 이름</a:t>
            </a:r>
            <a:r>
              <a:rPr lang="en-US" altLang="ko-KR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쓰고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Enter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라는 라이브러리를 설치하려면 다음과 같이 작성하고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Enter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설치 과정 중 화면에 나타나는 내용은 오른쪽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73CEAA-D124-4A57-81DE-C12824210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296" y="2548582"/>
            <a:ext cx="5467532" cy="1146115"/>
          </a:xfrm>
          <a:prstGeom prst="rect">
            <a:avLst/>
          </a:prstGeom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CF5A8A91-613B-4E89-A52E-D7072EE90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296" y="3603712"/>
            <a:ext cx="7951271" cy="228701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5777819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2.1.3 </a:t>
            </a:r>
            <a:r>
              <a:rPr lang="ko-KR" altLang="en-US" dirty="0"/>
              <a:t>라이브러리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35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038538" cy="10632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pip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이용하여 라이브러리를 설치할 때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pip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명령 자체를 업그레이드하라는 메시지가 나타날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경우에는 아래와 같이 프롬프트 상에서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python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명령을 사용하여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pip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명령을 업그레이드할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3AEC83-A3FC-4A73-B775-255C4BD23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6" y="2957868"/>
            <a:ext cx="5547054" cy="809217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36B4F645-8C23-41E7-A158-C206DE1CD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230" y="3254287"/>
            <a:ext cx="5491484" cy="337068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70587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2.1.3 </a:t>
            </a:r>
            <a:r>
              <a:rPr lang="ko-KR" altLang="en-US" dirty="0"/>
              <a:t>라이브러리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36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484176" y="1280971"/>
            <a:ext cx="11555423" cy="10632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pip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명령의 버전을 확인할 때 다음과 같이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pip --version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사용하며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예에서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pip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버전은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23.3.1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확인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0A5946-3917-40D4-AA34-712D71DDE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5" y="2179522"/>
            <a:ext cx="3339355" cy="778346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8CEF6BDC-B051-4860-BEA6-C399F695E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19" y="3242793"/>
            <a:ext cx="10899348" cy="280994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754872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2.1.3 </a:t>
            </a:r>
            <a:r>
              <a:rPr lang="ko-KR" altLang="en-US" dirty="0"/>
              <a:t>라이브러리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37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6096927" cy="10632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현재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설치된 라이브러리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패키지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버전을 확인할 때는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pip list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3FF88DC-BE72-4339-BD81-5A3245E67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50" y="2254493"/>
            <a:ext cx="4039324" cy="1215919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1F329D0-4DED-49C9-AD90-7B22B48ED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041" y="330059"/>
            <a:ext cx="3411072" cy="619788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2786229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329898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sz="3600" dirty="0" err="1"/>
              <a:t>파이썬</a:t>
            </a:r>
            <a:r>
              <a:rPr lang="ko-KR" altLang="en-US" dirty="0"/>
              <a:t> 설치와 프로그램의 실행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38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484177" y="2035593"/>
            <a:ext cx="11139976" cy="2128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￭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언어의 특징과 장점</a:t>
            </a:r>
          </a:p>
          <a:p>
            <a:pPr algn="just" fontAlgn="base" latinLnBrk="1">
              <a:lnSpc>
                <a:spcPct val="100000"/>
              </a:lnSpc>
            </a:pPr>
            <a:endParaRPr lang="ko-KR" altLang="en-US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 언어들은 나름대로 문법 체계를 갖고 있는데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파이썬은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비교적 쉽고 간결한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문법으로 인해 프로그램 개발 시간을 단축할 수 있으며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전문 프로그래머와 개발자에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의해 만들어진 다양한 프로그램들을 무료로 활용할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C/C++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언어와 결합하여 응용 프로그램을 개발할 수도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60CD90-6B01-482A-86C3-D735D8ABE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75" y="4306291"/>
            <a:ext cx="10478648" cy="174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50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[</a:t>
            </a:r>
            <a:r>
              <a:rPr lang="ko-KR" altLang="en-US" sz="4000" dirty="0"/>
              <a:t>단원정리</a:t>
            </a:r>
            <a:r>
              <a:rPr lang="en-US" altLang="ko-KR" sz="4000" dirty="0"/>
              <a:t>] </a:t>
            </a:r>
            <a:r>
              <a:rPr lang="ko-KR" altLang="en-US" sz="4000" dirty="0" err="1"/>
              <a:t>파이썬</a:t>
            </a:r>
            <a:r>
              <a:rPr lang="ko-KR" altLang="en-US" sz="4000" dirty="0"/>
              <a:t> 설치와 프로그램의 실행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39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47717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￭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프로그램 실행</a:t>
            </a:r>
          </a:p>
          <a:p>
            <a:pPr algn="just" fontAlgn="base" latinLnBrk="1">
              <a:lnSpc>
                <a:spcPct val="100000"/>
              </a:lnSpc>
            </a:pP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첫 번째 방법은 프로그램 편집기를 사용하여 프로그램을 작성하거나 이미 작성하여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저장한 프로그램을 불러온 다음 실행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(Run)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하는 방법이고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두 번째 방법은 명령 프롬프트 상에서 프로그램 파일이 저장된 곳에서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Python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실행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프로그램을 이용하는 방법이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초보자를 위한 간단한 예제나 일시적인 계산 결과를 확인할 때 파이썬 인터프리터를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사용할 수 있지만 여러 줄로 작성된 파이썬 프로그램을 작성한다면 프로그램 편집기를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사용하여 저장한 다음 사용하는 것이 편리하다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프로그램 편집기인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IDLE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(Integrated Development and Learning Environment)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파이썬 프로그램을 설치할 때 기본적으로 포함되어 있으므로 별도의 설치가 필요가 없다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명령 프롬프트 상에서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프로그램을 실행하려면 작성한 프로그램 파일이 저장된 폴더로 이동한 후에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&gt;python [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 파일명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(~.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py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)]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타이핑하여 실행한다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914750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243024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ko-KR" altLang="en-US" sz="3600" dirty="0"/>
              <a:t>설치와</a:t>
            </a:r>
            <a:r>
              <a:rPr lang="ko-KR" altLang="en-US" dirty="0"/>
              <a:t> 프로그램의 실행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2026-03-09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40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1B9C2E87-D3E5-4F07-8C99-6A3C58BDE963}"/>
              </a:ext>
            </a:extLst>
          </p:cNvPr>
          <p:cNvSpPr txBox="1">
            <a:spLocks/>
          </p:cNvSpPr>
          <p:nvPr/>
        </p:nvSpPr>
        <p:spPr>
          <a:xfrm>
            <a:off x="668774" y="1406587"/>
            <a:ext cx="11139976" cy="16768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￭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라이브러리와 설치 </a:t>
            </a:r>
          </a:p>
          <a:p>
            <a:pPr algn="just" fontAlgn="base" latinLnBrk="1">
              <a:lnSpc>
                <a:spcPct val="100000"/>
              </a:lnSpc>
            </a:pP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라이브러리는 패키지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(package)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라고도 하며 크게 표준 라이브러리와 외부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라이브러리로 구분된다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표준 라이브러리는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설치할 때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기본으로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제공되지만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외부 라이브러리는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설치 후에 필요에 따라 별도로 설치해야 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7CFE73-A6DF-41C9-A95D-9A9A294AF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471" y="3132665"/>
            <a:ext cx="6780038" cy="347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883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 anchorCtr="0">
        <a:noAutofit/>
      </a:bodyPr>
      <a:lstStyle>
        <a:defPPr algn="l" fontAlgn="base" latinLnBrk="1">
          <a:lnSpc>
            <a:spcPct val="100000"/>
          </a:lnSpc>
          <a:defRPr sz="2800" b="0" dirty="0" smtClean="0">
            <a:latin typeface="한컴 고딕" panose="02000500000000000000" pitchFamily="2" charset="-127"/>
            <a:ea typeface="한컴 고딕" panose="02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2006/documentManagement/types"/>
    <ds:schemaRef ds:uri="230e9df3-be65-4c73-a93b-d1236ebd677e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71af3243-3dd4-4a8d-8c0d-dd76da1f02a5"/>
    <ds:schemaRef ds:uri="16c05727-aa75-4e4a-9b5f-8a80a1165891"/>
    <ds:schemaRef ds:uri="http://schemas.microsoft.com/sharepoint/v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2267</Words>
  <Application>Microsoft Office PowerPoint</Application>
  <PresentationFormat>와이드스크린</PresentationFormat>
  <Paragraphs>332</Paragraphs>
  <Slides>40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(한글 글꼴 사용)</vt:lpstr>
      <vt:lpstr>한컴 고딕</vt:lpstr>
      <vt:lpstr>Arial</vt:lpstr>
      <vt:lpstr>Calibri</vt:lpstr>
      <vt:lpstr>Franklin Gothic Book</vt:lpstr>
      <vt:lpstr>Franklin Gothic Demi</vt:lpstr>
      <vt:lpstr>Custom</vt:lpstr>
      <vt:lpstr>빅데이터 분석 개론</vt:lpstr>
      <vt:lpstr>강의내용</vt:lpstr>
      <vt:lpstr>2.1 설치와 프로그램의 실행</vt:lpstr>
      <vt:lpstr>2.1 설치와 프로그램의 실행</vt:lpstr>
      <vt:lpstr>2.1.1 파이썬 언어</vt:lpstr>
      <vt:lpstr>2.1.2 설치와 실행</vt:lpstr>
      <vt:lpstr>2.1.2 설치와 실행</vt:lpstr>
      <vt:lpstr>2.1.2 설치와 실행</vt:lpstr>
      <vt:lpstr>2.1.2 설치와 실행</vt:lpstr>
      <vt:lpstr>2.1.2 설치와 실행</vt:lpstr>
      <vt:lpstr>2.1.2 설치와 실행</vt:lpstr>
      <vt:lpstr>2.1.2 설치와 실행</vt:lpstr>
      <vt:lpstr>2.1.2 설치와 실행</vt:lpstr>
      <vt:lpstr>2.1.2 설치와 실행</vt:lpstr>
      <vt:lpstr>[참고 1] 주피터 노트북(Jupyter Notebook)</vt:lpstr>
      <vt:lpstr>[참고 1] 주피터 노트북(Jupyter Notebook)</vt:lpstr>
      <vt:lpstr>[참고 1] 주피터 노트북(Jupyter Notebook)</vt:lpstr>
      <vt:lpstr>[참고 1] 주피터 노트북(Jupyter Notebook)</vt:lpstr>
      <vt:lpstr>주피터 노트북(Jupyter Notebook)</vt:lpstr>
      <vt:lpstr>[참고 2] 주피터 랩(Jupyter Lab)</vt:lpstr>
      <vt:lpstr>[참고 2] 주피터 랩(Jupyter Lab)</vt:lpstr>
      <vt:lpstr>[참고 2] 주피터 랩(Jupyter Lab)</vt:lpstr>
      <vt:lpstr>[참고 2] 주피터 랩(Jupyter Lab)</vt:lpstr>
      <vt:lpstr>[참고 2] 주피터 랩(Jupyter Lab)</vt:lpstr>
      <vt:lpstr>[참고 2] 주피터 랩(Jupyter Lab)</vt:lpstr>
      <vt:lpstr>[참고 2] 주피터 랩(Jupyter Lab)</vt:lpstr>
      <vt:lpstr>[참고 2] 주피터 랩(Jupyter Lab)</vt:lpstr>
      <vt:lpstr>[참고 2] 주피터 랩(Jupyter Lab)</vt:lpstr>
      <vt:lpstr>2.1.3 라이브러리 </vt:lpstr>
      <vt:lpstr>2.1.3 라이브러리 </vt:lpstr>
      <vt:lpstr>2.1.3 라이브러리 </vt:lpstr>
      <vt:lpstr>2.1.3 라이브러리 </vt:lpstr>
      <vt:lpstr>2.1.3 라이브러리 </vt:lpstr>
      <vt:lpstr>2.1.3 라이브러리 </vt:lpstr>
      <vt:lpstr>2.1.3 라이브러리 </vt:lpstr>
      <vt:lpstr>2.1.3 라이브러리 </vt:lpstr>
      <vt:lpstr>2.1.3 라이브러리 </vt:lpstr>
      <vt:lpstr>[단원정리] 파이썬 설치와 프로그램의 실행 </vt:lpstr>
      <vt:lpstr>[단원정리] 파이썬 설치와 프로그램의 실행 </vt:lpstr>
      <vt:lpstr>[단원정리] 파이썬 설치와 프로그램의 실행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경화 강</cp:lastModifiedBy>
  <cp:revision>21</cp:revision>
  <dcterms:created xsi:type="dcterms:W3CDTF">2023-12-20T08:12:12Z</dcterms:created>
  <dcterms:modified xsi:type="dcterms:W3CDTF">2026-03-09T05:34:43Z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